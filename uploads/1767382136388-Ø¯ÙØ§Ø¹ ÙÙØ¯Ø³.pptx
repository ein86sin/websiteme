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3" r:id="rId7"/>
    <p:sldId id="264" r:id="rId8"/>
    <p:sldId id="265" r:id="rId9"/>
    <p:sldId id="266" r:id="rId10"/>
    <p:sldId id="25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41568-6B8B-991E-3B8E-C07EA795DB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37B9B5-0BC3-D4F7-2D62-38758F8838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F07947-6DF7-4A6D-581D-975E268B9CBA}"/>
              </a:ext>
            </a:extLst>
          </p:cNvPr>
          <p:cNvSpPr>
            <a:spLocks noGrp="1"/>
          </p:cNvSpPr>
          <p:nvPr>
            <p:ph type="dt" sz="half" idx="10"/>
          </p:nvPr>
        </p:nvSpPr>
        <p:spPr/>
        <p:txBody>
          <a:bodyPr/>
          <a:lstStyle/>
          <a:p>
            <a:fld id="{4C0175D0-2B5F-497E-99E0-6711252341A1}" type="datetimeFigureOut">
              <a:rPr lang="en-US" smtClean="0"/>
              <a:t>10/26/2025</a:t>
            </a:fld>
            <a:endParaRPr lang="en-US"/>
          </a:p>
        </p:txBody>
      </p:sp>
      <p:sp>
        <p:nvSpPr>
          <p:cNvPr id="5" name="Footer Placeholder 4">
            <a:extLst>
              <a:ext uri="{FF2B5EF4-FFF2-40B4-BE49-F238E27FC236}">
                <a16:creationId xmlns:a16="http://schemas.microsoft.com/office/drawing/2014/main" id="{0B886D0A-05FB-B1E5-01D8-037B75C1F4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28AA7A-2DAC-642B-3948-B3547E2E9C2E}"/>
              </a:ext>
            </a:extLst>
          </p:cNvPr>
          <p:cNvSpPr>
            <a:spLocks noGrp="1"/>
          </p:cNvSpPr>
          <p:nvPr>
            <p:ph type="sldNum" sz="quarter" idx="12"/>
          </p:nvPr>
        </p:nvSpPr>
        <p:spPr/>
        <p:txBody>
          <a:bodyPr/>
          <a:lstStyle/>
          <a:p>
            <a:fld id="{D8F4CBC6-4B56-473B-BFD3-E8689A994AFF}" type="slidenum">
              <a:rPr lang="en-US" smtClean="0"/>
              <a:t>‹#›</a:t>
            </a:fld>
            <a:endParaRPr lang="en-US"/>
          </a:p>
        </p:txBody>
      </p:sp>
    </p:spTree>
    <p:extLst>
      <p:ext uri="{BB962C8B-B14F-4D97-AF65-F5344CB8AC3E}">
        <p14:creationId xmlns:p14="http://schemas.microsoft.com/office/powerpoint/2010/main" val="3910196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00328-0E84-58EF-9873-3CD3B1B282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C3B0A6-AC3C-A6CE-8814-5999C3CD8A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93A53-6B90-0504-465A-236DEFA7049F}"/>
              </a:ext>
            </a:extLst>
          </p:cNvPr>
          <p:cNvSpPr>
            <a:spLocks noGrp="1"/>
          </p:cNvSpPr>
          <p:nvPr>
            <p:ph type="dt" sz="half" idx="10"/>
          </p:nvPr>
        </p:nvSpPr>
        <p:spPr/>
        <p:txBody>
          <a:bodyPr/>
          <a:lstStyle/>
          <a:p>
            <a:fld id="{4C0175D0-2B5F-497E-99E0-6711252341A1}" type="datetimeFigureOut">
              <a:rPr lang="en-US" smtClean="0"/>
              <a:t>10/26/2025</a:t>
            </a:fld>
            <a:endParaRPr lang="en-US"/>
          </a:p>
        </p:txBody>
      </p:sp>
      <p:sp>
        <p:nvSpPr>
          <p:cNvPr id="5" name="Footer Placeholder 4">
            <a:extLst>
              <a:ext uri="{FF2B5EF4-FFF2-40B4-BE49-F238E27FC236}">
                <a16:creationId xmlns:a16="http://schemas.microsoft.com/office/drawing/2014/main" id="{1DD451D1-4B51-83C8-FC4F-2B4941F89C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4FB6D8-EECD-261F-3F58-6485D2A30822}"/>
              </a:ext>
            </a:extLst>
          </p:cNvPr>
          <p:cNvSpPr>
            <a:spLocks noGrp="1"/>
          </p:cNvSpPr>
          <p:nvPr>
            <p:ph type="sldNum" sz="quarter" idx="12"/>
          </p:nvPr>
        </p:nvSpPr>
        <p:spPr/>
        <p:txBody>
          <a:bodyPr/>
          <a:lstStyle/>
          <a:p>
            <a:fld id="{D8F4CBC6-4B56-473B-BFD3-E8689A994AFF}" type="slidenum">
              <a:rPr lang="en-US" smtClean="0"/>
              <a:t>‹#›</a:t>
            </a:fld>
            <a:endParaRPr lang="en-US"/>
          </a:p>
        </p:txBody>
      </p:sp>
    </p:spTree>
    <p:extLst>
      <p:ext uri="{BB962C8B-B14F-4D97-AF65-F5344CB8AC3E}">
        <p14:creationId xmlns:p14="http://schemas.microsoft.com/office/powerpoint/2010/main" val="952824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0AAB4-CF31-0FD2-729D-47EDD7AF48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E7F613-6D49-44DE-F084-CFFA26E324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58D29B-EE51-E38C-461B-1111E134E902}"/>
              </a:ext>
            </a:extLst>
          </p:cNvPr>
          <p:cNvSpPr>
            <a:spLocks noGrp="1"/>
          </p:cNvSpPr>
          <p:nvPr>
            <p:ph type="dt" sz="half" idx="10"/>
          </p:nvPr>
        </p:nvSpPr>
        <p:spPr/>
        <p:txBody>
          <a:bodyPr/>
          <a:lstStyle/>
          <a:p>
            <a:fld id="{4C0175D0-2B5F-497E-99E0-6711252341A1}" type="datetimeFigureOut">
              <a:rPr lang="en-US" smtClean="0"/>
              <a:t>10/26/2025</a:t>
            </a:fld>
            <a:endParaRPr lang="en-US"/>
          </a:p>
        </p:txBody>
      </p:sp>
      <p:sp>
        <p:nvSpPr>
          <p:cNvPr id="5" name="Footer Placeholder 4">
            <a:extLst>
              <a:ext uri="{FF2B5EF4-FFF2-40B4-BE49-F238E27FC236}">
                <a16:creationId xmlns:a16="http://schemas.microsoft.com/office/drawing/2014/main" id="{D37BBAF0-BA76-53F2-0ACA-24B3DE32BD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FAFFF8-086A-D8C9-DB44-8E9FDE08C933}"/>
              </a:ext>
            </a:extLst>
          </p:cNvPr>
          <p:cNvSpPr>
            <a:spLocks noGrp="1"/>
          </p:cNvSpPr>
          <p:nvPr>
            <p:ph type="sldNum" sz="quarter" idx="12"/>
          </p:nvPr>
        </p:nvSpPr>
        <p:spPr/>
        <p:txBody>
          <a:bodyPr/>
          <a:lstStyle/>
          <a:p>
            <a:fld id="{D8F4CBC6-4B56-473B-BFD3-E8689A994AFF}" type="slidenum">
              <a:rPr lang="en-US" smtClean="0"/>
              <a:t>‹#›</a:t>
            </a:fld>
            <a:endParaRPr lang="en-US"/>
          </a:p>
        </p:txBody>
      </p:sp>
    </p:spTree>
    <p:extLst>
      <p:ext uri="{BB962C8B-B14F-4D97-AF65-F5344CB8AC3E}">
        <p14:creationId xmlns:p14="http://schemas.microsoft.com/office/powerpoint/2010/main" val="970275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1D1AB-A448-56BB-4F9C-DA48C750B0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31A59C-ACB0-6DA3-7898-941C3C9BC9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F1C386-1D30-D163-9B06-3E9CA61D6D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B6E2AF-FBAF-0554-2CFA-3E51A0EE3603}"/>
              </a:ext>
            </a:extLst>
          </p:cNvPr>
          <p:cNvSpPr>
            <a:spLocks noGrp="1"/>
          </p:cNvSpPr>
          <p:nvPr>
            <p:ph type="dt" sz="half" idx="10"/>
          </p:nvPr>
        </p:nvSpPr>
        <p:spPr/>
        <p:txBody>
          <a:bodyPr/>
          <a:lstStyle/>
          <a:p>
            <a:fld id="{4C0175D0-2B5F-497E-99E0-6711252341A1}" type="datetimeFigureOut">
              <a:rPr lang="en-US" smtClean="0"/>
              <a:t>10/26/2025</a:t>
            </a:fld>
            <a:endParaRPr lang="en-US"/>
          </a:p>
        </p:txBody>
      </p:sp>
      <p:sp>
        <p:nvSpPr>
          <p:cNvPr id="6" name="Footer Placeholder 5">
            <a:extLst>
              <a:ext uri="{FF2B5EF4-FFF2-40B4-BE49-F238E27FC236}">
                <a16:creationId xmlns:a16="http://schemas.microsoft.com/office/drawing/2014/main" id="{10C1E942-65CE-2189-7437-4BB5FA133E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F53FDC-6314-DCC0-DC8B-8AB9CAA97F7C}"/>
              </a:ext>
            </a:extLst>
          </p:cNvPr>
          <p:cNvSpPr>
            <a:spLocks noGrp="1"/>
          </p:cNvSpPr>
          <p:nvPr>
            <p:ph type="sldNum" sz="quarter" idx="12"/>
          </p:nvPr>
        </p:nvSpPr>
        <p:spPr/>
        <p:txBody>
          <a:bodyPr/>
          <a:lstStyle/>
          <a:p>
            <a:fld id="{D8F4CBC6-4B56-473B-BFD3-E8689A994AFF}" type="slidenum">
              <a:rPr lang="en-US" smtClean="0"/>
              <a:t>‹#›</a:t>
            </a:fld>
            <a:endParaRPr lang="en-US"/>
          </a:p>
        </p:txBody>
      </p:sp>
    </p:spTree>
    <p:extLst>
      <p:ext uri="{BB962C8B-B14F-4D97-AF65-F5344CB8AC3E}">
        <p14:creationId xmlns:p14="http://schemas.microsoft.com/office/powerpoint/2010/main" val="3021677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763F1-B1A1-D21C-F762-37D253CEE6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BE7456-CE15-D96E-AC04-AB0ECC76F2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4BF44F-011C-5513-4E95-8A29B09EAB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E9F5F1-E3CF-71AA-4D0E-02B797D167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7D74EE-FDA1-522C-B79C-49185BC09F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51DF41-BF2D-7B37-9138-48354BDC750F}"/>
              </a:ext>
            </a:extLst>
          </p:cNvPr>
          <p:cNvSpPr>
            <a:spLocks noGrp="1"/>
          </p:cNvSpPr>
          <p:nvPr>
            <p:ph type="dt" sz="half" idx="10"/>
          </p:nvPr>
        </p:nvSpPr>
        <p:spPr/>
        <p:txBody>
          <a:bodyPr/>
          <a:lstStyle/>
          <a:p>
            <a:fld id="{4C0175D0-2B5F-497E-99E0-6711252341A1}" type="datetimeFigureOut">
              <a:rPr lang="en-US" smtClean="0"/>
              <a:t>10/26/2025</a:t>
            </a:fld>
            <a:endParaRPr lang="en-US"/>
          </a:p>
        </p:txBody>
      </p:sp>
      <p:sp>
        <p:nvSpPr>
          <p:cNvPr id="8" name="Footer Placeholder 7">
            <a:extLst>
              <a:ext uri="{FF2B5EF4-FFF2-40B4-BE49-F238E27FC236}">
                <a16:creationId xmlns:a16="http://schemas.microsoft.com/office/drawing/2014/main" id="{197E38DB-B5AC-32BE-7B5E-A85A81AF2E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41D621-92A3-ABC2-63B1-AF03C7D09102}"/>
              </a:ext>
            </a:extLst>
          </p:cNvPr>
          <p:cNvSpPr>
            <a:spLocks noGrp="1"/>
          </p:cNvSpPr>
          <p:nvPr>
            <p:ph type="sldNum" sz="quarter" idx="12"/>
          </p:nvPr>
        </p:nvSpPr>
        <p:spPr/>
        <p:txBody>
          <a:bodyPr/>
          <a:lstStyle/>
          <a:p>
            <a:fld id="{D8F4CBC6-4B56-473B-BFD3-E8689A994AFF}" type="slidenum">
              <a:rPr lang="en-US" smtClean="0"/>
              <a:t>‹#›</a:t>
            </a:fld>
            <a:endParaRPr lang="en-US"/>
          </a:p>
        </p:txBody>
      </p:sp>
    </p:spTree>
    <p:extLst>
      <p:ext uri="{BB962C8B-B14F-4D97-AF65-F5344CB8AC3E}">
        <p14:creationId xmlns:p14="http://schemas.microsoft.com/office/powerpoint/2010/main" val="386739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7F0AA-D022-31EF-B39A-8E3D62C9C2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290A86-6DAE-A103-8695-FF67A37B8903}"/>
              </a:ext>
            </a:extLst>
          </p:cNvPr>
          <p:cNvSpPr>
            <a:spLocks noGrp="1"/>
          </p:cNvSpPr>
          <p:nvPr>
            <p:ph type="dt" sz="half" idx="10"/>
          </p:nvPr>
        </p:nvSpPr>
        <p:spPr/>
        <p:txBody>
          <a:bodyPr/>
          <a:lstStyle/>
          <a:p>
            <a:fld id="{4C0175D0-2B5F-497E-99E0-6711252341A1}" type="datetimeFigureOut">
              <a:rPr lang="en-US" smtClean="0"/>
              <a:t>10/26/2025</a:t>
            </a:fld>
            <a:endParaRPr lang="en-US"/>
          </a:p>
        </p:txBody>
      </p:sp>
      <p:sp>
        <p:nvSpPr>
          <p:cNvPr id="4" name="Footer Placeholder 3">
            <a:extLst>
              <a:ext uri="{FF2B5EF4-FFF2-40B4-BE49-F238E27FC236}">
                <a16:creationId xmlns:a16="http://schemas.microsoft.com/office/drawing/2014/main" id="{1C70D6D6-E248-9933-11AF-5B21B7D685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A9EABE-1890-FABB-CADB-604D88704508}"/>
              </a:ext>
            </a:extLst>
          </p:cNvPr>
          <p:cNvSpPr>
            <a:spLocks noGrp="1"/>
          </p:cNvSpPr>
          <p:nvPr>
            <p:ph type="sldNum" sz="quarter" idx="12"/>
          </p:nvPr>
        </p:nvSpPr>
        <p:spPr/>
        <p:txBody>
          <a:bodyPr/>
          <a:lstStyle/>
          <a:p>
            <a:fld id="{D8F4CBC6-4B56-473B-BFD3-E8689A994AFF}" type="slidenum">
              <a:rPr lang="en-US" smtClean="0"/>
              <a:t>‹#›</a:t>
            </a:fld>
            <a:endParaRPr lang="en-US"/>
          </a:p>
        </p:txBody>
      </p:sp>
    </p:spTree>
    <p:extLst>
      <p:ext uri="{BB962C8B-B14F-4D97-AF65-F5344CB8AC3E}">
        <p14:creationId xmlns:p14="http://schemas.microsoft.com/office/powerpoint/2010/main" val="4239209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816522-0BE7-3EDB-405D-646D852410DF}"/>
              </a:ext>
            </a:extLst>
          </p:cNvPr>
          <p:cNvSpPr>
            <a:spLocks noGrp="1"/>
          </p:cNvSpPr>
          <p:nvPr>
            <p:ph type="dt" sz="half" idx="10"/>
          </p:nvPr>
        </p:nvSpPr>
        <p:spPr/>
        <p:txBody>
          <a:bodyPr/>
          <a:lstStyle/>
          <a:p>
            <a:fld id="{4C0175D0-2B5F-497E-99E0-6711252341A1}" type="datetimeFigureOut">
              <a:rPr lang="en-US" smtClean="0"/>
              <a:t>10/26/2025</a:t>
            </a:fld>
            <a:endParaRPr lang="en-US"/>
          </a:p>
        </p:txBody>
      </p:sp>
      <p:sp>
        <p:nvSpPr>
          <p:cNvPr id="3" name="Footer Placeholder 2">
            <a:extLst>
              <a:ext uri="{FF2B5EF4-FFF2-40B4-BE49-F238E27FC236}">
                <a16:creationId xmlns:a16="http://schemas.microsoft.com/office/drawing/2014/main" id="{26F7348A-4404-4BC0-4E5A-15FA2960C6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DC3B7A-08BA-668F-1693-2DD2420FCE54}"/>
              </a:ext>
            </a:extLst>
          </p:cNvPr>
          <p:cNvSpPr>
            <a:spLocks noGrp="1"/>
          </p:cNvSpPr>
          <p:nvPr>
            <p:ph type="sldNum" sz="quarter" idx="12"/>
          </p:nvPr>
        </p:nvSpPr>
        <p:spPr/>
        <p:txBody>
          <a:bodyPr/>
          <a:lstStyle/>
          <a:p>
            <a:fld id="{D8F4CBC6-4B56-473B-BFD3-E8689A994AFF}" type="slidenum">
              <a:rPr lang="en-US" smtClean="0"/>
              <a:t>‹#›</a:t>
            </a:fld>
            <a:endParaRPr lang="en-US"/>
          </a:p>
        </p:txBody>
      </p:sp>
    </p:spTree>
    <p:extLst>
      <p:ext uri="{BB962C8B-B14F-4D97-AF65-F5344CB8AC3E}">
        <p14:creationId xmlns:p14="http://schemas.microsoft.com/office/powerpoint/2010/main" val="4170322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E108B-6E97-D1C9-5A45-2BF97780DD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F469990-88C9-2700-AC1C-4651BF1707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DB3636-47E5-BFC4-7EE8-6D14284E3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008B23-BFC5-ADE0-8004-2BDDB2ADDCB1}"/>
              </a:ext>
            </a:extLst>
          </p:cNvPr>
          <p:cNvSpPr>
            <a:spLocks noGrp="1"/>
          </p:cNvSpPr>
          <p:nvPr>
            <p:ph type="dt" sz="half" idx="10"/>
          </p:nvPr>
        </p:nvSpPr>
        <p:spPr/>
        <p:txBody>
          <a:bodyPr/>
          <a:lstStyle/>
          <a:p>
            <a:fld id="{4C0175D0-2B5F-497E-99E0-6711252341A1}" type="datetimeFigureOut">
              <a:rPr lang="en-US" smtClean="0"/>
              <a:t>10/26/2025</a:t>
            </a:fld>
            <a:endParaRPr lang="en-US"/>
          </a:p>
        </p:txBody>
      </p:sp>
      <p:sp>
        <p:nvSpPr>
          <p:cNvPr id="6" name="Footer Placeholder 5">
            <a:extLst>
              <a:ext uri="{FF2B5EF4-FFF2-40B4-BE49-F238E27FC236}">
                <a16:creationId xmlns:a16="http://schemas.microsoft.com/office/drawing/2014/main" id="{27366D65-502A-5C47-E90E-A7D748C53A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6D3334-8DBD-B24B-BA82-FA86E6B5ED1A}"/>
              </a:ext>
            </a:extLst>
          </p:cNvPr>
          <p:cNvSpPr>
            <a:spLocks noGrp="1"/>
          </p:cNvSpPr>
          <p:nvPr>
            <p:ph type="sldNum" sz="quarter" idx="12"/>
          </p:nvPr>
        </p:nvSpPr>
        <p:spPr/>
        <p:txBody>
          <a:bodyPr/>
          <a:lstStyle/>
          <a:p>
            <a:fld id="{D8F4CBC6-4B56-473B-BFD3-E8689A994AFF}" type="slidenum">
              <a:rPr lang="en-US" smtClean="0"/>
              <a:t>‹#›</a:t>
            </a:fld>
            <a:endParaRPr lang="en-US"/>
          </a:p>
        </p:txBody>
      </p:sp>
    </p:spTree>
    <p:extLst>
      <p:ext uri="{BB962C8B-B14F-4D97-AF65-F5344CB8AC3E}">
        <p14:creationId xmlns:p14="http://schemas.microsoft.com/office/powerpoint/2010/main" val="436771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41582-B820-D2B7-55FD-D6442813CD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D6A292-62B3-6D7E-307F-4515AC1AF9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6C8E83-D8B3-6BEE-5577-42F559048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A82C13-B963-FB76-1834-8BD4BF690C88}"/>
              </a:ext>
            </a:extLst>
          </p:cNvPr>
          <p:cNvSpPr>
            <a:spLocks noGrp="1"/>
          </p:cNvSpPr>
          <p:nvPr>
            <p:ph type="dt" sz="half" idx="10"/>
          </p:nvPr>
        </p:nvSpPr>
        <p:spPr/>
        <p:txBody>
          <a:bodyPr/>
          <a:lstStyle/>
          <a:p>
            <a:fld id="{4C0175D0-2B5F-497E-99E0-6711252341A1}" type="datetimeFigureOut">
              <a:rPr lang="en-US" smtClean="0"/>
              <a:t>10/26/2025</a:t>
            </a:fld>
            <a:endParaRPr lang="en-US"/>
          </a:p>
        </p:txBody>
      </p:sp>
      <p:sp>
        <p:nvSpPr>
          <p:cNvPr id="6" name="Footer Placeholder 5">
            <a:extLst>
              <a:ext uri="{FF2B5EF4-FFF2-40B4-BE49-F238E27FC236}">
                <a16:creationId xmlns:a16="http://schemas.microsoft.com/office/drawing/2014/main" id="{2BF2CE8B-0816-E690-94E5-40079257BD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08C93F-9FF5-ECF7-B8DA-F936550A5C22}"/>
              </a:ext>
            </a:extLst>
          </p:cNvPr>
          <p:cNvSpPr>
            <a:spLocks noGrp="1"/>
          </p:cNvSpPr>
          <p:nvPr>
            <p:ph type="sldNum" sz="quarter" idx="12"/>
          </p:nvPr>
        </p:nvSpPr>
        <p:spPr/>
        <p:txBody>
          <a:bodyPr/>
          <a:lstStyle/>
          <a:p>
            <a:fld id="{D8F4CBC6-4B56-473B-BFD3-E8689A994AFF}" type="slidenum">
              <a:rPr lang="en-US" smtClean="0"/>
              <a:t>‹#›</a:t>
            </a:fld>
            <a:endParaRPr lang="en-US"/>
          </a:p>
        </p:txBody>
      </p:sp>
    </p:spTree>
    <p:extLst>
      <p:ext uri="{BB962C8B-B14F-4D97-AF65-F5344CB8AC3E}">
        <p14:creationId xmlns:p14="http://schemas.microsoft.com/office/powerpoint/2010/main" val="528513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9DD60-5F2E-F3AD-9A58-D6F3E32AB6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136316-F996-AFDD-835F-C08234D98E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281C96-8A21-A9EC-0BE0-45C02E1FB996}"/>
              </a:ext>
            </a:extLst>
          </p:cNvPr>
          <p:cNvSpPr>
            <a:spLocks noGrp="1"/>
          </p:cNvSpPr>
          <p:nvPr>
            <p:ph type="dt" sz="half" idx="10"/>
          </p:nvPr>
        </p:nvSpPr>
        <p:spPr/>
        <p:txBody>
          <a:bodyPr/>
          <a:lstStyle/>
          <a:p>
            <a:fld id="{4C0175D0-2B5F-497E-99E0-6711252341A1}" type="datetimeFigureOut">
              <a:rPr lang="en-US" smtClean="0"/>
              <a:t>10/26/2025</a:t>
            </a:fld>
            <a:endParaRPr lang="en-US"/>
          </a:p>
        </p:txBody>
      </p:sp>
      <p:sp>
        <p:nvSpPr>
          <p:cNvPr id="5" name="Footer Placeholder 4">
            <a:extLst>
              <a:ext uri="{FF2B5EF4-FFF2-40B4-BE49-F238E27FC236}">
                <a16:creationId xmlns:a16="http://schemas.microsoft.com/office/drawing/2014/main" id="{FB6C9BA5-14A5-E9A0-3E3C-4101566B4F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ADB941-09E8-5E50-5B97-0FB86600A735}"/>
              </a:ext>
            </a:extLst>
          </p:cNvPr>
          <p:cNvSpPr>
            <a:spLocks noGrp="1"/>
          </p:cNvSpPr>
          <p:nvPr>
            <p:ph type="sldNum" sz="quarter" idx="12"/>
          </p:nvPr>
        </p:nvSpPr>
        <p:spPr/>
        <p:txBody>
          <a:bodyPr/>
          <a:lstStyle/>
          <a:p>
            <a:fld id="{D8F4CBC6-4B56-473B-BFD3-E8689A994AFF}" type="slidenum">
              <a:rPr lang="en-US" smtClean="0"/>
              <a:t>‹#›</a:t>
            </a:fld>
            <a:endParaRPr lang="en-US"/>
          </a:p>
        </p:txBody>
      </p:sp>
    </p:spTree>
    <p:extLst>
      <p:ext uri="{BB962C8B-B14F-4D97-AF65-F5344CB8AC3E}">
        <p14:creationId xmlns:p14="http://schemas.microsoft.com/office/powerpoint/2010/main" val="4230202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291EF7-785B-5DB3-AB44-0D83A274F5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29EA46B-B0BF-241D-B3CD-2C712AA40C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B38E15-2194-AF7D-6379-79016417B245}"/>
              </a:ext>
            </a:extLst>
          </p:cNvPr>
          <p:cNvSpPr>
            <a:spLocks noGrp="1"/>
          </p:cNvSpPr>
          <p:nvPr>
            <p:ph type="dt" sz="half" idx="10"/>
          </p:nvPr>
        </p:nvSpPr>
        <p:spPr/>
        <p:txBody>
          <a:bodyPr/>
          <a:lstStyle/>
          <a:p>
            <a:fld id="{4C0175D0-2B5F-497E-99E0-6711252341A1}" type="datetimeFigureOut">
              <a:rPr lang="en-US" smtClean="0"/>
              <a:t>10/26/2025</a:t>
            </a:fld>
            <a:endParaRPr lang="en-US"/>
          </a:p>
        </p:txBody>
      </p:sp>
      <p:sp>
        <p:nvSpPr>
          <p:cNvPr id="5" name="Footer Placeholder 4">
            <a:extLst>
              <a:ext uri="{FF2B5EF4-FFF2-40B4-BE49-F238E27FC236}">
                <a16:creationId xmlns:a16="http://schemas.microsoft.com/office/drawing/2014/main" id="{9B47BFE0-2DB5-70DF-1F43-1849FD77D3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A6B4C-0B97-628A-42AA-EFD6725EF066}"/>
              </a:ext>
            </a:extLst>
          </p:cNvPr>
          <p:cNvSpPr>
            <a:spLocks noGrp="1"/>
          </p:cNvSpPr>
          <p:nvPr>
            <p:ph type="sldNum" sz="quarter" idx="12"/>
          </p:nvPr>
        </p:nvSpPr>
        <p:spPr/>
        <p:txBody>
          <a:bodyPr/>
          <a:lstStyle/>
          <a:p>
            <a:fld id="{D8F4CBC6-4B56-473B-BFD3-E8689A994AFF}" type="slidenum">
              <a:rPr lang="en-US" smtClean="0"/>
              <a:t>‹#›</a:t>
            </a:fld>
            <a:endParaRPr lang="en-US"/>
          </a:p>
        </p:txBody>
      </p:sp>
    </p:spTree>
    <p:extLst>
      <p:ext uri="{BB962C8B-B14F-4D97-AF65-F5344CB8AC3E}">
        <p14:creationId xmlns:p14="http://schemas.microsoft.com/office/powerpoint/2010/main" val="1818348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66C5CA-AF61-1DF1-4824-8027CA8456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594014-671E-A6EC-52F4-B2C944DA11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2C35B8-77CF-EC23-0136-38CE818BD4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0175D0-2B5F-497E-99E0-6711252341A1}" type="datetimeFigureOut">
              <a:rPr lang="en-US" smtClean="0"/>
              <a:t>10/26/2025</a:t>
            </a:fld>
            <a:endParaRPr lang="en-US"/>
          </a:p>
        </p:txBody>
      </p:sp>
      <p:sp>
        <p:nvSpPr>
          <p:cNvPr id="5" name="Footer Placeholder 4">
            <a:extLst>
              <a:ext uri="{FF2B5EF4-FFF2-40B4-BE49-F238E27FC236}">
                <a16:creationId xmlns:a16="http://schemas.microsoft.com/office/drawing/2014/main" id="{27796909-A278-44AA-512F-D98BB029CB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99BE2B-C77B-CA1E-CE90-8E1B34228D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F4CBC6-4B56-473B-BFD3-E8689A994AFF}" type="slidenum">
              <a:rPr lang="en-US" smtClean="0"/>
              <a:t>‹#›</a:t>
            </a:fld>
            <a:endParaRPr lang="en-US"/>
          </a:p>
        </p:txBody>
      </p:sp>
    </p:spTree>
    <p:extLst>
      <p:ext uri="{BB962C8B-B14F-4D97-AF65-F5344CB8AC3E}">
        <p14:creationId xmlns:p14="http://schemas.microsoft.com/office/powerpoint/2010/main" val="2044440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5.png"/><Relationship Id="rId7"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10.svg"/><Relationship Id="rId11" Type="http://schemas.openxmlformats.org/officeDocument/2006/relationships/image" Target="../media/image17.svg"/><Relationship Id="rId5" Type="http://schemas.openxmlformats.org/officeDocument/2006/relationships/image" Target="../media/image9.png"/><Relationship Id="rId10" Type="http://schemas.openxmlformats.org/officeDocument/2006/relationships/image" Target="../media/image16.png"/><Relationship Id="rId4" Type="http://schemas.openxmlformats.org/officeDocument/2006/relationships/image" Target="../media/image6.sv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22.png"/><Relationship Id="rId18" Type="http://schemas.openxmlformats.org/officeDocument/2006/relationships/image" Target="../media/image27.svg"/><Relationship Id="rId3" Type="http://schemas.openxmlformats.org/officeDocument/2006/relationships/image" Target="../media/image5.png"/><Relationship Id="rId7" Type="http://schemas.openxmlformats.org/officeDocument/2006/relationships/image" Target="../media/image13.png"/><Relationship Id="rId12" Type="http://schemas.openxmlformats.org/officeDocument/2006/relationships/image" Target="../media/image21.svg"/><Relationship Id="rId17" Type="http://schemas.openxmlformats.org/officeDocument/2006/relationships/image" Target="../media/image26.png"/><Relationship Id="rId2" Type="http://schemas.openxmlformats.org/officeDocument/2006/relationships/image" Target="../media/image1.jpg"/><Relationship Id="rId16" Type="http://schemas.openxmlformats.org/officeDocument/2006/relationships/image" Target="../media/image25.svg"/><Relationship Id="rId1" Type="http://schemas.openxmlformats.org/officeDocument/2006/relationships/slideLayout" Target="../slideLayouts/slideLayout1.xml"/><Relationship Id="rId6" Type="http://schemas.openxmlformats.org/officeDocument/2006/relationships/image" Target="../media/image10.svg"/><Relationship Id="rId11" Type="http://schemas.openxmlformats.org/officeDocument/2006/relationships/image" Target="../media/image20.png"/><Relationship Id="rId5" Type="http://schemas.openxmlformats.org/officeDocument/2006/relationships/image" Target="../media/image9.png"/><Relationship Id="rId15" Type="http://schemas.openxmlformats.org/officeDocument/2006/relationships/image" Target="../media/image24.png"/><Relationship Id="rId10" Type="http://schemas.openxmlformats.org/officeDocument/2006/relationships/image" Target="../media/image19.svg"/><Relationship Id="rId4" Type="http://schemas.openxmlformats.org/officeDocument/2006/relationships/image" Target="../media/image6.svg"/><Relationship Id="rId9" Type="http://schemas.openxmlformats.org/officeDocument/2006/relationships/image" Target="../media/image18.png"/><Relationship Id="rId14" Type="http://schemas.openxmlformats.org/officeDocument/2006/relationships/image" Target="../media/image23.svg"/></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8.png"/><Relationship Id="rId18" Type="http://schemas.openxmlformats.org/officeDocument/2006/relationships/image" Target="../media/image35.svg"/><Relationship Id="rId3" Type="http://schemas.openxmlformats.org/officeDocument/2006/relationships/image" Target="../media/image28.png"/><Relationship Id="rId21" Type="http://schemas.openxmlformats.org/officeDocument/2006/relationships/image" Target="../media/image38.svg"/><Relationship Id="rId7" Type="http://schemas.openxmlformats.org/officeDocument/2006/relationships/image" Target="../media/image5.png"/><Relationship Id="rId12" Type="http://schemas.openxmlformats.org/officeDocument/2006/relationships/image" Target="../media/image14.svg"/><Relationship Id="rId17" Type="http://schemas.openxmlformats.org/officeDocument/2006/relationships/image" Target="../media/image34.png"/><Relationship Id="rId2" Type="http://schemas.openxmlformats.org/officeDocument/2006/relationships/image" Target="../media/image1.jpg"/><Relationship Id="rId16" Type="http://schemas.openxmlformats.org/officeDocument/2006/relationships/image" Target="../media/image33.svg"/><Relationship Id="rId20"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31.svg"/><Relationship Id="rId11" Type="http://schemas.openxmlformats.org/officeDocument/2006/relationships/image" Target="../media/image13.png"/><Relationship Id="rId5" Type="http://schemas.openxmlformats.org/officeDocument/2006/relationships/image" Target="../media/image30.png"/><Relationship Id="rId15" Type="http://schemas.openxmlformats.org/officeDocument/2006/relationships/image" Target="../media/image32.png"/><Relationship Id="rId23" Type="http://schemas.openxmlformats.org/officeDocument/2006/relationships/image" Target="../media/image40.svg"/><Relationship Id="rId10" Type="http://schemas.openxmlformats.org/officeDocument/2006/relationships/image" Target="../media/image10.svg"/><Relationship Id="rId19" Type="http://schemas.openxmlformats.org/officeDocument/2006/relationships/image" Target="../media/image36.png"/><Relationship Id="rId4" Type="http://schemas.openxmlformats.org/officeDocument/2006/relationships/image" Target="../media/image29.svg"/><Relationship Id="rId9" Type="http://schemas.openxmlformats.org/officeDocument/2006/relationships/image" Target="../media/image9.png"/><Relationship Id="rId14" Type="http://schemas.openxmlformats.org/officeDocument/2006/relationships/image" Target="../media/image19.svg"/><Relationship Id="rId22" Type="http://schemas.openxmlformats.org/officeDocument/2006/relationships/image" Target="../media/image39.png"/></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34.png"/><Relationship Id="rId3" Type="http://schemas.openxmlformats.org/officeDocument/2006/relationships/image" Target="../media/image5.png"/><Relationship Id="rId7" Type="http://schemas.openxmlformats.org/officeDocument/2006/relationships/image" Target="../media/image13.png"/><Relationship Id="rId12" Type="http://schemas.openxmlformats.org/officeDocument/2006/relationships/image" Target="../media/image33.svg"/><Relationship Id="rId17" Type="http://schemas.openxmlformats.org/officeDocument/2006/relationships/image" Target="../media/image42.svg"/><Relationship Id="rId2" Type="http://schemas.openxmlformats.org/officeDocument/2006/relationships/image" Target="../media/image1.jpg"/><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10.svg"/><Relationship Id="rId11" Type="http://schemas.openxmlformats.org/officeDocument/2006/relationships/image" Target="../media/image32.png"/><Relationship Id="rId5" Type="http://schemas.openxmlformats.org/officeDocument/2006/relationships/image" Target="../media/image9.png"/><Relationship Id="rId15" Type="http://schemas.openxmlformats.org/officeDocument/2006/relationships/image" Target="../media/image36.png"/><Relationship Id="rId10" Type="http://schemas.openxmlformats.org/officeDocument/2006/relationships/image" Target="../media/image19.svg"/><Relationship Id="rId4" Type="http://schemas.openxmlformats.org/officeDocument/2006/relationships/image" Target="../media/image6.svg"/><Relationship Id="rId9" Type="http://schemas.openxmlformats.org/officeDocument/2006/relationships/image" Target="../media/image18.png"/><Relationship Id="rId14" Type="http://schemas.openxmlformats.org/officeDocument/2006/relationships/image" Target="../media/image35.svg"/></Relationships>
</file>

<file path=ppt/slides/_rels/slide8.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34.png"/><Relationship Id="rId18" Type="http://schemas.openxmlformats.org/officeDocument/2006/relationships/image" Target="../media/image45.png"/><Relationship Id="rId3" Type="http://schemas.openxmlformats.org/officeDocument/2006/relationships/image" Target="../media/image5.png"/><Relationship Id="rId7" Type="http://schemas.openxmlformats.org/officeDocument/2006/relationships/image" Target="../media/image13.png"/><Relationship Id="rId12" Type="http://schemas.openxmlformats.org/officeDocument/2006/relationships/image" Target="../media/image33.svg"/><Relationship Id="rId17" Type="http://schemas.openxmlformats.org/officeDocument/2006/relationships/image" Target="../media/image44.svg"/><Relationship Id="rId2" Type="http://schemas.openxmlformats.org/officeDocument/2006/relationships/image" Target="../media/image1.jpg"/><Relationship Id="rId16" Type="http://schemas.openxmlformats.org/officeDocument/2006/relationships/image" Target="../media/image43.png"/><Relationship Id="rId1" Type="http://schemas.openxmlformats.org/officeDocument/2006/relationships/slideLayout" Target="../slideLayouts/slideLayout1.xml"/><Relationship Id="rId6" Type="http://schemas.openxmlformats.org/officeDocument/2006/relationships/image" Target="../media/image10.svg"/><Relationship Id="rId11" Type="http://schemas.openxmlformats.org/officeDocument/2006/relationships/image" Target="../media/image32.png"/><Relationship Id="rId5" Type="http://schemas.openxmlformats.org/officeDocument/2006/relationships/image" Target="../media/image9.png"/><Relationship Id="rId15" Type="http://schemas.openxmlformats.org/officeDocument/2006/relationships/image" Target="../media/image36.png"/><Relationship Id="rId10" Type="http://schemas.openxmlformats.org/officeDocument/2006/relationships/image" Target="../media/image19.svg"/><Relationship Id="rId19" Type="http://schemas.openxmlformats.org/officeDocument/2006/relationships/image" Target="../media/image46.svg"/><Relationship Id="rId4" Type="http://schemas.openxmlformats.org/officeDocument/2006/relationships/image" Target="../media/image6.svg"/><Relationship Id="rId9" Type="http://schemas.openxmlformats.org/officeDocument/2006/relationships/image" Target="../media/image18.png"/><Relationship Id="rId14" Type="http://schemas.openxmlformats.org/officeDocument/2006/relationships/image" Target="../media/image35.svg"/></Relationships>
</file>

<file path=ppt/slides/_rels/slide9.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34.png"/><Relationship Id="rId18" Type="http://schemas.openxmlformats.org/officeDocument/2006/relationships/image" Target="../media/image47.png"/><Relationship Id="rId3" Type="http://schemas.openxmlformats.org/officeDocument/2006/relationships/image" Target="../media/image5.png"/><Relationship Id="rId21" Type="http://schemas.openxmlformats.org/officeDocument/2006/relationships/image" Target="../media/image50.svg"/><Relationship Id="rId7" Type="http://schemas.openxmlformats.org/officeDocument/2006/relationships/image" Target="../media/image13.png"/><Relationship Id="rId12" Type="http://schemas.openxmlformats.org/officeDocument/2006/relationships/image" Target="../media/image33.svg"/><Relationship Id="rId17" Type="http://schemas.openxmlformats.org/officeDocument/2006/relationships/image" Target="../media/image44.svg"/><Relationship Id="rId2" Type="http://schemas.openxmlformats.org/officeDocument/2006/relationships/image" Target="../media/image1.jpg"/><Relationship Id="rId16" Type="http://schemas.openxmlformats.org/officeDocument/2006/relationships/image" Target="../media/image43.png"/><Relationship Id="rId20"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10.svg"/><Relationship Id="rId11" Type="http://schemas.openxmlformats.org/officeDocument/2006/relationships/image" Target="../media/image32.png"/><Relationship Id="rId5" Type="http://schemas.openxmlformats.org/officeDocument/2006/relationships/image" Target="../media/image9.png"/><Relationship Id="rId15" Type="http://schemas.openxmlformats.org/officeDocument/2006/relationships/image" Target="../media/image36.png"/><Relationship Id="rId10" Type="http://schemas.openxmlformats.org/officeDocument/2006/relationships/image" Target="../media/image19.svg"/><Relationship Id="rId19" Type="http://schemas.openxmlformats.org/officeDocument/2006/relationships/image" Target="../media/image48.svg"/><Relationship Id="rId4" Type="http://schemas.openxmlformats.org/officeDocument/2006/relationships/image" Target="../media/image6.svg"/><Relationship Id="rId9" Type="http://schemas.openxmlformats.org/officeDocument/2006/relationships/image" Target="../media/image18.png"/><Relationship Id="rId14" Type="http://schemas.openxmlformats.org/officeDocument/2006/relationships/image" Target="../media/image35.svg"/></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9000" b="-109000"/>
          </a:stretch>
        </a:blipFill>
        <a:effectLst/>
      </p:bgPr>
    </p:bg>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1F2AA4BD-4B73-AB61-141B-95A76874A7CC}"/>
              </a:ext>
            </a:extLst>
          </p:cNvPr>
          <p:cNvGrpSpPr/>
          <p:nvPr/>
        </p:nvGrpSpPr>
        <p:grpSpPr>
          <a:xfrm>
            <a:off x="-210573" y="4658034"/>
            <a:ext cx="4590873" cy="15855333"/>
            <a:chOff x="-693173" y="-4054166"/>
            <a:chExt cx="4590873" cy="15855333"/>
          </a:xfrm>
        </p:grpSpPr>
        <p:sp>
          <p:nvSpPr>
            <p:cNvPr id="16" name="Hexagon 15">
              <a:extLst>
                <a:ext uri="{FF2B5EF4-FFF2-40B4-BE49-F238E27FC236}">
                  <a16:creationId xmlns:a16="http://schemas.microsoft.com/office/drawing/2014/main" id="{15F54537-3425-FD1D-17B8-576B1016C4F4}"/>
                </a:ext>
              </a:extLst>
            </p:cNvPr>
            <p:cNvSpPr/>
            <p:nvPr/>
          </p:nvSpPr>
          <p:spPr>
            <a:xfrm>
              <a:off x="2620293" y="493579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C607C5BC-4A9E-9A8F-D1D9-F643D2E1DAB1}"/>
                </a:ext>
              </a:extLst>
            </p:cNvPr>
            <p:cNvGrpSpPr/>
            <p:nvPr/>
          </p:nvGrpSpPr>
          <p:grpSpPr>
            <a:xfrm>
              <a:off x="-693173" y="-3503559"/>
              <a:ext cx="4300821" cy="15304726"/>
              <a:chOff x="-693173" y="-3503559"/>
              <a:chExt cx="4300821" cy="15304726"/>
            </a:xfrm>
          </p:grpSpPr>
          <p:sp>
            <p:nvSpPr>
              <p:cNvPr id="4" name="Hexagon 3">
                <a:extLst>
                  <a:ext uri="{FF2B5EF4-FFF2-40B4-BE49-F238E27FC236}">
                    <a16:creationId xmlns:a16="http://schemas.microsoft.com/office/drawing/2014/main" id="{D440C1EC-68B0-20D5-F80B-117E386DBBF8}"/>
                  </a:ext>
                </a:extLst>
              </p:cNvPr>
              <p:cNvSpPr/>
              <p:nvPr/>
            </p:nvSpPr>
            <p:spPr>
              <a:xfrm>
                <a:off x="314632" y="218276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 name="Hexagon 5">
                <a:extLst>
                  <a:ext uri="{FF2B5EF4-FFF2-40B4-BE49-F238E27FC236}">
                    <a16:creationId xmlns:a16="http://schemas.microsoft.com/office/drawing/2014/main" id="{1A26160E-0B39-4E91-6D53-D215140AB2A2}"/>
                  </a:ext>
                </a:extLst>
              </p:cNvPr>
              <p:cNvSpPr/>
              <p:nvPr/>
            </p:nvSpPr>
            <p:spPr>
              <a:xfrm>
                <a:off x="1322438" y="273336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7" name="Hexagon 6">
                <a:extLst>
                  <a:ext uri="{FF2B5EF4-FFF2-40B4-BE49-F238E27FC236}">
                    <a16:creationId xmlns:a16="http://schemas.microsoft.com/office/drawing/2014/main" id="{BACB9F9E-08E3-DD36-3003-8E176A437E25}"/>
                  </a:ext>
                </a:extLst>
              </p:cNvPr>
              <p:cNvSpPr/>
              <p:nvPr/>
            </p:nvSpPr>
            <p:spPr>
              <a:xfrm>
                <a:off x="604684" y="3834580"/>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8" name="Hexagon 7">
                <a:extLst>
                  <a:ext uri="{FF2B5EF4-FFF2-40B4-BE49-F238E27FC236}">
                    <a16:creationId xmlns:a16="http://schemas.microsoft.com/office/drawing/2014/main" id="{CB74B210-BEE3-DE82-AC6A-7B0FC121C52C}"/>
                  </a:ext>
                </a:extLst>
              </p:cNvPr>
              <p:cNvSpPr/>
              <p:nvPr/>
            </p:nvSpPr>
            <p:spPr>
              <a:xfrm>
                <a:off x="1322437" y="163215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9" name="Hexagon 8">
                <a:extLst>
                  <a:ext uri="{FF2B5EF4-FFF2-40B4-BE49-F238E27FC236}">
                    <a16:creationId xmlns:a16="http://schemas.microsoft.com/office/drawing/2014/main" id="{0509F1AC-083B-0813-0869-8B949D30EC87}"/>
                  </a:ext>
                </a:extLst>
              </p:cNvPr>
              <p:cNvSpPr/>
              <p:nvPr/>
            </p:nvSpPr>
            <p:spPr>
              <a:xfrm>
                <a:off x="1322436" y="53094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 name="Hexagon 9">
                <a:extLst>
                  <a:ext uri="{FF2B5EF4-FFF2-40B4-BE49-F238E27FC236}">
                    <a16:creationId xmlns:a16="http://schemas.microsoft.com/office/drawing/2014/main" id="{17D56993-CFD0-1DA4-6F85-A7A151D16BDC}"/>
                  </a:ext>
                </a:extLst>
              </p:cNvPr>
              <p:cNvSpPr/>
              <p:nvPr/>
            </p:nvSpPr>
            <p:spPr>
              <a:xfrm>
                <a:off x="2330241" y="10815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 name="Hexagon 10">
                <a:extLst>
                  <a:ext uri="{FF2B5EF4-FFF2-40B4-BE49-F238E27FC236}">
                    <a16:creationId xmlns:a16="http://schemas.microsoft.com/office/drawing/2014/main" id="{09E4A19C-5D7E-4C34-56EC-98E4B2567D09}"/>
                  </a:ext>
                </a:extLst>
              </p:cNvPr>
              <p:cNvSpPr/>
              <p:nvPr/>
            </p:nvSpPr>
            <p:spPr>
              <a:xfrm>
                <a:off x="604684" y="60370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 name="Hexagon 11">
                <a:extLst>
                  <a:ext uri="{FF2B5EF4-FFF2-40B4-BE49-F238E27FC236}">
                    <a16:creationId xmlns:a16="http://schemas.microsoft.com/office/drawing/2014/main" id="{95148BB1-03B6-A931-4D1E-144763A70934}"/>
                  </a:ext>
                </a:extLst>
              </p:cNvPr>
              <p:cNvSpPr/>
              <p:nvPr/>
            </p:nvSpPr>
            <p:spPr>
              <a:xfrm>
                <a:off x="1612490" y="65876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3" name="Hexagon 12">
                <a:extLst>
                  <a:ext uri="{FF2B5EF4-FFF2-40B4-BE49-F238E27FC236}">
                    <a16:creationId xmlns:a16="http://schemas.microsoft.com/office/drawing/2014/main" id="{5118032A-BB3A-F8E5-17C2-2A0D3373B219}"/>
                  </a:ext>
                </a:extLst>
              </p:cNvPr>
              <p:cNvSpPr/>
              <p:nvPr/>
            </p:nvSpPr>
            <p:spPr>
              <a:xfrm>
                <a:off x="894736" y="768882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4" name="Hexagon 13">
                <a:extLst>
                  <a:ext uri="{FF2B5EF4-FFF2-40B4-BE49-F238E27FC236}">
                    <a16:creationId xmlns:a16="http://schemas.microsoft.com/office/drawing/2014/main" id="{653B9574-DA0E-B1A7-D4A7-D3790B5FFEA6}"/>
                  </a:ext>
                </a:extLst>
              </p:cNvPr>
              <p:cNvSpPr/>
              <p:nvPr/>
            </p:nvSpPr>
            <p:spPr>
              <a:xfrm>
                <a:off x="1612489" y="54863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5" name="Hexagon 14">
                <a:extLst>
                  <a:ext uri="{FF2B5EF4-FFF2-40B4-BE49-F238E27FC236}">
                    <a16:creationId xmlns:a16="http://schemas.microsoft.com/office/drawing/2014/main" id="{6203209C-7308-8D89-2377-F485092C31B0}"/>
                  </a:ext>
                </a:extLst>
              </p:cNvPr>
              <p:cNvSpPr/>
              <p:nvPr/>
            </p:nvSpPr>
            <p:spPr>
              <a:xfrm>
                <a:off x="1612488" y="438518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29" name="Hexagon 28">
                <a:extLst>
                  <a:ext uri="{FF2B5EF4-FFF2-40B4-BE49-F238E27FC236}">
                    <a16:creationId xmlns:a16="http://schemas.microsoft.com/office/drawing/2014/main" id="{AE4C0C4A-91CB-444B-B5E6-EBD2E0E69D7E}"/>
                  </a:ext>
                </a:extLst>
              </p:cNvPr>
              <p:cNvSpPr/>
              <p:nvPr/>
            </p:nvSpPr>
            <p:spPr>
              <a:xfrm>
                <a:off x="-693173" y="45310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0" name="Hexagon 29">
                <a:extLst>
                  <a:ext uri="{FF2B5EF4-FFF2-40B4-BE49-F238E27FC236}">
                    <a16:creationId xmlns:a16="http://schemas.microsoft.com/office/drawing/2014/main" id="{3657B0CB-32FA-DCA4-879F-B7627A766B73}"/>
                  </a:ext>
                </a:extLst>
              </p:cNvPr>
              <p:cNvSpPr/>
              <p:nvPr/>
            </p:nvSpPr>
            <p:spPr>
              <a:xfrm>
                <a:off x="314632" y="-975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1" name="Hexagon 30">
                <a:extLst>
                  <a:ext uri="{FF2B5EF4-FFF2-40B4-BE49-F238E27FC236}">
                    <a16:creationId xmlns:a16="http://schemas.microsoft.com/office/drawing/2014/main" id="{58C7D4C0-2997-B32C-496D-5DA9ACFBBE92}"/>
                  </a:ext>
                </a:extLst>
              </p:cNvPr>
              <p:cNvSpPr/>
              <p:nvPr/>
            </p:nvSpPr>
            <p:spPr>
              <a:xfrm>
                <a:off x="314631" y="-119871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2" name="Hexagon 31">
                <a:extLst>
                  <a:ext uri="{FF2B5EF4-FFF2-40B4-BE49-F238E27FC236}">
                    <a16:creationId xmlns:a16="http://schemas.microsoft.com/office/drawing/2014/main" id="{F7F13B6B-C772-88EE-C08D-48BE98979A0C}"/>
                  </a:ext>
                </a:extLst>
              </p:cNvPr>
              <p:cNvSpPr/>
              <p:nvPr/>
            </p:nvSpPr>
            <p:spPr>
              <a:xfrm>
                <a:off x="1322436" y="-648113"/>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3" name="Hexagon 32">
                <a:extLst>
                  <a:ext uri="{FF2B5EF4-FFF2-40B4-BE49-F238E27FC236}">
                    <a16:creationId xmlns:a16="http://schemas.microsoft.com/office/drawing/2014/main" id="{4D8998F9-D24F-CCB8-A8FD-997694D96739}"/>
                  </a:ext>
                </a:extLst>
              </p:cNvPr>
              <p:cNvSpPr/>
              <p:nvPr/>
            </p:nvSpPr>
            <p:spPr>
              <a:xfrm>
                <a:off x="1981590" y="1069995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4" name="Hexagon 33">
                <a:extLst>
                  <a:ext uri="{FF2B5EF4-FFF2-40B4-BE49-F238E27FC236}">
                    <a16:creationId xmlns:a16="http://schemas.microsoft.com/office/drawing/2014/main" id="{E8F796DC-A9BB-1E74-DE0D-BDDBEF2B5A6F}"/>
                  </a:ext>
                </a:extLst>
              </p:cNvPr>
              <p:cNvSpPr/>
              <p:nvPr/>
            </p:nvSpPr>
            <p:spPr>
              <a:xfrm>
                <a:off x="1981589" y="955039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5" name="Hexagon 34">
                <a:extLst>
                  <a:ext uri="{FF2B5EF4-FFF2-40B4-BE49-F238E27FC236}">
                    <a16:creationId xmlns:a16="http://schemas.microsoft.com/office/drawing/2014/main" id="{8A4555EA-C458-81AA-5C77-869791F4FDFD}"/>
                  </a:ext>
                </a:extLst>
              </p:cNvPr>
              <p:cNvSpPr/>
              <p:nvPr/>
            </p:nvSpPr>
            <p:spPr>
              <a:xfrm>
                <a:off x="-252788" y="95610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6" name="Hexagon 35">
                <a:extLst>
                  <a:ext uri="{FF2B5EF4-FFF2-40B4-BE49-F238E27FC236}">
                    <a16:creationId xmlns:a16="http://schemas.microsoft.com/office/drawing/2014/main" id="{CEF5D261-BB6C-F529-36DC-E7FEB884397B}"/>
                  </a:ext>
                </a:extLst>
              </p:cNvPr>
              <p:cNvSpPr/>
              <p:nvPr/>
            </p:nvSpPr>
            <p:spPr>
              <a:xfrm>
                <a:off x="894735" y="890515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7" name="Hexagon 36">
                <a:extLst>
                  <a:ext uri="{FF2B5EF4-FFF2-40B4-BE49-F238E27FC236}">
                    <a16:creationId xmlns:a16="http://schemas.microsoft.com/office/drawing/2014/main" id="{9AA4EEFE-38F5-258E-F7F1-F3D50FB442E7}"/>
                  </a:ext>
                </a:extLst>
              </p:cNvPr>
              <p:cNvSpPr/>
              <p:nvPr/>
            </p:nvSpPr>
            <p:spPr>
              <a:xfrm>
                <a:off x="1981589" y="8354548"/>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8" name="Hexagon 37">
                <a:extLst>
                  <a:ext uri="{FF2B5EF4-FFF2-40B4-BE49-F238E27FC236}">
                    <a16:creationId xmlns:a16="http://schemas.microsoft.com/office/drawing/2014/main" id="{8D852303-10C3-553E-A169-4333E523A434}"/>
                  </a:ext>
                </a:extLst>
              </p:cNvPr>
              <p:cNvSpPr/>
              <p:nvPr/>
            </p:nvSpPr>
            <p:spPr>
              <a:xfrm>
                <a:off x="1342887" y="-17738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9" name="Hexagon 38">
                <a:extLst>
                  <a:ext uri="{FF2B5EF4-FFF2-40B4-BE49-F238E27FC236}">
                    <a16:creationId xmlns:a16="http://schemas.microsoft.com/office/drawing/2014/main" id="{A242562A-D318-A626-1818-6DAA5E0F88C9}"/>
                  </a:ext>
                </a:extLst>
              </p:cNvPr>
              <p:cNvSpPr/>
              <p:nvPr/>
            </p:nvSpPr>
            <p:spPr>
              <a:xfrm>
                <a:off x="1342886" y="-28751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40" name="Hexagon 39">
                <a:extLst>
                  <a:ext uri="{FF2B5EF4-FFF2-40B4-BE49-F238E27FC236}">
                    <a16:creationId xmlns:a16="http://schemas.microsoft.com/office/drawing/2014/main" id="{FBF63A73-0EAD-6B11-F783-C58BC0F12C10}"/>
                  </a:ext>
                </a:extLst>
              </p:cNvPr>
              <p:cNvSpPr/>
              <p:nvPr/>
            </p:nvSpPr>
            <p:spPr>
              <a:xfrm>
                <a:off x="-672723" y="-295295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41" name="Hexagon 40">
                <a:extLst>
                  <a:ext uri="{FF2B5EF4-FFF2-40B4-BE49-F238E27FC236}">
                    <a16:creationId xmlns:a16="http://schemas.microsoft.com/office/drawing/2014/main" id="{D6913DF7-8D53-9606-9084-AA5D310E1DA7}"/>
                  </a:ext>
                </a:extLst>
              </p:cNvPr>
              <p:cNvSpPr/>
              <p:nvPr/>
            </p:nvSpPr>
            <p:spPr>
              <a:xfrm>
                <a:off x="335082" y="-350355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grpSp>
        <p:sp>
          <p:nvSpPr>
            <p:cNvPr id="42" name="Hexagon 41">
              <a:extLst>
                <a:ext uri="{FF2B5EF4-FFF2-40B4-BE49-F238E27FC236}">
                  <a16:creationId xmlns:a16="http://schemas.microsoft.com/office/drawing/2014/main" id="{84DBB27F-F5C4-C8E5-865A-D3310F6D7A4E}"/>
                </a:ext>
              </a:extLst>
            </p:cNvPr>
            <p:cNvSpPr/>
            <p:nvPr/>
          </p:nvSpPr>
          <p:spPr>
            <a:xfrm>
              <a:off x="1342886" y="-405416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grpSp>
      <p:pic>
        <p:nvPicPr>
          <p:cNvPr id="46" name="Graphic 45" descr="Employee badge with solid fill">
            <a:extLst>
              <a:ext uri="{FF2B5EF4-FFF2-40B4-BE49-F238E27FC236}">
                <a16:creationId xmlns:a16="http://schemas.microsoft.com/office/drawing/2014/main" id="{DE9F33A0-2349-9B5A-3A56-DADE83792F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57476" y="4800493"/>
            <a:ext cx="763027" cy="763027"/>
          </a:xfrm>
          <a:prstGeom prst="rect">
            <a:avLst/>
          </a:prstGeom>
        </p:spPr>
      </p:pic>
      <p:sp>
        <p:nvSpPr>
          <p:cNvPr id="2" name="TextBox 1">
            <a:extLst>
              <a:ext uri="{FF2B5EF4-FFF2-40B4-BE49-F238E27FC236}">
                <a16:creationId xmlns:a16="http://schemas.microsoft.com/office/drawing/2014/main" id="{A9C42BBA-DFAC-58FB-F4FB-AF0CFC5A91A7}"/>
              </a:ext>
            </a:extLst>
          </p:cNvPr>
          <p:cNvSpPr txBox="1"/>
          <p:nvPr/>
        </p:nvSpPr>
        <p:spPr>
          <a:xfrm>
            <a:off x="1805036" y="892665"/>
            <a:ext cx="8794584" cy="3785652"/>
          </a:xfrm>
          <a:prstGeom prst="rect">
            <a:avLst/>
          </a:prstGeom>
          <a:noFill/>
        </p:spPr>
        <p:txBody>
          <a:bodyPr wrap="square" rtlCol="0">
            <a:spAutoFit/>
          </a:bodyPr>
          <a:lstStyle/>
          <a:p>
            <a:pPr algn="ctr"/>
            <a:r>
              <a:rPr lang="fa-IR" sz="4000" dirty="0">
                <a:solidFill>
                  <a:schemeClr val="accent1">
                    <a:lumMod val="20000"/>
                    <a:lumOff val="80000"/>
                  </a:schemeClr>
                </a:solidFill>
                <a:cs typeface="B Nazanin" panose="00000400000000000000" pitchFamily="2" charset="-78"/>
              </a:rPr>
              <a:t>بسم‌الله‌الرحمن‌الرحیم</a:t>
            </a:r>
          </a:p>
          <a:p>
            <a:pPr algn="ctr"/>
            <a:endParaRPr lang="fa-IR" sz="4000" dirty="0">
              <a:solidFill>
                <a:schemeClr val="accent1">
                  <a:lumMod val="20000"/>
                  <a:lumOff val="80000"/>
                </a:schemeClr>
              </a:solidFill>
              <a:cs typeface="B Nazanin" panose="00000400000000000000" pitchFamily="2" charset="-78"/>
            </a:endParaRPr>
          </a:p>
          <a:p>
            <a:pPr algn="ctr"/>
            <a:r>
              <a:rPr lang="fa-IR" sz="4000" dirty="0">
                <a:solidFill>
                  <a:schemeClr val="accent1">
                    <a:lumMod val="20000"/>
                    <a:lumOff val="80000"/>
                  </a:schemeClr>
                </a:solidFill>
                <a:cs typeface="B Nazanin" panose="00000400000000000000" pitchFamily="2" charset="-78"/>
              </a:rPr>
              <a:t> موضوع : نقش ابرقدرت ها در دفاع مقدس</a:t>
            </a:r>
          </a:p>
          <a:p>
            <a:pPr algn="ctr"/>
            <a:endParaRPr lang="fa-IR" sz="4000" dirty="0">
              <a:solidFill>
                <a:schemeClr val="accent1">
                  <a:lumMod val="20000"/>
                  <a:lumOff val="80000"/>
                </a:schemeClr>
              </a:solidFill>
              <a:cs typeface="B Nazanin" panose="00000400000000000000" pitchFamily="2" charset="-78"/>
            </a:endParaRPr>
          </a:p>
          <a:p>
            <a:pPr algn="ctr"/>
            <a:r>
              <a:rPr lang="fa-IR" sz="4000" dirty="0">
                <a:solidFill>
                  <a:schemeClr val="accent1">
                    <a:lumMod val="20000"/>
                    <a:lumOff val="80000"/>
                  </a:schemeClr>
                </a:solidFill>
                <a:cs typeface="B Nazanin" panose="00000400000000000000" pitchFamily="2" charset="-78"/>
              </a:rPr>
              <a:t>استاد : جناب آقای آذریان</a:t>
            </a:r>
          </a:p>
          <a:p>
            <a:pPr algn="ctr"/>
            <a:r>
              <a:rPr lang="fa-IR" sz="4000" dirty="0">
                <a:solidFill>
                  <a:schemeClr val="accent1">
                    <a:lumMod val="20000"/>
                    <a:lumOff val="80000"/>
                  </a:schemeClr>
                </a:solidFill>
                <a:cs typeface="B Nazanin" panose="00000400000000000000" pitchFamily="2" charset="-78"/>
              </a:rPr>
              <a:t> </a:t>
            </a:r>
            <a:endParaRPr lang="en-US" sz="4000" dirty="0">
              <a:solidFill>
                <a:schemeClr val="accent1">
                  <a:lumMod val="20000"/>
                  <a:lumOff val="80000"/>
                </a:schemeClr>
              </a:solidFill>
              <a:cs typeface="B Nazanin" panose="00000400000000000000" pitchFamily="2" charset="-78"/>
            </a:endParaRPr>
          </a:p>
        </p:txBody>
      </p:sp>
    </p:spTree>
    <p:extLst>
      <p:ext uri="{BB962C8B-B14F-4D97-AF65-F5344CB8AC3E}">
        <p14:creationId xmlns:p14="http://schemas.microsoft.com/office/powerpoint/2010/main" val="35981130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9000" b="-109000"/>
          </a:stretch>
        </a:blipFill>
        <a:effectLst/>
      </p:bgPr>
    </p:bg>
    <p:spTree>
      <p:nvGrpSpPr>
        <p:cNvPr id="1" name="">
          <a:extLst>
            <a:ext uri="{FF2B5EF4-FFF2-40B4-BE49-F238E27FC236}">
              <a16:creationId xmlns:a16="http://schemas.microsoft.com/office/drawing/2014/main" id="{7F126253-D85E-2006-21FB-1F54CD3A5DD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0F57095-740E-40F9-1D20-23FF20893742}"/>
              </a:ext>
            </a:extLst>
          </p:cNvPr>
          <p:cNvPicPr>
            <a:picLocks noChangeAspect="1"/>
          </p:cNvPicPr>
          <p:nvPr/>
        </p:nvPicPr>
        <p:blipFill>
          <a:blip r:embed="rId3"/>
          <a:srcRect t="2038" b="2038"/>
          <a:stretch>
            <a:fillRect/>
          </a:stretch>
        </p:blipFill>
        <p:spPr>
          <a:xfrm flipH="1">
            <a:off x="0" y="-1559681"/>
            <a:ext cx="6353122" cy="8771266"/>
          </a:xfrm>
          <a:prstGeom prst="rect">
            <a:avLst/>
          </a:prstGeom>
        </p:spPr>
      </p:pic>
      <p:grpSp>
        <p:nvGrpSpPr>
          <p:cNvPr id="44" name="Group 43">
            <a:extLst>
              <a:ext uri="{FF2B5EF4-FFF2-40B4-BE49-F238E27FC236}">
                <a16:creationId xmlns:a16="http://schemas.microsoft.com/office/drawing/2014/main" id="{E5C9BC5A-720F-5C9F-4A23-C308623DF82C}"/>
              </a:ext>
            </a:extLst>
          </p:cNvPr>
          <p:cNvGrpSpPr/>
          <p:nvPr/>
        </p:nvGrpSpPr>
        <p:grpSpPr>
          <a:xfrm>
            <a:off x="21540" y="2981634"/>
            <a:ext cx="4590873" cy="15855333"/>
            <a:chOff x="-693173" y="-4054166"/>
            <a:chExt cx="4590873" cy="15855333"/>
          </a:xfrm>
        </p:grpSpPr>
        <p:sp>
          <p:nvSpPr>
            <p:cNvPr id="16" name="Hexagon 15">
              <a:extLst>
                <a:ext uri="{FF2B5EF4-FFF2-40B4-BE49-F238E27FC236}">
                  <a16:creationId xmlns:a16="http://schemas.microsoft.com/office/drawing/2014/main" id="{BC659D94-9F68-1B54-B428-B1C0A67E3F2A}"/>
                </a:ext>
              </a:extLst>
            </p:cNvPr>
            <p:cNvSpPr/>
            <p:nvPr/>
          </p:nvSpPr>
          <p:spPr>
            <a:xfrm>
              <a:off x="2620293" y="493579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32EA4BE1-58F3-CC10-B084-C7142201A2B2}"/>
                </a:ext>
              </a:extLst>
            </p:cNvPr>
            <p:cNvGrpSpPr/>
            <p:nvPr/>
          </p:nvGrpSpPr>
          <p:grpSpPr>
            <a:xfrm>
              <a:off x="-693173" y="-3503559"/>
              <a:ext cx="4300821" cy="15304726"/>
              <a:chOff x="-693173" y="-3503559"/>
              <a:chExt cx="4300821" cy="15304726"/>
            </a:xfrm>
          </p:grpSpPr>
          <p:sp>
            <p:nvSpPr>
              <p:cNvPr id="4" name="Hexagon 3">
                <a:extLst>
                  <a:ext uri="{FF2B5EF4-FFF2-40B4-BE49-F238E27FC236}">
                    <a16:creationId xmlns:a16="http://schemas.microsoft.com/office/drawing/2014/main" id="{3A87709F-C58C-50B1-3351-D7E8C2DB7A42}"/>
                  </a:ext>
                </a:extLst>
              </p:cNvPr>
              <p:cNvSpPr/>
              <p:nvPr/>
            </p:nvSpPr>
            <p:spPr>
              <a:xfrm>
                <a:off x="314632" y="218276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 name="Hexagon 5">
                <a:extLst>
                  <a:ext uri="{FF2B5EF4-FFF2-40B4-BE49-F238E27FC236}">
                    <a16:creationId xmlns:a16="http://schemas.microsoft.com/office/drawing/2014/main" id="{7D170FBB-1397-95D3-E852-D3FE04120BD9}"/>
                  </a:ext>
                </a:extLst>
              </p:cNvPr>
              <p:cNvSpPr/>
              <p:nvPr/>
            </p:nvSpPr>
            <p:spPr>
              <a:xfrm>
                <a:off x="1322438" y="273336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7" name="Hexagon 6">
                <a:extLst>
                  <a:ext uri="{FF2B5EF4-FFF2-40B4-BE49-F238E27FC236}">
                    <a16:creationId xmlns:a16="http://schemas.microsoft.com/office/drawing/2014/main" id="{7521F22D-4B81-EFA3-FD2F-7EEB13516359}"/>
                  </a:ext>
                </a:extLst>
              </p:cNvPr>
              <p:cNvSpPr/>
              <p:nvPr/>
            </p:nvSpPr>
            <p:spPr>
              <a:xfrm>
                <a:off x="604684" y="3834580"/>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8" name="Hexagon 7">
                <a:extLst>
                  <a:ext uri="{FF2B5EF4-FFF2-40B4-BE49-F238E27FC236}">
                    <a16:creationId xmlns:a16="http://schemas.microsoft.com/office/drawing/2014/main" id="{285F3959-B4B8-12E2-757F-F4FD0509693B}"/>
                  </a:ext>
                </a:extLst>
              </p:cNvPr>
              <p:cNvSpPr/>
              <p:nvPr/>
            </p:nvSpPr>
            <p:spPr>
              <a:xfrm>
                <a:off x="1322437" y="163215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9" name="Hexagon 8">
                <a:extLst>
                  <a:ext uri="{FF2B5EF4-FFF2-40B4-BE49-F238E27FC236}">
                    <a16:creationId xmlns:a16="http://schemas.microsoft.com/office/drawing/2014/main" id="{322EFBB3-2802-0C78-03E1-09FE448B09BA}"/>
                  </a:ext>
                </a:extLst>
              </p:cNvPr>
              <p:cNvSpPr/>
              <p:nvPr/>
            </p:nvSpPr>
            <p:spPr>
              <a:xfrm>
                <a:off x="1322436" y="53094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 name="Hexagon 9">
                <a:extLst>
                  <a:ext uri="{FF2B5EF4-FFF2-40B4-BE49-F238E27FC236}">
                    <a16:creationId xmlns:a16="http://schemas.microsoft.com/office/drawing/2014/main" id="{9712C813-15D8-3876-2005-A0F180D9FED6}"/>
                  </a:ext>
                </a:extLst>
              </p:cNvPr>
              <p:cNvSpPr/>
              <p:nvPr/>
            </p:nvSpPr>
            <p:spPr>
              <a:xfrm>
                <a:off x="2330241" y="10815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 name="Hexagon 10">
                <a:extLst>
                  <a:ext uri="{FF2B5EF4-FFF2-40B4-BE49-F238E27FC236}">
                    <a16:creationId xmlns:a16="http://schemas.microsoft.com/office/drawing/2014/main" id="{6D4A0C83-501F-8017-8347-0A26387F7687}"/>
                  </a:ext>
                </a:extLst>
              </p:cNvPr>
              <p:cNvSpPr/>
              <p:nvPr/>
            </p:nvSpPr>
            <p:spPr>
              <a:xfrm>
                <a:off x="604684" y="60370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 name="Hexagon 11">
                <a:extLst>
                  <a:ext uri="{FF2B5EF4-FFF2-40B4-BE49-F238E27FC236}">
                    <a16:creationId xmlns:a16="http://schemas.microsoft.com/office/drawing/2014/main" id="{0CF1C26D-623C-BA85-2B45-CCBF0DD25D31}"/>
                  </a:ext>
                </a:extLst>
              </p:cNvPr>
              <p:cNvSpPr/>
              <p:nvPr/>
            </p:nvSpPr>
            <p:spPr>
              <a:xfrm>
                <a:off x="1612490" y="65876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3" name="Hexagon 12">
                <a:extLst>
                  <a:ext uri="{FF2B5EF4-FFF2-40B4-BE49-F238E27FC236}">
                    <a16:creationId xmlns:a16="http://schemas.microsoft.com/office/drawing/2014/main" id="{7AABA63D-4B7B-8B76-E740-8FF843DFB8A5}"/>
                  </a:ext>
                </a:extLst>
              </p:cNvPr>
              <p:cNvSpPr/>
              <p:nvPr/>
            </p:nvSpPr>
            <p:spPr>
              <a:xfrm>
                <a:off x="894736" y="768882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4" name="Hexagon 13">
                <a:extLst>
                  <a:ext uri="{FF2B5EF4-FFF2-40B4-BE49-F238E27FC236}">
                    <a16:creationId xmlns:a16="http://schemas.microsoft.com/office/drawing/2014/main" id="{6E76DC7E-37B8-50EC-9884-562D1ADB525B}"/>
                  </a:ext>
                </a:extLst>
              </p:cNvPr>
              <p:cNvSpPr/>
              <p:nvPr/>
            </p:nvSpPr>
            <p:spPr>
              <a:xfrm>
                <a:off x="1612489" y="54863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5" name="Hexagon 14">
                <a:extLst>
                  <a:ext uri="{FF2B5EF4-FFF2-40B4-BE49-F238E27FC236}">
                    <a16:creationId xmlns:a16="http://schemas.microsoft.com/office/drawing/2014/main" id="{5C039739-CEAA-D0E3-94F9-B11496D12E10}"/>
                  </a:ext>
                </a:extLst>
              </p:cNvPr>
              <p:cNvSpPr/>
              <p:nvPr/>
            </p:nvSpPr>
            <p:spPr>
              <a:xfrm>
                <a:off x="1612488" y="438518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29" name="Hexagon 28">
                <a:extLst>
                  <a:ext uri="{FF2B5EF4-FFF2-40B4-BE49-F238E27FC236}">
                    <a16:creationId xmlns:a16="http://schemas.microsoft.com/office/drawing/2014/main" id="{B7F28476-2268-701D-85AD-A85C307139AB}"/>
                  </a:ext>
                </a:extLst>
              </p:cNvPr>
              <p:cNvSpPr/>
              <p:nvPr/>
            </p:nvSpPr>
            <p:spPr>
              <a:xfrm>
                <a:off x="-693173" y="45310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0" name="Hexagon 29">
                <a:extLst>
                  <a:ext uri="{FF2B5EF4-FFF2-40B4-BE49-F238E27FC236}">
                    <a16:creationId xmlns:a16="http://schemas.microsoft.com/office/drawing/2014/main" id="{DD5633C6-9468-5367-37CC-9E793AD88537}"/>
                  </a:ext>
                </a:extLst>
              </p:cNvPr>
              <p:cNvSpPr/>
              <p:nvPr/>
            </p:nvSpPr>
            <p:spPr>
              <a:xfrm>
                <a:off x="314632" y="-975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1" name="Hexagon 30">
                <a:extLst>
                  <a:ext uri="{FF2B5EF4-FFF2-40B4-BE49-F238E27FC236}">
                    <a16:creationId xmlns:a16="http://schemas.microsoft.com/office/drawing/2014/main" id="{D15AC333-0D12-89E9-8496-35CAC2C397BB}"/>
                  </a:ext>
                </a:extLst>
              </p:cNvPr>
              <p:cNvSpPr/>
              <p:nvPr/>
            </p:nvSpPr>
            <p:spPr>
              <a:xfrm>
                <a:off x="314631" y="-119871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2" name="Hexagon 31">
                <a:extLst>
                  <a:ext uri="{FF2B5EF4-FFF2-40B4-BE49-F238E27FC236}">
                    <a16:creationId xmlns:a16="http://schemas.microsoft.com/office/drawing/2014/main" id="{371D58DE-AF58-F714-4E70-00EA320F0F3A}"/>
                  </a:ext>
                </a:extLst>
              </p:cNvPr>
              <p:cNvSpPr/>
              <p:nvPr/>
            </p:nvSpPr>
            <p:spPr>
              <a:xfrm>
                <a:off x="1322436" y="-648113"/>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3" name="Hexagon 32">
                <a:extLst>
                  <a:ext uri="{FF2B5EF4-FFF2-40B4-BE49-F238E27FC236}">
                    <a16:creationId xmlns:a16="http://schemas.microsoft.com/office/drawing/2014/main" id="{08CB41FE-89E8-4158-323F-7AC063C1552F}"/>
                  </a:ext>
                </a:extLst>
              </p:cNvPr>
              <p:cNvSpPr/>
              <p:nvPr/>
            </p:nvSpPr>
            <p:spPr>
              <a:xfrm>
                <a:off x="1981590" y="1069995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4" name="Hexagon 33">
                <a:extLst>
                  <a:ext uri="{FF2B5EF4-FFF2-40B4-BE49-F238E27FC236}">
                    <a16:creationId xmlns:a16="http://schemas.microsoft.com/office/drawing/2014/main" id="{33F5B1FC-9D65-554B-8566-D7CFCE50247B}"/>
                  </a:ext>
                </a:extLst>
              </p:cNvPr>
              <p:cNvSpPr/>
              <p:nvPr/>
            </p:nvSpPr>
            <p:spPr>
              <a:xfrm>
                <a:off x="1981589" y="955039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5" name="Hexagon 34">
                <a:extLst>
                  <a:ext uri="{FF2B5EF4-FFF2-40B4-BE49-F238E27FC236}">
                    <a16:creationId xmlns:a16="http://schemas.microsoft.com/office/drawing/2014/main" id="{7A952F8D-9825-50C9-1A92-F3B3DF3C910B}"/>
                  </a:ext>
                </a:extLst>
              </p:cNvPr>
              <p:cNvSpPr/>
              <p:nvPr/>
            </p:nvSpPr>
            <p:spPr>
              <a:xfrm>
                <a:off x="-252788" y="95610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6" name="Hexagon 35">
                <a:extLst>
                  <a:ext uri="{FF2B5EF4-FFF2-40B4-BE49-F238E27FC236}">
                    <a16:creationId xmlns:a16="http://schemas.microsoft.com/office/drawing/2014/main" id="{F579C905-4F83-D04C-A217-7282354AECB8}"/>
                  </a:ext>
                </a:extLst>
              </p:cNvPr>
              <p:cNvSpPr/>
              <p:nvPr/>
            </p:nvSpPr>
            <p:spPr>
              <a:xfrm>
                <a:off x="894735" y="890515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7" name="Hexagon 36">
                <a:extLst>
                  <a:ext uri="{FF2B5EF4-FFF2-40B4-BE49-F238E27FC236}">
                    <a16:creationId xmlns:a16="http://schemas.microsoft.com/office/drawing/2014/main" id="{C4FFC6A3-2918-8E4F-5343-8BC290C01315}"/>
                  </a:ext>
                </a:extLst>
              </p:cNvPr>
              <p:cNvSpPr/>
              <p:nvPr/>
            </p:nvSpPr>
            <p:spPr>
              <a:xfrm>
                <a:off x="1981589" y="8354548"/>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8" name="Hexagon 37">
                <a:extLst>
                  <a:ext uri="{FF2B5EF4-FFF2-40B4-BE49-F238E27FC236}">
                    <a16:creationId xmlns:a16="http://schemas.microsoft.com/office/drawing/2014/main" id="{9C59A37D-7046-45DB-3A6D-E3DE621A5E3E}"/>
                  </a:ext>
                </a:extLst>
              </p:cNvPr>
              <p:cNvSpPr/>
              <p:nvPr/>
            </p:nvSpPr>
            <p:spPr>
              <a:xfrm>
                <a:off x="1342887" y="-17738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39" name="Hexagon 38">
                <a:extLst>
                  <a:ext uri="{FF2B5EF4-FFF2-40B4-BE49-F238E27FC236}">
                    <a16:creationId xmlns:a16="http://schemas.microsoft.com/office/drawing/2014/main" id="{B8B77F2D-075D-106E-06C9-A6F5A28E0449}"/>
                  </a:ext>
                </a:extLst>
              </p:cNvPr>
              <p:cNvSpPr/>
              <p:nvPr/>
            </p:nvSpPr>
            <p:spPr>
              <a:xfrm>
                <a:off x="1342886" y="-28751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p>
            </p:txBody>
          </p:sp>
          <p:sp>
            <p:nvSpPr>
              <p:cNvPr id="40" name="Hexagon 39">
                <a:extLst>
                  <a:ext uri="{FF2B5EF4-FFF2-40B4-BE49-F238E27FC236}">
                    <a16:creationId xmlns:a16="http://schemas.microsoft.com/office/drawing/2014/main" id="{8598AEA4-FCC9-824F-1B2E-125C37E7D519}"/>
                  </a:ext>
                </a:extLst>
              </p:cNvPr>
              <p:cNvSpPr/>
              <p:nvPr/>
            </p:nvSpPr>
            <p:spPr>
              <a:xfrm>
                <a:off x="-672723" y="-295295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41" name="Hexagon 40">
                <a:extLst>
                  <a:ext uri="{FF2B5EF4-FFF2-40B4-BE49-F238E27FC236}">
                    <a16:creationId xmlns:a16="http://schemas.microsoft.com/office/drawing/2014/main" id="{BB0145D8-AF8A-9412-9336-15CDA42E2C55}"/>
                  </a:ext>
                </a:extLst>
              </p:cNvPr>
              <p:cNvSpPr/>
              <p:nvPr/>
            </p:nvSpPr>
            <p:spPr>
              <a:xfrm>
                <a:off x="335082" y="-350355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grpSp>
        <p:sp>
          <p:nvSpPr>
            <p:cNvPr id="42" name="Hexagon 41">
              <a:extLst>
                <a:ext uri="{FF2B5EF4-FFF2-40B4-BE49-F238E27FC236}">
                  <a16:creationId xmlns:a16="http://schemas.microsoft.com/office/drawing/2014/main" id="{204710A9-25D5-2911-B71C-B9289D9B3313}"/>
                </a:ext>
              </a:extLst>
            </p:cNvPr>
            <p:cNvSpPr/>
            <p:nvPr/>
          </p:nvSpPr>
          <p:spPr>
            <a:xfrm>
              <a:off x="1342886" y="-405416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p>
          </p:txBody>
        </p:sp>
      </p:grpSp>
      <p:pic>
        <p:nvPicPr>
          <p:cNvPr id="46" name="Graphic 45" descr="Employee badge with solid fill">
            <a:extLst>
              <a:ext uri="{FF2B5EF4-FFF2-40B4-BE49-F238E27FC236}">
                <a16:creationId xmlns:a16="http://schemas.microsoft.com/office/drawing/2014/main" id="{73DBB995-F1F7-1309-CA4D-746E7AF8449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16977" y="3131572"/>
            <a:ext cx="763027" cy="763027"/>
          </a:xfrm>
          <a:prstGeom prst="rect">
            <a:avLst/>
          </a:prstGeom>
        </p:spPr>
      </p:pic>
      <p:sp>
        <p:nvSpPr>
          <p:cNvPr id="3" name="Text 0">
            <a:extLst>
              <a:ext uri="{FF2B5EF4-FFF2-40B4-BE49-F238E27FC236}">
                <a16:creationId xmlns:a16="http://schemas.microsoft.com/office/drawing/2014/main" id="{3F6FE7FB-9C16-C14E-A60E-E985F150211A}"/>
              </a:ext>
            </a:extLst>
          </p:cNvPr>
          <p:cNvSpPr/>
          <p:nvPr/>
        </p:nvSpPr>
        <p:spPr>
          <a:xfrm flipH="1">
            <a:off x="6721725" y="1083473"/>
            <a:ext cx="4901313" cy="541919"/>
          </a:xfrm>
          <a:prstGeom prst="rect">
            <a:avLst/>
          </a:prstGeom>
          <a:noFill/>
          <a:ln/>
        </p:spPr>
        <p:txBody>
          <a:bodyPr wrap="square" lIns="0" tIns="0" rIns="0" bIns="0" rtlCol="0" anchor="t"/>
          <a:lstStyle/>
          <a:p>
            <a:pPr marL="0" indent="0" algn="r" rtl="1">
              <a:lnSpc>
                <a:spcPts val="4850"/>
              </a:lnSpc>
              <a:buNone/>
            </a:pPr>
            <a:r>
              <a:rPr lang="en-US" sz="3900" b="1" dirty="0">
                <a:solidFill>
                  <a:schemeClr val="bg1"/>
                </a:solidFill>
                <a:latin typeface="Inter Bold" pitchFamily="34" charset="0"/>
                <a:ea typeface="Inter Bold" pitchFamily="34" charset="-122"/>
                <a:cs typeface="B Nazanin" panose="00000400000000000000" pitchFamily="2" charset="-78"/>
              </a:rPr>
              <a:t>نقش ابرقدرت‌ها در ۸ سال دفاع مقدس ایران</a:t>
            </a:r>
            <a:endParaRPr lang="en-US" sz="3900" dirty="0">
              <a:solidFill>
                <a:schemeClr val="bg1"/>
              </a:solidFill>
              <a:cs typeface="B Nazanin" panose="00000400000000000000" pitchFamily="2" charset="-78"/>
            </a:endParaRPr>
          </a:p>
        </p:txBody>
      </p:sp>
      <p:sp>
        <p:nvSpPr>
          <p:cNvPr id="5" name="Text 1">
            <a:extLst>
              <a:ext uri="{FF2B5EF4-FFF2-40B4-BE49-F238E27FC236}">
                <a16:creationId xmlns:a16="http://schemas.microsoft.com/office/drawing/2014/main" id="{3BE16E36-AA1E-BB0F-9E6A-CB2044B97878}"/>
              </a:ext>
            </a:extLst>
          </p:cNvPr>
          <p:cNvSpPr/>
          <p:nvPr/>
        </p:nvSpPr>
        <p:spPr>
          <a:xfrm flipH="1">
            <a:off x="6837218" y="3261360"/>
            <a:ext cx="4901312" cy="821487"/>
          </a:xfrm>
          <a:prstGeom prst="rect">
            <a:avLst/>
          </a:prstGeom>
          <a:noFill/>
          <a:ln/>
        </p:spPr>
        <p:txBody>
          <a:bodyPr wrap="square" lIns="0" tIns="0" rIns="0" bIns="0" rtlCol="0" anchor="t"/>
          <a:lstStyle/>
          <a:p>
            <a:pPr marL="0" indent="0" algn="r" rtl="1">
              <a:lnSpc>
                <a:spcPts val="2500"/>
              </a:lnSpc>
              <a:buNone/>
            </a:pPr>
            <a:r>
              <a:rPr lang="en-US" sz="1550" dirty="0">
                <a:solidFill>
                  <a:schemeClr val="bg1"/>
                </a:solidFill>
                <a:latin typeface="Inter" pitchFamily="34" charset="0"/>
                <a:ea typeface="Inter" pitchFamily="34" charset="-122"/>
                <a:cs typeface="B Nazanin" panose="00000400000000000000" pitchFamily="2" charset="-78"/>
              </a:rPr>
              <a:t>جنگ تحمیلی ایران و عراق (۱۳۵۹-۱۳۶۷) یکی از طولانی‌ترین و خونین‌ترین درگیری‌های نظامی قرن بیستم بود </a:t>
            </a:r>
            <a:r>
              <a:rPr lang="en-US" sz="1550" dirty="0" err="1">
                <a:solidFill>
                  <a:schemeClr val="bg1"/>
                </a:solidFill>
                <a:latin typeface="Inter" pitchFamily="34" charset="0"/>
                <a:ea typeface="Inter" pitchFamily="34" charset="-122"/>
                <a:cs typeface="B Nazanin" panose="00000400000000000000" pitchFamily="2" charset="-78"/>
              </a:rPr>
              <a:t>که</a:t>
            </a:r>
            <a:r>
              <a:rPr lang="en-US" sz="1550" dirty="0">
                <a:solidFill>
                  <a:schemeClr val="bg1"/>
                </a:solidFill>
                <a:latin typeface="Inter" pitchFamily="34" charset="0"/>
                <a:ea typeface="Inter" pitchFamily="34" charset="-122"/>
                <a:cs typeface="B Nazanin" panose="00000400000000000000" pitchFamily="2" charset="-78"/>
              </a:rPr>
              <a:t>  </a:t>
            </a:r>
            <a:r>
              <a:rPr lang="fa-IR" sz="1550" dirty="0">
                <a:solidFill>
                  <a:schemeClr val="bg1"/>
                </a:solidFill>
                <a:latin typeface="Inter" pitchFamily="34" charset="0"/>
                <a:ea typeface="Inter" pitchFamily="34" charset="-122"/>
                <a:cs typeface="B Nazanin" panose="00000400000000000000" pitchFamily="2" charset="-78"/>
              </a:rPr>
              <a:t>نه </a:t>
            </a:r>
            <a:r>
              <a:rPr lang="en-US" sz="1550" dirty="0" err="1">
                <a:solidFill>
                  <a:schemeClr val="bg1"/>
                </a:solidFill>
                <a:latin typeface="Inter" pitchFamily="34" charset="0"/>
                <a:ea typeface="Inter" pitchFamily="34" charset="-122"/>
                <a:cs typeface="B Nazanin" panose="00000400000000000000" pitchFamily="2" charset="-78"/>
              </a:rPr>
              <a:t>تنها</a:t>
            </a:r>
            <a:r>
              <a:rPr lang="en-US" sz="1550" dirty="0">
                <a:solidFill>
                  <a:schemeClr val="bg1"/>
                </a:solidFill>
                <a:latin typeface="Inter" pitchFamily="34" charset="0"/>
                <a:ea typeface="Inter" pitchFamily="34" charset="-122"/>
                <a:cs typeface="B Nazanin" panose="00000400000000000000" pitchFamily="2" charset="-78"/>
              </a:rPr>
              <a:t> دو کشور همسایه را درگیر کرد، بلکه صحنه‌ای برای نمایش قدرت و منافع ابرقدرت‌های جهانی شد.</a:t>
            </a:r>
            <a:endParaRPr lang="en-US" sz="1550" dirty="0">
              <a:solidFill>
                <a:schemeClr val="bg1"/>
              </a:solidFill>
              <a:cs typeface="B Nazanin" panose="00000400000000000000" pitchFamily="2" charset="-78"/>
            </a:endParaRPr>
          </a:p>
        </p:txBody>
      </p:sp>
      <p:pic>
        <p:nvPicPr>
          <p:cNvPr id="52" name="Graphic 51" descr="Bullseye with solid fill">
            <a:extLst>
              <a:ext uri="{FF2B5EF4-FFF2-40B4-BE49-F238E27FC236}">
                <a16:creationId xmlns:a16="http://schemas.microsoft.com/office/drawing/2014/main" id="{B4980D1A-236B-54B5-B67C-E83275DCF2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66063" y="4266789"/>
            <a:ext cx="914400" cy="914400"/>
          </a:xfrm>
          <a:prstGeom prst="rect">
            <a:avLst/>
          </a:prstGeom>
        </p:spPr>
      </p:pic>
    </p:spTree>
    <p:extLst>
      <p:ext uri="{BB962C8B-B14F-4D97-AF65-F5344CB8AC3E}">
        <p14:creationId xmlns:p14="http://schemas.microsoft.com/office/powerpoint/2010/main" val="570420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9000" b="-109000"/>
          </a:stretch>
        </a:blipFill>
        <a:effectLst/>
      </p:bgPr>
    </p:bg>
    <p:spTree>
      <p:nvGrpSpPr>
        <p:cNvPr id="1" name="">
          <a:extLst>
            <a:ext uri="{FF2B5EF4-FFF2-40B4-BE49-F238E27FC236}">
              <a16:creationId xmlns:a16="http://schemas.microsoft.com/office/drawing/2014/main" id="{BCBB7D67-E237-F5B0-213F-EDCAF5C96FB4}"/>
            </a:ext>
          </a:extLst>
        </p:cNvPr>
        <p:cNvGrpSpPr/>
        <p:nvPr/>
      </p:nvGrpSpPr>
      <p:grpSpPr>
        <a:xfrm>
          <a:off x="0" y="0"/>
          <a:ext cx="0" cy="0"/>
          <a:chOff x="0" y="0"/>
          <a:chExt cx="0" cy="0"/>
        </a:xfrm>
      </p:grpSpPr>
      <p:grpSp>
        <p:nvGrpSpPr>
          <p:cNvPr id="44" name="Group 43">
            <a:extLst>
              <a:ext uri="{FF2B5EF4-FFF2-40B4-BE49-F238E27FC236}">
                <a16:creationId xmlns:a16="http://schemas.microsoft.com/office/drawing/2014/main" id="{C8ED06E4-417B-432E-A137-EDC08613A98B}"/>
              </a:ext>
            </a:extLst>
          </p:cNvPr>
          <p:cNvGrpSpPr/>
          <p:nvPr/>
        </p:nvGrpSpPr>
        <p:grpSpPr>
          <a:xfrm>
            <a:off x="68202" y="207954"/>
            <a:ext cx="4590873" cy="15855333"/>
            <a:chOff x="-693173" y="-4054166"/>
            <a:chExt cx="4590873" cy="15855333"/>
          </a:xfrm>
        </p:grpSpPr>
        <p:sp>
          <p:nvSpPr>
            <p:cNvPr id="16" name="Hexagon 15">
              <a:extLst>
                <a:ext uri="{FF2B5EF4-FFF2-40B4-BE49-F238E27FC236}">
                  <a16:creationId xmlns:a16="http://schemas.microsoft.com/office/drawing/2014/main" id="{97A4A1AB-0BC5-F3EB-F477-1FC3A22EE5EA}"/>
                </a:ext>
              </a:extLst>
            </p:cNvPr>
            <p:cNvSpPr/>
            <p:nvPr/>
          </p:nvSpPr>
          <p:spPr>
            <a:xfrm>
              <a:off x="2620293" y="493579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grpSp>
          <p:nvGrpSpPr>
            <p:cNvPr id="43" name="Group 42">
              <a:extLst>
                <a:ext uri="{FF2B5EF4-FFF2-40B4-BE49-F238E27FC236}">
                  <a16:creationId xmlns:a16="http://schemas.microsoft.com/office/drawing/2014/main" id="{34411CDD-6647-BB9F-EDB1-BFB38DEEA591}"/>
                </a:ext>
              </a:extLst>
            </p:cNvPr>
            <p:cNvGrpSpPr/>
            <p:nvPr/>
          </p:nvGrpSpPr>
          <p:grpSpPr>
            <a:xfrm>
              <a:off x="-693173" y="-3503559"/>
              <a:ext cx="4300821" cy="15304726"/>
              <a:chOff x="-693173" y="-3503559"/>
              <a:chExt cx="4300821" cy="15304726"/>
            </a:xfrm>
          </p:grpSpPr>
          <p:sp>
            <p:nvSpPr>
              <p:cNvPr id="4" name="Hexagon 3">
                <a:extLst>
                  <a:ext uri="{FF2B5EF4-FFF2-40B4-BE49-F238E27FC236}">
                    <a16:creationId xmlns:a16="http://schemas.microsoft.com/office/drawing/2014/main" id="{6D5959D5-8D01-3CA7-B869-31EA3B205195}"/>
                  </a:ext>
                </a:extLst>
              </p:cNvPr>
              <p:cNvSpPr/>
              <p:nvPr/>
            </p:nvSpPr>
            <p:spPr>
              <a:xfrm>
                <a:off x="314632" y="218276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6" name="Hexagon 5">
                <a:extLst>
                  <a:ext uri="{FF2B5EF4-FFF2-40B4-BE49-F238E27FC236}">
                    <a16:creationId xmlns:a16="http://schemas.microsoft.com/office/drawing/2014/main" id="{8914D930-9867-23F3-07B8-5889661BA4B7}"/>
                  </a:ext>
                </a:extLst>
              </p:cNvPr>
              <p:cNvSpPr/>
              <p:nvPr/>
            </p:nvSpPr>
            <p:spPr>
              <a:xfrm>
                <a:off x="1322438" y="273336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7" name="Hexagon 6">
                <a:extLst>
                  <a:ext uri="{FF2B5EF4-FFF2-40B4-BE49-F238E27FC236}">
                    <a16:creationId xmlns:a16="http://schemas.microsoft.com/office/drawing/2014/main" id="{6AE5AF84-D6E5-D5EE-382D-D60674F343D7}"/>
                  </a:ext>
                </a:extLst>
              </p:cNvPr>
              <p:cNvSpPr/>
              <p:nvPr/>
            </p:nvSpPr>
            <p:spPr>
              <a:xfrm>
                <a:off x="604684" y="3834580"/>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8" name="Hexagon 7">
                <a:extLst>
                  <a:ext uri="{FF2B5EF4-FFF2-40B4-BE49-F238E27FC236}">
                    <a16:creationId xmlns:a16="http://schemas.microsoft.com/office/drawing/2014/main" id="{79105AC3-F8D7-CD98-28CC-6E78BE0509FC}"/>
                  </a:ext>
                </a:extLst>
              </p:cNvPr>
              <p:cNvSpPr/>
              <p:nvPr/>
            </p:nvSpPr>
            <p:spPr>
              <a:xfrm>
                <a:off x="1322437" y="163215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9" name="Hexagon 8">
                <a:extLst>
                  <a:ext uri="{FF2B5EF4-FFF2-40B4-BE49-F238E27FC236}">
                    <a16:creationId xmlns:a16="http://schemas.microsoft.com/office/drawing/2014/main" id="{90C5B789-A58E-39C4-2F8D-1F4DFF092C66}"/>
                  </a:ext>
                </a:extLst>
              </p:cNvPr>
              <p:cNvSpPr/>
              <p:nvPr/>
            </p:nvSpPr>
            <p:spPr>
              <a:xfrm>
                <a:off x="1322436" y="53094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0" name="Hexagon 9">
                <a:extLst>
                  <a:ext uri="{FF2B5EF4-FFF2-40B4-BE49-F238E27FC236}">
                    <a16:creationId xmlns:a16="http://schemas.microsoft.com/office/drawing/2014/main" id="{3E95A96C-CE72-3DC6-D1D5-27045E7E4EA3}"/>
                  </a:ext>
                </a:extLst>
              </p:cNvPr>
              <p:cNvSpPr/>
              <p:nvPr/>
            </p:nvSpPr>
            <p:spPr>
              <a:xfrm>
                <a:off x="2330241" y="10815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1" name="Hexagon 10">
                <a:extLst>
                  <a:ext uri="{FF2B5EF4-FFF2-40B4-BE49-F238E27FC236}">
                    <a16:creationId xmlns:a16="http://schemas.microsoft.com/office/drawing/2014/main" id="{7A47DD87-6A8F-21D5-0BEC-27EEE5FDFF8E}"/>
                  </a:ext>
                </a:extLst>
              </p:cNvPr>
              <p:cNvSpPr/>
              <p:nvPr/>
            </p:nvSpPr>
            <p:spPr>
              <a:xfrm>
                <a:off x="604684" y="60370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2" name="Hexagon 11">
                <a:extLst>
                  <a:ext uri="{FF2B5EF4-FFF2-40B4-BE49-F238E27FC236}">
                    <a16:creationId xmlns:a16="http://schemas.microsoft.com/office/drawing/2014/main" id="{7B50DEA4-C79C-8CA3-7A26-B5E5687D8104}"/>
                  </a:ext>
                </a:extLst>
              </p:cNvPr>
              <p:cNvSpPr/>
              <p:nvPr/>
            </p:nvSpPr>
            <p:spPr>
              <a:xfrm>
                <a:off x="1612490" y="65876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3" name="Hexagon 12">
                <a:extLst>
                  <a:ext uri="{FF2B5EF4-FFF2-40B4-BE49-F238E27FC236}">
                    <a16:creationId xmlns:a16="http://schemas.microsoft.com/office/drawing/2014/main" id="{553A2B03-5D9D-7B91-6482-3EAAA21B508F}"/>
                  </a:ext>
                </a:extLst>
              </p:cNvPr>
              <p:cNvSpPr/>
              <p:nvPr/>
            </p:nvSpPr>
            <p:spPr>
              <a:xfrm>
                <a:off x="894736" y="768882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4" name="Hexagon 13">
                <a:extLst>
                  <a:ext uri="{FF2B5EF4-FFF2-40B4-BE49-F238E27FC236}">
                    <a16:creationId xmlns:a16="http://schemas.microsoft.com/office/drawing/2014/main" id="{AAEFF480-1C8A-AFCA-12CD-704F49393B0A}"/>
                  </a:ext>
                </a:extLst>
              </p:cNvPr>
              <p:cNvSpPr/>
              <p:nvPr/>
            </p:nvSpPr>
            <p:spPr>
              <a:xfrm>
                <a:off x="1612489" y="54863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5" name="Hexagon 14">
                <a:extLst>
                  <a:ext uri="{FF2B5EF4-FFF2-40B4-BE49-F238E27FC236}">
                    <a16:creationId xmlns:a16="http://schemas.microsoft.com/office/drawing/2014/main" id="{6742167A-F953-30EA-F2AC-D5335BB80D4B}"/>
                  </a:ext>
                </a:extLst>
              </p:cNvPr>
              <p:cNvSpPr/>
              <p:nvPr/>
            </p:nvSpPr>
            <p:spPr>
              <a:xfrm>
                <a:off x="1612488" y="438518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29" name="Hexagon 28">
                <a:extLst>
                  <a:ext uri="{FF2B5EF4-FFF2-40B4-BE49-F238E27FC236}">
                    <a16:creationId xmlns:a16="http://schemas.microsoft.com/office/drawing/2014/main" id="{2552EC16-52D3-0D5D-BA3E-DFA281CF1237}"/>
                  </a:ext>
                </a:extLst>
              </p:cNvPr>
              <p:cNvSpPr/>
              <p:nvPr/>
            </p:nvSpPr>
            <p:spPr>
              <a:xfrm>
                <a:off x="-693173" y="45310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0" name="Hexagon 29">
                <a:extLst>
                  <a:ext uri="{FF2B5EF4-FFF2-40B4-BE49-F238E27FC236}">
                    <a16:creationId xmlns:a16="http://schemas.microsoft.com/office/drawing/2014/main" id="{5E631D8A-C088-965A-3150-3EE7714C0202}"/>
                  </a:ext>
                </a:extLst>
              </p:cNvPr>
              <p:cNvSpPr/>
              <p:nvPr/>
            </p:nvSpPr>
            <p:spPr>
              <a:xfrm>
                <a:off x="314632" y="-975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1" name="Hexagon 30">
                <a:extLst>
                  <a:ext uri="{FF2B5EF4-FFF2-40B4-BE49-F238E27FC236}">
                    <a16:creationId xmlns:a16="http://schemas.microsoft.com/office/drawing/2014/main" id="{AB1B58D4-6E52-0FA2-7A13-232C02BFAB82}"/>
                  </a:ext>
                </a:extLst>
              </p:cNvPr>
              <p:cNvSpPr/>
              <p:nvPr/>
            </p:nvSpPr>
            <p:spPr>
              <a:xfrm>
                <a:off x="314631" y="-119871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2" name="Hexagon 31">
                <a:extLst>
                  <a:ext uri="{FF2B5EF4-FFF2-40B4-BE49-F238E27FC236}">
                    <a16:creationId xmlns:a16="http://schemas.microsoft.com/office/drawing/2014/main" id="{CD0402CE-3067-0D40-9A86-BB57BF81EE64}"/>
                  </a:ext>
                </a:extLst>
              </p:cNvPr>
              <p:cNvSpPr/>
              <p:nvPr/>
            </p:nvSpPr>
            <p:spPr>
              <a:xfrm>
                <a:off x="1322436" y="-648113"/>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3" name="Hexagon 32">
                <a:extLst>
                  <a:ext uri="{FF2B5EF4-FFF2-40B4-BE49-F238E27FC236}">
                    <a16:creationId xmlns:a16="http://schemas.microsoft.com/office/drawing/2014/main" id="{1879A8D9-D348-5790-54F6-0AFA91B30E45}"/>
                  </a:ext>
                </a:extLst>
              </p:cNvPr>
              <p:cNvSpPr/>
              <p:nvPr/>
            </p:nvSpPr>
            <p:spPr>
              <a:xfrm>
                <a:off x="1981590" y="1069995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4" name="Hexagon 33">
                <a:extLst>
                  <a:ext uri="{FF2B5EF4-FFF2-40B4-BE49-F238E27FC236}">
                    <a16:creationId xmlns:a16="http://schemas.microsoft.com/office/drawing/2014/main" id="{61091047-B138-D1E1-7165-E051BEAE87C8}"/>
                  </a:ext>
                </a:extLst>
              </p:cNvPr>
              <p:cNvSpPr/>
              <p:nvPr/>
            </p:nvSpPr>
            <p:spPr>
              <a:xfrm>
                <a:off x="1981589" y="955039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5" name="Hexagon 34">
                <a:extLst>
                  <a:ext uri="{FF2B5EF4-FFF2-40B4-BE49-F238E27FC236}">
                    <a16:creationId xmlns:a16="http://schemas.microsoft.com/office/drawing/2014/main" id="{903BFA94-325F-D441-732D-BCE04D7222A7}"/>
                  </a:ext>
                </a:extLst>
              </p:cNvPr>
              <p:cNvSpPr/>
              <p:nvPr/>
            </p:nvSpPr>
            <p:spPr>
              <a:xfrm>
                <a:off x="-252788" y="95610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6" name="Hexagon 35">
                <a:extLst>
                  <a:ext uri="{FF2B5EF4-FFF2-40B4-BE49-F238E27FC236}">
                    <a16:creationId xmlns:a16="http://schemas.microsoft.com/office/drawing/2014/main" id="{09BB0B91-D2CA-E652-144C-8206BF70AB40}"/>
                  </a:ext>
                </a:extLst>
              </p:cNvPr>
              <p:cNvSpPr/>
              <p:nvPr/>
            </p:nvSpPr>
            <p:spPr>
              <a:xfrm>
                <a:off x="894735" y="890515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7" name="Hexagon 36">
                <a:extLst>
                  <a:ext uri="{FF2B5EF4-FFF2-40B4-BE49-F238E27FC236}">
                    <a16:creationId xmlns:a16="http://schemas.microsoft.com/office/drawing/2014/main" id="{0270EA51-58F5-5359-506C-85542B161A34}"/>
                  </a:ext>
                </a:extLst>
              </p:cNvPr>
              <p:cNvSpPr/>
              <p:nvPr/>
            </p:nvSpPr>
            <p:spPr>
              <a:xfrm>
                <a:off x="1981589" y="8354548"/>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8" name="Hexagon 37">
                <a:extLst>
                  <a:ext uri="{FF2B5EF4-FFF2-40B4-BE49-F238E27FC236}">
                    <a16:creationId xmlns:a16="http://schemas.microsoft.com/office/drawing/2014/main" id="{FDAFC2AC-6425-7CB9-74BB-516AAF46B3B0}"/>
                  </a:ext>
                </a:extLst>
              </p:cNvPr>
              <p:cNvSpPr/>
              <p:nvPr/>
            </p:nvSpPr>
            <p:spPr>
              <a:xfrm>
                <a:off x="1342886" y="-17738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sp>
            <p:nvSpPr>
              <p:cNvPr id="39" name="Hexagon 38">
                <a:extLst>
                  <a:ext uri="{FF2B5EF4-FFF2-40B4-BE49-F238E27FC236}">
                    <a16:creationId xmlns:a16="http://schemas.microsoft.com/office/drawing/2014/main" id="{14D75CCA-72F3-25AC-8A86-984836903BE8}"/>
                  </a:ext>
                </a:extLst>
              </p:cNvPr>
              <p:cNvSpPr/>
              <p:nvPr/>
            </p:nvSpPr>
            <p:spPr>
              <a:xfrm>
                <a:off x="1342886" y="-28751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40" name="Hexagon 39">
                <a:extLst>
                  <a:ext uri="{FF2B5EF4-FFF2-40B4-BE49-F238E27FC236}">
                    <a16:creationId xmlns:a16="http://schemas.microsoft.com/office/drawing/2014/main" id="{33D4EF3C-F963-73ED-E031-B7273885F40E}"/>
                  </a:ext>
                </a:extLst>
              </p:cNvPr>
              <p:cNvSpPr/>
              <p:nvPr/>
            </p:nvSpPr>
            <p:spPr>
              <a:xfrm>
                <a:off x="-672723" y="-295295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41" name="Hexagon 40">
                <a:extLst>
                  <a:ext uri="{FF2B5EF4-FFF2-40B4-BE49-F238E27FC236}">
                    <a16:creationId xmlns:a16="http://schemas.microsoft.com/office/drawing/2014/main" id="{FD978995-F8DC-3835-0DE6-0ABA5A50980A}"/>
                  </a:ext>
                </a:extLst>
              </p:cNvPr>
              <p:cNvSpPr/>
              <p:nvPr/>
            </p:nvSpPr>
            <p:spPr>
              <a:xfrm>
                <a:off x="335082" y="-350355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grpSp>
        <p:sp>
          <p:nvSpPr>
            <p:cNvPr id="42" name="Hexagon 41">
              <a:extLst>
                <a:ext uri="{FF2B5EF4-FFF2-40B4-BE49-F238E27FC236}">
                  <a16:creationId xmlns:a16="http://schemas.microsoft.com/office/drawing/2014/main" id="{93D3DD89-C39B-A411-5C22-C31CACB91449}"/>
                </a:ext>
              </a:extLst>
            </p:cNvPr>
            <p:cNvSpPr/>
            <p:nvPr/>
          </p:nvSpPr>
          <p:spPr>
            <a:xfrm>
              <a:off x="1342886" y="-405416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grpSp>
      <p:pic>
        <p:nvPicPr>
          <p:cNvPr id="46" name="Graphic 45" descr="Employee badge with solid fill">
            <a:extLst>
              <a:ext uri="{FF2B5EF4-FFF2-40B4-BE49-F238E27FC236}">
                <a16:creationId xmlns:a16="http://schemas.microsoft.com/office/drawing/2014/main" id="{C20D825B-9FF3-C351-CB62-2900A0F0B9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09808" y="399617"/>
            <a:ext cx="763027" cy="763027"/>
          </a:xfrm>
          <a:prstGeom prst="rect">
            <a:avLst/>
          </a:prstGeom>
        </p:spPr>
      </p:pic>
      <p:pic>
        <p:nvPicPr>
          <p:cNvPr id="52" name="Graphic 51" descr="Bullseye with solid fill">
            <a:extLst>
              <a:ext uri="{FF2B5EF4-FFF2-40B4-BE49-F238E27FC236}">
                <a16:creationId xmlns:a16="http://schemas.microsoft.com/office/drawing/2014/main" id="{7CFFD1B5-D2AA-E54A-77C8-D0BDD972876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40329" y="1495980"/>
            <a:ext cx="914400" cy="914400"/>
          </a:xfrm>
          <a:prstGeom prst="rect">
            <a:avLst/>
          </a:prstGeom>
        </p:spPr>
      </p:pic>
      <p:sp>
        <p:nvSpPr>
          <p:cNvPr id="50" name="Text 0">
            <a:extLst>
              <a:ext uri="{FF2B5EF4-FFF2-40B4-BE49-F238E27FC236}">
                <a16:creationId xmlns:a16="http://schemas.microsoft.com/office/drawing/2014/main" id="{8956390B-DE5A-42C5-0573-EC22079642F9}"/>
              </a:ext>
            </a:extLst>
          </p:cNvPr>
          <p:cNvSpPr/>
          <p:nvPr/>
        </p:nvSpPr>
        <p:spPr>
          <a:xfrm>
            <a:off x="3023414" y="337723"/>
            <a:ext cx="8492371" cy="620078"/>
          </a:xfrm>
          <a:prstGeom prst="rect">
            <a:avLst/>
          </a:prstGeom>
          <a:noFill/>
          <a:ln/>
        </p:spPr>
        <p:txBody>
          <a:bodyPr wrap="none" lIns="0" tIns="0" rIns="0" bIns="0" rtlCol="0" anchor="t"/>
          <a:lstStyle/>
          <a:p>
            <a:pPr marL="0" indent="0" algn="r" rtl="1">
              <a:lnSpc>
                <a:spcPts val="4850"/>
              </a:lnSpc>
              <a:buNone/>
            </a:pPr>
            <a:r>
              <a:rPr lang="en-US" sz="3900" b="1" dirty="0">
                <a:solidFill>
                  <a:schemeClr val="bg1"/>
                </a:solidFill>
                <a:latin typeface="Inter Bold" pitchFamily="34" charset="0"/>
                <a:ea typeface="Inter Bold" pitchFamily="34" charset="-122"/>
                <a:cs typeface="B Nazanin" panose="00000400000000000000" pitchFamily="2" charset="-78"/>
              </a:rPr>
              <a:t>مقدمه: وضعیت جهانی در آغاز جنگ تحمیلی</a:t>
            </a:r>
            <a:endParaRPr lang="en-US" sz="3900" dirty="0">
              <a:solidFill>
                <a:schemeClr val="bg1"/>
              </a:solidFill>
              <a:cs typeface="B Nazanin" panose="00000400000000000000" pitchFamily="2" charset="-78"/>
            </a:endParaRPr>
          </a:p>
        </p:txBody>
      </p:sp>
      <p:sp>
        <p:nvSpPr>
          <p:cNvPr id="51" name="Text 1">
            <a:extLst>
              <a:ext uri="{FF2B5EF4-FFF2-40B4-BE49-F238E27FC236}">
                <a16:creationId xmlns:a16="http://schemas.microsoft.com/office/drawing/2014/main" id="{13C5ECC2-CCAE-F769-A1D5-70D306600567}"/>
              </a:ext>
            </a:extLst>
          </p:cNvPr>
          <p:cNvSpPr/>
          <p:nvPr/>
        </p:nvSpPr>
        <p:spPr>
          <a:xfrm>
            <a:off x="2812301" y="1348845"/>
            <a:ext cx="2977039" cy="372070"/>
          </a:xfrm>
          <a:prstGeom prst="rect">
            <a:avLst/>
          </a:prstGeom>
          <a:noFill/>
          <a:ln/>
        </p:spPr>
        <p:txBody>
          <a:bodyPr wrap="none" lIns="0" tIns="0" rIns="0" bIns="0" rtlCol="0" anchor="t"/>
          <a:lstStyle/>
          <a:p>
            <a:pPr marL="0" indent="0" algn="r" rtl="1">
              <a:lnSpc>
                <a:spcPts val="2900"/>
              </a:lnSpc>
              <a:buNone/>
            </a:pPr>
            <a:r>
              <a:rPr lang="en-US" sz="2300" b="1" dirty="0">
                <a:solidFill>
                  <a:schemeClr val="bg1"/>
                </a:solidFill>
                <a:latin typeface="Inter Bold" pitchFamily="34" charset="0"/>
                <a:ea typeface="Inter Bold" pitchFamily="34" charset="-122"/>
                <a:cs typeface="B Nazanin" panose="00000400000000000000" pitchFamily="2" charset="-78"/>
              </a:rPr>
              <a:t>بستر سیاسی جهان</a:t>
            </a:r>
            <a:endParaRPr lang="en-US" sz="2300" dirty="0">
              <a:solidFill>
                <a:schemeClr val="bg1"/>
              </a:solidFill>
              <a:cs typeface="B Nazanin" panose="00000400000000000000" pitchFamily="2" charset="-78"/>
            </a:endParaRPr>
          </a:p>
        </p:txBody>
      </p:sp>
      <p:sp>
        <p:nvSpPr>
          <p:cNvPr id="53" name="Text 2">
            <a:extLst>
              <a:ext uri="{FF2B5EF4-FFF2-40B4-BE49-F238E27FC236}">
                <a16:creationId xmlns:a16="http://schemas.microsoft.com/office/drawing/2014/main" id="{22564B7F-9BF2-381F-23E9-F3318B0C42A4}"/>
              </a:ext>
            </a:extLst>
          </p:cNvPr>
          <p:cNvSpPr/>
          <p:nvPr/>
        </p:nvSpPr>
        <p:spPr>
          <a:xfrm>
            <a:off x="3297301" y="2093514"/>
            <a:ext cx="3489848" cy="952619"/>
          </a:xfrm>
          <a:prstGeom prst="rect">
            <a:avLst/>
          </a:prstGeom>
          <a:noFill/>
          <a:ln/>
        </p:spPr>
        <p:txBody>
          <a:bodyPr wrap="square" lIns="0" tIns="0" rIns="0" bIns="0" rtlCol="0" anchor="t"/>
          <a:lstStyle/>
          <a:p>
            <a:pPr marL="0" indent="0" algn="r" rtl="1">
              <a:lnSpc>
                <a:spcPts val="2500"/>
              </a:lnSpc>
              <a:buNone/>
            </a:pPr>
            <a:r>
              <a:rPr lang="en-US" sz="1550" dirty="0">
                <a:solidFill>
                  <a:schemeClr val="bg1"/>
                </a:solidFill>
                <a:latin typeface="Inter" pitchFamily="34" charset="0"/>
                <a:ea typeface="Inter" pitchFamily="34" charset="-122"/>
                <a:cs typeface="B Nazanin" panose="00000400000000000000" pitchFamily="2" charset="-78"/>
              </a:rPr>
              <a:t>در دهه ۱۹۸۰ میلادی، جهان در اوج جنگ سرد قرار داشت و دو ابرقدرت شوروی و آمریکا در رقابتی تمام‌عیار برای گسترش نفوذ خود در نقاط استراتژیک جهان بودند. انقلاب اسلامی ایران در سال ۱۳۵۷ معادلات منطقه‌ای را به هم ریخته بود.</a:t>
            </a:r>
            <a:endParaRPr lang="en-US" sz="1550" dirty="0">
              <a:solidFill>
                <a:schemeClr val="bg1"/>
              </a:solidFill>
              <a:cs typeface="B Nazanin" panose="00000400000000000000" pitchFamily="2" charset="-78"/>
            </a:endParaRPr>
          </a:p>
        </p:txBody>
      </p:sp>
      <p:sp>
        <p:nvSpPr>
          <p:cNvPr id="54" name="Text 3">
            <a:extLst>
              <a:ext uri="{FF2B5EF4-FFF2-40B4-BE49-F238E27FC236}">
                <a16:creationId xmlns:a16="http://schemas.microsoft.com/office/drawing/2014/main" id="{548C16D0-483A-DF04-A939-FC382262ECDD}"/>
              </a:ext>
            </a:extLst>
          </p:cNvPr>
          <p:cNvSpPr/>
          <p:nvPr/>
        </p:nvSpPr>
        <p:spPr>
          <a:xfrm>
            <a:off x="3521198" y="3681332"/>
            <a:ext cx="3214882" cy="1270159"/>
          </a:xfrm>
          <a:prstGeom prst="rect">
            <a:avLst/>
          </a:prstGeom>
          <a:noFill/>
          <a:ln/>
        </p:spPr>
        <p:txBody>
          <a:bodyPr wrap="square" lIns="0" tIns="0" rIns="0" bIns="0" rtlCol="0" anchor="t"/>
          <a:lstStyle/>
          <a:p>
            <a:pPr marL="0" indent="0" algn="r" rtl="1">
              <a:lnSpc>
                <a:spcPts val="2500"/>
              </a:lnSpc>
              <a:buNone/>
            </a:pPr>
            <a:r>
              <a:rPr lang="en-US" sz="1550" dirty="0">
                <a:solidFill>
                  <a:schemeClr val="bg1"/>
                </a:solidFill>
                <a:latin typeface="Inter" pitchFamily="34" charset="0"/>
                <a:ea typeface="Inter" pitchFamily="34" charset="-122"/>
                <a:cs typeface="B Nazanin" panose="00000400000000000000" pitchFamily="2" charset="-78"/>
              </a:rPr>
              <a:t>خلیج فارس با منابع عظیم نفتی و موقعیت ژئوپلیتیکی حساس، همواره در کانون توجه قدرت‌های بزرگ بود. سقوط رژیم پهلوی و روی کار آمدن نظام جمهوری اسلامی، نگرانی‌های جدی را در میان ابرقدرت‌ها و متحدان منطقه‌ای آن‌ها ایجاد کرد.</a:t>
            </a:r>
            <a:endParaRPr lang="en-US" sz="1550" dirty="0">
              <a:solidFill>
                <a:schemeClr val="bg1"/>
              </a:solidFill>
              <a:cs typeface="B Nazanin" panose="00000400000000000000" pitchFamily="2" charset="-78"/>
            </a:endParaRPr>
          </a:p>
        </p:txBody>
      </p:sp>
      <p:sp>
        <p:nvSpPr>
          <p:cNvPr id="55" name="Text 5">
            <a:extLst>
              <a:ext uri="{FF2B5EF4-FFF2-40B4-BE49-F238E27FC236}">
                <a16:creationId xmlns:a16="http://schemas.microsoft.com/office/drawing/2014/main" id="{3FA192B6-9C6C-611B-07A7-08FA3C9AB18B}"/>
              </a:ext>
            </a:extLst>
          </p:cNvPr>
          <p:cNvSpPr/>
          <p:nvPr/>
        </p:nvSpPr>
        <p:spPr>
          <a:xfrm>
            <a:off x="7233920" y="2174488"/>
            <a:ext cx="4495046" cy="1270159"/>
          </a:xfrm>
          <a:prstGeom prst="rect">
            <a:avLst/>
          </a:prstGeom>
          <a:noFill/>
          <a:ln/>
        </p:spPr>
        <p:txBody>
          <a:bodyPr wrap="square" lIns="0" tIns="0" rIns="0" bIns="0" rtlCol="0" anchor="t"/>
          <a:lstStyle/>
          <a:p>
            <a:pPr marL="0" indent="0" algn="r" rtl="1">
              <a:lnSpc>
                <a:spcPts val="2500"/>
              </a:lnSpc>
              <a:buNone/>
            </a:pPr>
            <a:r>
              <a:rPr lang="en-US" sz="1550" dirty="0">
                <a:solidFill>
                  <a:schemeClr val="bg1"/>
                </a:solidFill>
                <a:latin typeface="Inter" pitchFamily="34" charset="0"/>
                <a:ea typeface="Inter" pitchFamily="34" charset="-122"/>
                <a:cs typeface="B Nazanin" panose="00000400000000000000" pitchFamily="2" charset="-78"/>
              </a:rPr>
              <a:t>ابرقدرت‌ها دلایل متعددی برای دخالت در جنگ داشتند. آمریکا که متحد اصلی ایران در دوران پهلوی بود، پس از انقلاب و تسخیر سفارت، خواهان تضعیف نظام جدید بود. شوروی نیز نگران گسترش اسلام‌گرایی به جمهوری‌های آسیای میانه خود بود.</a:t>
            </a:r>
            <a:endParaRPr lang="en-US" sz="1550" dirty="0">
              <a:solidFill>
                <a:schemeClr val="bg1"/>
              </a:solidFill>
              <a:cs typeface="B Nazanin" panose="00000400000000000000" pitchFamily="2" charset="-78"/>
            </a:endParaRPr>
          </a:p>
        </p:txBody>
      </p:sp>
      <p:sp>
        <p:nvSpPr>
          <p:cNvPr id="56" name="Text 4">
            <a:extLst>
              <a:ext uri="{FF2B5EF4-FFF2-40B4-BE49-F238E27FC236}">
                <a16:creationId xmlns:a16="http://schemas.microsoft.com/office/drawing/2014/main" id="{13E5DA19-1A77-6A03-6FF9-5E61074CEA85}"/>
              </a:ext>
            </a:extLst>
          </p:cNvPr>
          <p:cNvSpPr/>
          <p:nvPr/>
        </p:nvSpPr>
        <p:spPr>
          <a:xfrm>
            <a:off x="8266232" y="1406965"/>
            <a:ext cx="2977039" cy="372070"/>
          </a:xfrm>
          <a:prstGeom prst="rect">
            <a:avLst/>
          </a:prstGeom>
          <a:noFill/>
          <a:ln/>
        </p:spPr>
        <p:txBody>
          <a:bodyPr wrap="none" lIns="0" tIns="0" rIns="0" bIns="0" rtlCol="0" anchor="t"/>
          <a:lstStyle/>
          <a:p>
            <a:pPr marL="0" indent="0" algn="r" rtl="1">
              <a:lnSpc>
                <a:spcPts val="2900"/>
              </a:lnSpc>
              <a:buNone/>
            </a:pPr>
            <a:r>
              <a:rPr lang="en-US" sz="2300" b="1" dirty="0">
                <a:solidFill>
                  <a:schemeClr val="bg1"/>
                </a:solidFill>
                <a:latin typeface="Inter Bold" pitchFamily="34" charset="0"/>
                <a:ea typeface="Inter Bold" pitchFamily="34" charset="-122"/>
                <a:cs typeface="B Nazanin" panose="00000400000000000000" pitchFamily="2" charset="-78"/>
              </a:rPr>
              <a:t>انگیزه‌های استراتژیک</a:t>
            </a:r>
            <a:endParaRPr lang="en-US" sz="2300" dirty="0">
              <a:solidFill>
                <a:schemeClr val="bg1"/>
              </a:solidFill>
              <a:cs typeface="B Nazanin" panose="00000400000000000000" pitchFamily="2" charset="-78"/>
            </a:endParaRPr>
          </a:p>
        </p:txBody>
      </p:sp>
      <p:sp>
        <p:nvSpPr>
          <p:cNvPr id="57" name="Text 6">
            <a:extLst>
              <a:ext uri="{FF2B5EF4-FFF2-40B4-BE49-F238E27FC236}">
                <a16:creationId xmlns:a16="http://schemas.microsoft.com/office/drawing/2014/main" id="{6A08E443-3A2D-55AA-C9A1-EBF90FBA0B51}"/>
              </a:ext>
            </a:extLst>
          </p:cNvPr>
          <p:cNvSpPr/>
          <p:nvPr/>
        </p:nvSpPr>
        <p:spPr>
          <a:xfrm>
            <a:off x="7696954" y="3840101"/>
            <a:ext cx="4215289" cy="952619"/>
          </a:xfrm>
          <a:prstGeom prst="rect">
            <a:avLst/>
          </a:prstGeom>
          <a:noFill/>
          <a:ln/>
        </p:spPr>
        <p:txBody>
          <a:bodyPr wrap="square" lIns="0" tIns="0" rIns="0" bIns="0" rtlCol="0" anchor="t"/>
          <a:lstStyle/>
          <a:p>
            <a:pPr marL="0" indent="0" algn="r" rtl="1">
              <a:lnSpc>
                <a:spcPts val="2500"/>
              </a:lnSpc>
              <a:buNone/>
            </a:pPr>
            <a:r>
              <a:rPr lang="en-US" sz="1550" dirty="0">
                <a:solidFill>
                  <a:schemeClr val="bg1"/>
                </a:solidFill>
                <a:latin typeface="Inter" pitchFamily="34" charset="0"/>
                <a:ea typeface="Inter" pitchFamily="34" charset="-122"/>
                <a:cs typeface="B Nazanin" panose="00000400000000000000" pitchFamily="2" charset="-78"/>
              </a:rPr>
              <a:t>اروپای غربی به شدت وابسته به نفت خاورمیانه بود و هرگونه بی‌ثباتی در منطقه می‌توانست امنیت انرژی آن‌ها را تهدید کند. این کشورها در عین حال به دنبال بازارهای سودآور برای فروش تسلیحات خود بودند.</a:t>
            </a:r>
            <a:endParaRPr lang="en-US" sz="1550" dirty="0">
              <a:solidFill>
                <a:schemeClr val="bg1"/>
              </a:solidFill>
              <a:cs typeface="B Nazanin" panose="00000400000000000000" pitchFamily="2" charset="-78"/>
            </a:endParaRPr>
          </a:p>
        </p:txBody>
      </p:sp>
      <p:grpSp>
        <p:nvGrpSpPr>
          <p:cNvPr id="68" name="Group 67">
            <a:extLst>
              <a:ext uri="{FF2B5EF4-FFF2-40B4-BE49-F238E27FC236}">
                <a16:creationId xmlns:a16="http://schemas.microsoft.com/office/drawing/2014/main" id="{1C1A6B2E-DE1A-A46A-D29E-96ABB6A82FDB}"/>
              </a:ext>
            </a:extLst>
          </p:cNvPr>
          <p:cNvGrpSpPr/>
          <p:nvPr/>
        </p:nvGrpSpPr>
        <p:grpSpPr>
          <a:xfrm>
            <a:off x="4541520" y="5424656"/>
            <a:ext cx="7533920" cy="952619"/>
            <a:chOff x="793909" y="5780246"/>
            <a:chExt cx="13042702" cy="1158716"/>
          </a:xfrm>
        </p:grpSpPr>
        <p:sp>
          <p:nvSpPr>
            <p:cNvPr id="58" name="Shape 7">
              <a:extLst>
                <a:ext uri="{FF2B5EF4-FFF2-40B4-BE49-F238E27FC236}">
                  <a16:creationId xmlns:a16="http://schemas.microsoft.com/office/drawing/2014/main" id="{FE2C38AC-F99F-F8A0-1A3C-21BAB45F3F2E}"/>
                </a:ext>
              </a:extLst>
            </p:cNvPr>
            <p:cNvSpPr/>
            <p:nvPr/>
          </p:nvSpPr>
          <p:spPr>
            <a:xfrm>
              <a:off x="9621322" y="5780246"/>
              <a:ext cx="4215289" cy="1158716"/>
            </a:xfrm>
            <a:prstGeom prst="roundRect">
              <a:avLst>
                <a:gd name="adj" fmla="val 7194"/>
              </a:avLst>
            </a:prstGeom>
            <a:solidFill>
              <a:srgbClr val="DADBF1"/>
            </a:solidFill>
            <a:ln w="7620">
              <a:solidFill>
                <a:srgbClr val="C0C1D7"/>
              </a:solidFill>
              <a:prstDash val="solid"/>
            </a:ln>
          </p:spPr>
        </p:sp>
        <p:grpSp>
          <p:nvGrpSpPr>
            <p:cNvPr id="67" name="Group 66">
              <a:extLst>
                <a:ext uri="{FF2B5EF4-FFF2-40B4-BE49-F238E27FC236}">
                  <a16:creationId xmlns:a16="http://schemas.microsoft.com/office/drawing/2014/main" id="{8EB2C755-A3FD-8D83-B931-ACC3D2335009}"/>
                </a:ext>
              </a:extLst>
            </p:cNvPr>
            <p:cNvGrpSpPr/>
            <p:nvPr/>
          </p:nvGrpSpPr>
          <p:grpSpPr>
            <a:xfrm>
              <a:off x="793909" y="5780246"/>
              <a:ext cx="12836724" cy="1158716"/>
              <a:chOff x="793909" y="5780246"/>
              <a:chExt cx="12836724" cy="1158716"/>
            </a:xfrm>
          </p:grpSpPr>
          <p:sp>
            <p:nvSpPr>
              <p:cNvPr id="59" name="Text 8">
                <a:extLst>
                  <a:ext uri="{FF2B5EF4-FFF2-40B4-BE49-F238E27FC236}">
                    <a16:creationId xmlns:a16="http://schemas.microsoft.com/office/drawing/2014/main" id="{26EBBD8A-2D8D-5E34-2621-50D97E7EC649}"/>
                  </a:ext>
                </a:extLst>
              </p:cNvPr>
              <p:cNvSpPr/>
              <p:nvPr/>
            </p:nvSpPr>
            <p:spPr>
              <a:xfrm>
                <a:off x="11149727" y="5986224"/>
                <a:ext cx="2480905" cy="310158"/>
              </a:xfrm>
              <a:prstGeom prst="rect">
                <a:avLst/>
              </a:prstGeom>
              <a:noFill/>
              <a:ln/>
            </p:spPr>
            <p:txBody>
              <a:bodyPr wrap="none" lIns="0" tIns="0" rIns="0" bIns="0" rtlCol="0" anchor="t"/>
              <a:lstStyle/>
              <a:p>
                <a:pPr marL="0" indent="0" algn="r" rtl="1">
                  <a:lnSpc>
                    <a:spcPts val="2400"/>
                  </a:lnSpc>
                  <a:buNone/>
                </a:pPr>
                <a:r>
                  <a:rPr lang="en-US" sz="1950" b="1" dirty="0">
                    <a:latin typeface="Inter Bold" pitchFamily="34" charset="0"/>
                    <a:ea typeface="Inter Bold" pitchFamily="34" charset="-122"/>
                    <a:cs typeface="B Nazanin" panose="00000400000000000000" pitchFamily="2" charset="-78"/>
                  </a:rPr>
                  <a:t>جنگ سرد</a:t>
                </a:r>
                <a:endParaRPr lang="en-US" sz="1950" dirty="0">
                  <a:cs typeface="B Nazanin" panose="00000400000000000000" pitchFamily="2" charset="-78"/>
                </a:endParaRPr>
              </a:p>
            </p:txBody>
          </p:sp>
          <p:sp>
            <p:nvSpPr>
              <p:cNvPr id="60" name="Text 9">
                <a:extLst>
                  <a:ext uri="{FF2B5EF4-FFF2-40B4-BE49-F238E27FC236}">
                    <a16:creationId xmlns:a16="http://schemas.microsoft.com/office/drawing/2014/main" id="{5AFA9014-D4F6-DC47-6049-6B168CC81364}"/>
                  </a:ext>
                </a:extLst>
              </p:cNvPr>
              <p:cNvSpPr/>
              <p:nvPr/>
            </p:nvSpPr>
            <p:spPr>
              <a:xfrm>
                <a:off x="9827300" y="6415445"/>
                <a:ext cx="3803333" cy="317540"/>
              </a:xfrm>
              <a:prstGeom prst="rect">
                <a:avLst/>
              </a:prstGeom>
              <a:noFill/>
              <a:ln/>
            </p:spPr>
            <p:txBody>
              <a:bodyPr wrap="none" lIns="0" tIns="0" rIns="0" bIns="0" rtlCol="0" anchor="t"/>
              <a:lstStyle/>
              <a:p>
                <a:pPr marL="0" indent="0" algn="r" rtl="1">
                  <a:lnSpc>
                    <a:spcPts val="2500"/>
                  </a:lnSpc>
                  <a:buNone/>
                </a:pPr>
                <a:r>
                  <a:rPr lang="en-US" sz="1550" dirty="0">
                    <a:latin typeface="Inter" pitchFamily="34" charset="0"/>
                    <a:ea typeface="Inter" pitchFamily="34" charset="-122"/>
                    <a:cs typeface="B Nazanin" panose="00000400000000000000" pitchFamily="2" charset="-78"/>
                  </a:rPr>
                  <a:t>رقابت شرق و غرب برای نفوذ جهانی</a:t>
                </a:r>
                <a:endParaRPr lang="en-US" sz="1550" dirty="0">
                  <a:cs typeface="B Nazanin" panose="00000400000000000000" pitchFamily="2" charset="-78"/>
                </a:endParaRPr>
              </a:p>
            </p:txBody>
          </p:sp>
          <p:sp>
            <p:nvSpPr>
              <p:cNvPr id="61" name="Shape 10">
                <a:extLst>
                  <a:ext uri="{FF2B5EF4-FFF2-40B4-BE49-F238E27FC236}">
                    <a16:creationId xmlns:a16="http://schemas.microsoft.com/office/drawing/2014/main" id="{C2A7050B-FD3A-02EB-7D7A-458BF1310046}"/>
                  </a:ext>
                </a:extLst>
              </p:cNvPr>
              <p:cNvSpPr/>
              <p:nvPr/>
            </p:nvSpPr>
            <p:spPr>
              <a:xfrm>
                <a:off x="5207556" y="5780246"/>
                <a:ext cx="4215408" cy="1158716"/>
              </a:xfrm>
              <a:prstGeom prst="roundRect">
                <a:avLst>
                  <a:gd name="adj" fmla="val 7194"/>
                </a:avLst>
              </a:prstGeom>
              <a:solidFill>
                <a:srgbClr val="DADBF1"/>
              </a:solidFill>
              <a:ln w="7620">
                <a:solidFill>
                  <a:srgbClr val="C0C1D7"/>
                </a:solidFill>
                <a:prstDash val="solid"/>
              </a:ln>
            </p:spPr>
          </p:sp>
          <p:sp>
            <p:nvSpPr>
              <p:cNvPr id="62" name="Text 11">
                <a:extLst>
                  <a:ext uri="{FF2B5EF4-FFF2-40B4-BE49-F238E27FC236}">
                    <a16:creationId xmlns:a16="http://schemas.microsoft.com/office/drawing/2014/main" id="{863C0DD8-188F-77FA-BD7C-9A5B242DE84D}"/>
                  </a:ext>
                </a:extLst>
              </p:cNvPr>
              <p:cNvSpPr/>
              <p:nvPr/>
            </p:nvSpPr>
            <p:spPr>
              <a:xfrm>
                <a:off x="6736080" y="5986224"/>
                <a:ext cx="2480905" cy="310158"/>
              </a:xfrm>
              <a:prstGeom prst="rect">
                <a:avLst/>
              </a:prstGeom>
              <a:noFill/>
              <a:ln/>
            </p:spPr>
            <p:txBody>
              <a:bodyPr wrap="none" lIns="0" tIns="0" rIns="0" bIns="0" rtlCol="0" anchor="t"/>
              <a:lstStyle/>
              <a:p>
                <a:pPr marL="0" indent="0" algn="r" rtl="1">
                  <a:lnSpc>
                    <a:spcPts val="2400"/>
                  </a:lnSpc>
                  <a:buNone/>
                </a:pPr>
                <a:r>
                  <a:rPr lang="en-US" sz="1950" b="1" dirty="0">
                    <a:latin typeface="Inter Bold" pitchFamily="34" charset="0"/>
                    <a:ea typeface="Inter Bold" pitchFamily="34" charset="-122"/>
                    <a:cs typeface="B Nazanin" panose="00000400000000000000" pitchFamily="2" charset="-78"/>
                  </a:rPr>
                  <a:t>منابع نفتی</a:t>
                </a:r>
                <a:endParaRPr lang="en-US" sz="1950" dirty="0">
                  <a:cs typeface="B Nazanin" panose="00000400000000000000" pitchFamily="2" charset="-78"/>
                </a:endParaRPr>
              </a:p>
            </p:txBody>
          </p:sp>
          <p:sp>
            <p:nvSpPr>
              <p:cNvPr id="63" name="Text 12">
                <a:extLst>
                  <a:ext uri="{FF2B5EF4-FFF2-40B4-BE49-F238E27FC236}">
                    <a16:creationId xmlns:a16="http://schemas.microsoft.com/office/drawing/2014/main" id="{EA5CFA88-0392-FD26-2FF3-D8A9FDAF8AF6}"/>
                  </a:ext>
                </a:extLst>
              </p:cNvPr>
              <p:cNvSpPr/>
              <p:nvPr/>
            </p:nvSpPr>
            <p:spPr>
              <a:xfrm>
                <a:off x="5413534" y="6415445"/>
                <a:ext cx="3803452" cy="317540"/>
              </a:xfrm>
              <a:prstGeom prst="rect">
                <a:avLst/>
              </a:prstGeom>
              <a:noFill/>
              <a:ln/>
            </p:spPr>
            <p:txBody>
              <a:bodyPr wrap="none" lIns="0" tIns="0" rIns="0" bIns="0" rtlCol="0" anchor="t"/>
              <a:lstStyle/>
              <a:p>
                <a:pPr marL="0" indent="0" algn="r" rtl="1">
                  <a:lnSpc>
                    <a:spcPts val="2500"/>
                  </a:lnSpc>
                  <a:buNone/>
                </a:pPr>
                <a:r>
                  <a:rPr lang="en-US" sz="1550" dirty="0">
                    <a:latin typeface="Inter" pitchFamily="34" charset="0"/>
                    <a:ea typeface="Inter" pitchFamily="34" charset="-122"/>
                    <a:cs typeface="B Nazanin" panose="00000400000000000000" pitchFamily="2" charset="-78"/>
                  </a:rPr>
                  <a:t>اهمیت استراتژیک خلیج فارس</a:t>
                </a:r>
                <a:endParaRPr lang="en-US" sz="1550" dirty="0">
                  <a:cs typeface="B Nazanin" panose="00000400000000000000" pitchFamily="2" charset="-78"/>
                </a:endParaRPr>
              </a:p>
            </p:txBody>
          </p:sp>
          <p:sp>
            <p:nvSpPr>
              <p:cNvPr id="64" name="Shape 13">
                <a:extLst>
                  <a:ext uri="{FF2B5EF4-FFF2-40B4-BE49-F238E27FC236}">
                    <a16:creationId xmlns:a16="http://schemas.microsoft.com/office/drawing/2014/main" id="{5ED1E3A7-1D4C-16C3-789F-BFF58C642617}"/>
                  </a:ext>
                </a:extLst>
              </p:cNvPr>
              <p:cNvSpPr/>
              <p:nvPr/>
            </p:nvSpPr>
            <p:spPr>
              <a:xfrm>
                <a:off x="793909" y="5780246"/>
                <a:ext cx="4215289" cy="1158716"/>
              </a:xfrm>
              <a:prstGeom prst="roundRect">
                <a:avLst>
                  <a:gd name="adj" fmla="val 7194"/>
                </a:avLst>
              </a:prstGeom>
              <a:solidFill>
                <a:srgbClr val="DADBF1"/>
              </a:solidFill>
              <a:ln w="7620">
                <a:solidFill>
                  <a:srgbClr val="C0C1D7"/>
                </a:solidFill>
                <a:prstDash val="solid"/>
              </a:ln>
            </p:spPr>
          </p:sp>
          <p:sp>
            <p:nvSpPr>
              <p:cNvPr id="65" name="Text 14">
                <a:extLst>
                  <a:ext uri="{FF2B5EF4-FFF2-40B4-BE49-F238E27FC236}">
                    <a16:creationId xmlns:a16="http://schemas.microsoft.com/office/drawing/2014/main" id="{B4538350-E410-9458-5B18-465FB2DE58B3}"/>
                  </a:ext>
                </a:extLst>
              </p:cNvPr>
              <p:cNvSpPr/>
              <p:nvPr/>
            </p:nvSpPr>
            <p:spPr>
              <a:xfrm>
                <a:off x="2322314" y="5986224"/>
                <a:ext cx="2480905" cy="310158"/>
              </a:xfrm>
              <a:prstGeom prst="rect">
                <a:avLst/>
              </a:prstGeom>
              <a:noFill/>
              <a:ln/>
            </p:spPr>
            <p:txBody>
              <a:bodyPr wrap="none" lIns="0" tIns="0" rIns="0" bIns="0" rtlCol="0" anchor="t"/>
              <a:lstStyle/>
              <a:p>
                <a:pPr marL="0" indent="0" algn="r" rtl="1">
                  <a:lnSpc>
                    <a:spcPts val="2400"/>
                  </a:lnSpc>
                  <a:buNone/>
                </a:pPr>
                <a:r>
                  <a:rPr lang="en-US" sz="1950" b="1" dirty="0">
                    <a:latin typeface="Inter Bold" pitchFamily="34" charset="0"/>
                    <a:ea typeface="Inter Bold" pitchFamily="34" charset="-122"/>
                    <a:cs typeface="B Nazanin" panose="00000400000000000000" pitchFamily="2" charset="-78"/>
                  </a:rPr>
                  <a:t>انقلاب اسلامی</a:t>
                </a:r>
                <a:endParaRPr lang="en-US" sz="1950" dirty="0">
                  <a:cs typeface="B Nazanin" panose="00000400000000000000" pitchFamily="2" charset="-78"/>
                </a:endParaRPr>
              </a:p>
            </p:txBody>
          </p:sp>
          <p:sp>
            <p:nvSpPr>
              <p:cNvPr id="66" name="Text 15">
                <a:extLst>
                  <a:ext uri="{FF2B5EF4-FFF2-40B4-BE49-F238E27FC236}">
                    <a16:creationId xmlns:a16="http://schemas.microsoft.com/office/drawing/2014/main" id="{B76E6215-7128-E196-1DD9-A60587B6C0C8}"/>
                  </a:ext>
                </a:extLst>
              </p:cNvPr>
              <p:cNvSpPr/>
              <p:nvPr/>
            </p:nvSpPr>
            <p:spPr>
              <a:xfrm>
                <a:off x="999887" y="6415445"/>
                <a:ext cx="3803333" cy="317540"/>
              </a:xfrm>
              <a:prstGeom prst="rect">
                <a:avLst/>
              </a:prstGeom>
              <a:noFill/>
              <a:ln/>
            </p:spPr>
            <p:txBody>
              <a:bodyPr wrap="none" lIns="0" tIns="0" rIns="0" bIns="0" rtlCol="0" anchor="t"/>
              <a:lstStyle/>
              <a:p>
                <a:pPr marL="0" indent="0" algn="r" rtl="1">
                  <a:lnSpc>
                    <a:spcPts val="2500"/>
                  </a:lnSpc>
                  <a:buNone/>
                </a:pPr>
                <a:r>
                  <a:rPr lang="en-US" sz="1550" dirty="0">
                    <a:latin typeface="Inter" pitchFamily="34" charset="0"/>
                    <a:ea typeface="Inter" pitchFamily="34" charset="-122"/>
                    <a:cs typeface="B Nazanin" panose="00000400000000000000" pitchFamily="2" charset="-78"/>
                  </a:rPr>
                  <a:t>تغییر معادلات منطقه‌ای</a:t>
                </a:r>
                <a:endParaRPr lang="en-US" sz="1550" dirty="0">
                  <a:cs typeface="B Nazanin" panose="00000400000000000000" pitchFamily="2" charset="-78"/>
                </a:endParaRPr>
              </a:p>
            </p:txBody>
          </p:sp>
        </p:grpSp>
      </p:grpSp>
      <p:pic>
        <p:nvPicPr>
          <p:cNvPr id="69" name="Graphic 68" descr="Earth globe: Americas with solid fill">
            <a:extLst>
              <a:ext uri="{FF2B5EF4-FFF2-40B4-BE49-F238E27FC236}">
                <a16:creationId xmlns:a16="http://schemas.microsoft.com/office/drawing/2014/main" id="{25DE4030-9035-0456-E8CB-3A0D1C9CF47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58435" y="2597193"/>
            <a:ext cx="914400" cy="914400"/>
          </a:xfrm>
          <a:prstGeom prst="rect">
            <a:avLst/>
          </a:prstGeom>
        </p:spPr>
      </p:pic>
    </p:spTree>
    <p:extLst>
      <p:ext uri="{BB962C8B-B14F-4D97-AF65-F5344CB8AC3E}">
        <p14:creationId xmlns:p14="http://schemas.microsoft.com/office/powerpoint/2010/main" val="2669256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9000" b="-109000"/>
          </a:stretch>
        </a:blipFill>
        <a:effectLst/>
      </p:bgPr>
    </p:bg>
    <p:spTree>
      <p:nvGrpSpPr>
        <p:cNvPr id="1" name="">
          <a:extLst>
            <a:ext uri="{FF2B5EF4-FFF2-40B4-BE49-F238E27FC236}">
              <a16:creationId xmlns:a16="http://schemas.microsoft.com/office/drawing/2014/main" id="{7A21D1B7-FB07-D6BC-FC60-018FAAB721F2}"/>
            </a:ext>
          </a:extLst>
        </p:cNvPr>
        <p:cNvGrpSpPr/>
        <p:nvPr/>
      </p:nvGrpSpPr>
      <p:grpSpPr>
        <a:xfrm>
          <a:off x="0" y="0"/>
          <a:ext cx="0" cy="0"/>
          <a:chOff x="0" y="0"/>
          <a:chExt cx="0" cy="0"/>
        </a:xfrm>
      </p:grpSpPr>
      <p:grpSp>
        <p:nvGrpSpPr>
          <p:cNvPr id="44" name="Group 43">
            <a:extLst>
              <a:ext uri="{FF2B5EF4-FFF2-40B4-BE49-F238E27FC236}">
                <a16:creationId xmlns:a16="http://schemas.microsoft.com/office/drawing/2014/main" id="{FC0DA340-049A-09E6-3A0B-5AF21DE16D50}"/>
              </a:ext>
            </a:extLst>
          </p:cNvPr>
          <p:cNvGrpSpPr/>
          <p:nvPr/>
        </p:nvGrpSpPr>
        <p:grpSpPr>
          <a:xfrm>
            <a:off x="111211" y="-1194941"/>
            <a:ext cx="4590873" cy="15855333"/>
            <a:chOff x="-693173" y="-4054166"/>
            <a:chExt cx="4590873" cy="15855333"/>
          </a:xfrm>
        </p:grpSpPr>
        <p:sp>
          <p:nvSpPr>
            <p:cNvPr id="16" name="Hexagon 15">
              <a:extLst>
                <a:ext uri="{FF2B5EF4-FFF2-40B4-BE49-F238E27FC236}">
                  <a16:creationId xmlns:a16="http://schemas.microsoft.com/office/drawing/2014/main" id="{A6895F28-74F9-831B-7C84-0C7725E79233}"/>
                </a:ext>
              </a:extLst>
            </p:cNvPr>
            <p:cNvSpPr/>
            <p:nvPr/>
          </p:nvSpPr>
          <p:spPr>
            <a:xfrm>
              <a:off x="2620293" y="493579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grpSp>
          <p:nvGrpSpPr>
            <p:cNvPr id="43" name="Group 42">
              <a:extLst>
                <a:ext uri="{FF2B5EF4-FFF2-40B4-BE49-F238E27FC236}">
                  <a16:creationId xmlns:a16="http://schemas.microsoft.com/office/drawing/2014/main" id="{94DA3C91-119E-6945-53DC-97D97B42403D}"/>
                </a:ext>
              </a:extLst>
            </p:cNvPr>
            <p:cNvGrpSpPr/>
            <p:nvPr/>
          </p:nvGrpSpPr>
          <p:grpSpPr>
            <a:xfrm>
              <a:off x="-693173" y="-3503559"/>
              <a:ext cx="4300821" cy="15304726"/>
              <a:chOff x="-693173" y="-3503559"/>
              <a:chExt cx="4300821" cy="15304726"/>
            </a:xfrm>
          </p:grpSpPr>
          <p:sp>
            <p:nvSpPr>
              <p:cNvPr id="4" name="Hexagon 3">
                <a:extLst>
                  <a:ext uri="{FF2B5EF4-FFF2-40B4-BE49-F238E27FC236}">
                    <a16:creationId xmlns:a16="http://schemas.microsoft.com/office/drawing/2014/main" id="{1CD23E85-0A85-0BAC-5940-77420DBABA75}"/>
                  </a:ext>
                </a:extLst>
              </p:cNvPr>
              <p:cNvSpPr/>
              <p:nvPr/>
            </p:nvSpPr>
            <p:spPr>
              <a:xfrm>
                <a:off x="314632" y="218276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6" name="Hexagon 5">
                <a:extLst>
                  <a:ext uri="{FF2B5EF4-FFF2-40B4-BE49-F238E27FC236}">
                    <a16:creationId xmlns:a16="http://schemas.microsoft.com/office/drawing/2014/main" id="{56D0C637-7D6C-B35D-944A-46CE46B01C49}"/>
                  </a:ext>
                </a:extLst>
              </p:cNvPr>
              <p:cNvSpPr/>
              <p:nvPr/>
            </p:nvSpPr>
            <p:spPr>
              <a:xfrm>
                <a:off x="1322438" y="273336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7" name="Hexagon 6">
                <a:extLst>
                  <a:ext uri="{FF2B5EF4-FFF2-40B4-BE49-F238E27FC236}">
                    <a16:creationId xmlns:a16="http://schemas.microsoft.com/office/drawing/2014/main" id="{C1BB1BE4-0461-CC16-4D93-44641F6A58F4}"/>
                  </a:ext>
                </a:extLst>
              </p:cNvPr>
              <p:cNvSpPr/>
              <p:nvPr/>
            </p:nvSpPr>
            <p:spPr>
              <a:xfrm>
                <a:off x="604684" y="3834580"/>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8" name="Hexagon 7">
                <a:extLst>
                  <a:ext uri="{FF2B5EF4-FFF2-40B4-BE49-F238E27FC236}">
                    <a16:creationId xmlns:a16="http://schemas.microsoft.com/office/drawing/2014/main" id="{93BC2AE0-1DED-8F6E-C700-D2F7398A536C}"/>
                  </a:ext>
                </a:extLst>
              </p:cNvPr>
              <p:cNvSpPr/>
              <p:nvPr/>
            </p:nvSpPr>
            <p:spPr>
              <a:xfrm>
                <a:off x="1322437" y="163215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9" name="Hexagon 8">
                <a:extLst>
                  <a:ext uri="{FF2B5EF4-FFF2-40B4-BE49-F238E27FC236}">
                    <a16:creationId xmlns:a16="http://schemas.microsoft.com/office/drawing/2014/main" id="{74B51139-5039-50F9-4DE4-10621FD60B8B}"/>
                  </a:ext>
                </a:extLst>
              </p:cNvPr>
              <p:cNvSpPr/>
              <p:nvPr/>
            </p:nvSpPr>
            <p:spPr>
              <a:xfrm>
                <a:off x="1322436" y="53094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0" name="Hexagon 9">
                <a:extLst>
                  <a:ext uri="{FF2B5EF4-FFF2-40B4-BE49-F238E27FC236}">
                    <a16:creationId xmlns:a16="http://schemas.microsoft.com/office/drawing/2014/main" id="{D5A8AD83-40D6-1581-BD7C-69492ABBA3A4}"/>
                  </a:ext>
                </a:extLst>
              </p:cNvPr>
              <p:cNvSpPr/>
              <p:nvPr/>
            </p:nvSpPr>
            <p:spPr>
              <a:xfrm>
                <a:off x="2330241" y="10815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1" name="Hexagon 10">
                <a:extLst>
                  <a:ext uri="{FF2B5EF4-FFF2-40B4-BE49-F238E27FC236}">
                    <a16:creationId xmlns:a16="http://schemas.microsoft.com/office/drawing/2014/main" id="{E9857D47-D8BC-EBC0-6AE4-8455ED926925}"/>
                  </a:ext>
                </a:extLst>
              </p:cNvPr>
              <p:cNvSpPr/>
              <p:nvPr/>
            </p:nvSpPr>
            <p:spPr>
              <a:xfrm>
                <a:off x="604684" y="60370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2" name="Hexagon 11">
                <a:extLst>
                  <a:ext uri="{FF2B5EF4-FFF2-40B4-BE49-F238E27FC236}">
                    <a16:creationId xmlns:a16="http://schemas.microsoft.com/office/drawing/2014/main" id="{59E69193-2BED-5D19-FFD9-FFCE1B6222DB}"/>
                  </a:ext>
                </a:extLst>
              </p:cNvPr>
              <p:cNvSpPr/>
              <p:nvPr/>
            </p:nvSpPr>
            <p:spPr>
              <a:xfrm>
                <a:off x="1612490" y="65876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3" name="Hexagon 12">
                <a:extLst>
                  <a:ext uri="{FF2B5EF4-FFF2-40B4-BE49-F238E27FC236}">
                    <a16:creationId xmlns:a16="http://schemas.microsoft.com/office/drawing/2014/main" id="{41BAF599-B65D-EBE3-2652-D88A6DD94345}"/>
                  </a:ext>
                </a:extLst>
              </p:cNvPr>
              <p:cNvSpPr/>
              <p:nvPr/>
            </p:nvSpPr>
            <p:spPr>
              <a:xfrm>
                <a:off x="894736" y="768882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4" name="Hexagon 13">
                <a:extLst>
                  <a:ext uri="{FF2B5EF4-FFF2-40B4-BE49-F238E27FC236}">
                    <a16:creationId xmlns:a16="http://schemas.microsoft.com/office/drawing/2014/main" id="{BED74124-61AF-B0DB-445E-80E8B93DBE32}"/>
                  </a:ext>
                </a:extLst>
              </p:cNvPr>
              <p:cNvSpPr/>
              <p:nvPr/>
            </p:nvSpPr>
            <p:spPr>
              <a:xfrm>
                <a:off x="1612489" y="54863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5" name="Hexagon 14">
                <a:extLst>
                  <a:ext uri="{FF2B5EF4-FFF2-40B4-BE49-F238E27FC236}">
                    <a16:creationId xmlns:a16="http://schemas.microsoft.com/office/drawing/2014/main" id="{51C60E5A-FA11-BBAA-B91E-66DB8611DC55}"/>
                  </a:ext>
                </a:extLst>
              </p:cNvPr>
              <p:cNvSpPr/>
              <p:nvPr/>
            </p:nvSpPr>
            <p:spPr>
              <a:xfrm>
                <a:off x="1612488" y="438518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29" name="Hexagon 28">
                <a:extLst>
                  <a:ext uri="{FF2B5EF4-FFF2-40B4-BE49-F238E27FC236}">
                    <a16:creationId xmlns:a16="http://schemas.microsoft.com/office/drawing/2014/main" id="{949E83F4-70B1-EEA6-89B7-0E91CB0648DA}"/>
                  </a:ext>
                </a:extLst>
              </p:cNvPr>
              <p:cNvSpPr/>
              <p:nvPr/>
            </p:nvSpPr>
            <p:spPr>
              <a:xfrm>
                <a:off x="-693173" y="45310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0" name="Hexagon 29">
                <a:extLst>
                  <a:ext uri="{FF2B5EF4-FFF2-40B4-BE49-F238E27FC236}">
                    <a16:creationId xmlns:a16="http://schemas.microsoft.com/office/drawing/2014/main" id="{7D9D48C7-7953-542C-14F8-F353DF383846}"/>
                  </a:ext>
                </a:extLst>
              </p:cNvPr>
              <p:cNvSpPr/>
              <p:nvPr/>
            </p:nvSpPr>
            <p:spPr>
              <a:xfrm>
                <a:off x="314632" y="-975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1" name="Hexagon 30">
                <a:extLst>
                  <a:ext uri="{FF2B5EF4-FFF2-40B4-BE49-F238E27FC236}">
                    <a16:creationId xmlns:a16="http://schemas.microsoft.com/office/drawing/2014/main" id="{983C52B5-3C15-3CD6-5819-98F1F3C17451}"/>
                  </a:ext>
                </a:extLst>
              </p:cNvPr>
              <p:cNvSpPr/>
              <p:nvPr/>
            </p:nvSpPr>
            <p:spPr>
              <a:xfrm>
                <a:off x="314631" y="-119871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2" name="Hexagon 31">
                <a:extLst>
                  <a:ext uri="{FF2B5EF4-FFF2-40B4-BE49-F238E27FC236}">
                    <a16:creationId xmlns:a16="http://schemas.microsoft.com/office/drawing/2014/main" id="{CE6216EF-88A2-0BFE-069A-F738CB445BE0}"/>
                  </a:ext>
                </a:extLst>
              </p:cNvPr>
              <p:cNvSpPr/>
              <p:nvPr/>
            </p:nvSpPr>
            <p:spPr>
              <a:xfrm>
                <a:off x="1322436" y="-648113"/>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3" name="Hexagon 32">
                <a:extLst>
                  <a:ext uri="{FF2B5EF4-FFF2-40B4-BE49-F238E27FC236}">
                    <a16:creationId xmlns:a16="http://schemas.microsoft.com/office/drawing/2014/main" id="{37FCAC15-58A5-00C0-0F36-8A2AB9459099}"/>
                  </a:ext>
                </a:extLst>
              </p:cNvPr>
              <p:cNvSpPr/>
              <p:nvPr/>
            </p:nvSpPr>
            <p:spPr>
              <a:xfrm>
                <a:off x="1981590" y="1069995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4" name="Hexagon 33">
                <a:extLst>
                  <a:ext uri="{FF2B5EF4-FFF2-40B4-BE49-F238E27FC236}">
                    <a16:creationId xmlns:a16="http://schemas.microsoft.com/office/drawing/2014/main" id="{07549047-F75E-763D-431F-29D0D2240D90}"/>
                  </a:ext>
                </a:extLst>
              </p:cNvPr>
              <p:cNvSpPr/>
              <p:nvPr/>
            </p:nvSpPr>
            <p:spPr>
              <a:xfrm>
                <a:off x="1981589" y="955039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5" name="Hexagon 34">
                <a:extLst>
                  <a:ext uri="{FF2B5EF4-FFF2-40B4-BE49-F238E27FC236}">
                    <a16:creationId xmlns:a16="http://schemas.microsoft.com/office/drawing/2014/main" id="{3472ED76-CFC8-5DDC-1D8A-665A9DD857CA}"/>
                  </a:ext>
                </a:extLst>
              </p:cNvPr>
              <p:cNvSpPr/>
              <p:nvPr/>
            </p:nvSpPr>
            <p:spPr>
              <a:xfrm>
                <a:off x="-252788" y="95610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6" name="Hexagon 35">
                <a:extLst>
                  <a:ext uri="{FF2B5EF4-FFF2-40B4-BE49-F238E27FC236}">
                    <a16:creationId xmlns:a16="http://schemas.microsoft.com/office/drawing/2014/main" id="{94E6C5A1-9A52-097C-C066-4B2A99662AF5}"/>
                  </a:ext>
                </a:extLst>
              </p:cNvPr>
              <p:cNvSpPr/>
              <p:nvPr/>
            </p:nvSpPr>
            <p:spPr>
              <a:xfrm>
                <a:off x="894735" y="890515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7" name="Hexagon 36">
                <a:extLst>
                  <a:ext uri="{FF2B5EF4-FFF2-40B4-BE49-F238E27FC236}">
                    <a16:creationId xmlns:a16="http://schemas.microsoft.com/office/drawing/2014/main" id="{079FA83A-F799-AF41-BE14-DC0CDF7DE43B}"/>
                  </a:ext>
                </a:extLst>
              </p:cNvPr>
              <p:cNvSpPr/>
              <p:nvPr/>
            </p:nvSpPr>
            <p:spPr>
              <a:xfrm>
                <a:off x="1981589" y="8354548"/>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8" name="Hexagon 37">
                <a:extLst>
                  <a:ext uri="{FF2B5EF4-FFF2-40B4-BE49-F238E27FC236}">
                    <a16:creationId xmlns:a16="http://schemas.microsoft.com/office/drawing/2014/main" id="{48EA414C-20E3-0B5B-C325-AF3F29078889}"/>
                  </a:ext>
                </a:extLst>
              </p:cNvPr>
              <p:cNvSpPr/>
              <p:nvPr/>
            </p:nvSpPr>
            <p:spPr>
              <a:xfrm>
                <a:off x="1342886" y="-17738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sp>
            <p:nvSpPr>
              <p:cNvPr id="39" name="Hexagon 38">
                <a:extLst>
                  <a:ext uri="{FF2B5EF4-FFF2-40B4-BE49-F238E27FC236}">
                    <a16:creationId xmlns:a16="http://schemas.microsoft.com/office/drawing/2014/main" id="{8A86E8B4-2F38-2A44-357D-3678F525EB88}"/>
                  </a:ext>
                </a:extLst>
              </p:cNvPr>
              <p:cNvSpPr/>
              <p:nvPr/>
            </p:nvSpPr>
            <p:spPr>
              <a:xfrm>
                <a:off x="1342886" y="-28751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40" name="Hexagon 39">
                <a:extLst>
                  <a:ext uri="{FF2B5EF4-FFF2-40B4-BE49-F238E27FC236}">
                    <a16:creationId xmlns:a16="http://schemas.microsoft.com/office/drawing/2014/main" id="{1F3EC864-CC7B-93B5-4DBB-755075C44EC3}"/>
                  </a:ext>
                </a:extLst>
              </p:cNvPr>
              <p:cNvSpPr/>
              <p:nvPr/>
            </p:nvSpPr>
            <p:spPr>
              <a:xfrm>
                <a:off x="-672723" y="-295295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41" name="Hexagon 40">
                <a:extLst>
                  <a:ext uri="{FF2B5EF4-FFF2-40B4-BE49-F238E27FC236}">
                    <a16:creationId xmlns:a16="http://schemas.microsoft.com/office/drawing/2014/main" id="{FB2768B7-7B55-3A17-77F7-4AD772228E51}"/>
                  </a:ext>
                </a:extLst>
              </p:cNvPr>
              <p:cNvSpPr/>
              <p:nvPr/>
            </p:nvSpPr>
            <p:spPr>
              <a:xfrm>
                <a:off x="335082" y="-350355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grpSp>
        <p:sp>
          <p:nvSpPr>
            <p:cNvPr id="42" name="Hexagon 41">
              <a:extLst>
                <a:ext uri="{FF2B5EF4-FFF2-40B4-BE49-F238E27FC236}">
                  <a16:creationId xmlns:a16="http://schemas.microsoft.com/office/drawing/2014/main" id="{40DCEEEA-7E97-61A9-204C-D1D219BCCAC8}"/>
                </a:ext>
              </a:extLst>
            </p:cNvPr>
            <p:cNvSpPr/>
            <p:nvPr/>
          </p:nvSpPr>
          <p:spPr>
            <a:xfrm>
              <a:off x="1342886" y="-405416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grpSp>
      <p:pic>
        <p:nvPicPr>
          <p:cNvPr id="46" name="Graphic 45" descr="Employee badge with solid fill">
            <a:extLst>
              <a:ext uri="{FF2B5EF4-FFF2-40B4-BE49-F238E27FC236}">
                <a16:creationId xmlns:a16="http://schemas.microsoft.com/office/drawing/2014/main" id="{A9CF5A30-E92D-66BE-ABE4-4E9D0F7507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09808" y="-918866"/>
            <a:ext cx="763027" cy="763027"/>
          </a:xfrm>
          <a:prstGeom prst="rect">
            <a:avLst/>
          </a:prstGeom>
        </p:spPr>
      </p:pic>
      <p:pic>
        <p:nvPicPr>
          <p:cNvPr id="52" name="Graphic 51" descr="Bullseye with solid fill">
            <a:extLst>
              <a:ext uri="{FF2B5EF4-FFF2-40B4-BE49-F238E27FC236}">
                <a16:creationId xmlns:a16="http://schemas.microsoft.com/office/drawing/2014/main" id="{31CF7526-66E6-4D54-A3B5-0D1EBB650C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21569" y="85841"/>
            <a:ext cx="914400" cy="914400"/>
          </a:xfrm>
          <a:prstGeom prst="rect">
            <a:avLst/>
          </a:prstGeom>
        </p:spPr>
      </p:pic>
      <p:pic>
        <p:nvPicPr>
          <p:cNvPr id="69" name="Graphic 68" descr="Earth globe: Americas with solid fill">
            <a:extLst>
              <a:ext uri="{FF2B5EF4-FFF2-40B4-BE49-F238E27FC236}">
                <a16:creationId xmlns:a16="http://schemas.microsoft.com/office/drawing/2014/main" id="{AD4C6C28-15D4-1B3D-2802-1B5800F6DF6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324928" y="1221465"/>
            <a:ext cx="914400" cy="914400"/>
          </a:xfrm>
          <a:prstGeom prst="rect">
            <a:avLst/>
          </a:prstGeom>
        </p:spPr>
      </p:pic>
      <p:sp>
        <p:nvSpPr>
          <p:cNvPr id="98" name="Text 0">
            <a:extLst>
              <a:ext uri="{FF2B5EF4-FFF2-40B4-BE49-F238E27FC236}">
                <a16:creationId xmlns:a16="http://schemas.microsoft.com/office/drawing/2014/main" id="{5B11A568-B498-4CC7-FBF4-93E53346B16C}"/>
              </a:ext>
            </a:extLst>
          </p:cNvPr>
          <p:cNvSpPr/>
          <p:nvPr/>
        </p:nvSpPr>
        <p:spPr>
          <a:xfrm>
            <a:off x="4295417" y="198865"/>
            <a:ext cx="6736199" cy="432911"/>
          </a:xfrm>
          <a:prstGeom prst="rect">
            <a:avLst/>
          </a:prstGeom>
          <a:noFill/>
          <a:ln/>
        </p:spPr>
        <p:txBody>
          <a:bodyPr wrap="none" lIns="0" tIns="0" rIns="0" bIns="0" rtlCol="0" anchor="t"/>
          <a:lstStyle/>
          <a:p>
            <a:pPr marL="0" indent="0" algn="r" rtl="1">
              <a:lnSpc>
                <a:spcPts val="3400"/>
              </a:lnSpc>
              <a:buNone/>
            </a:pPr>
            <a:r>
              <a:rPr lang="en-US" sz="2700" b="1" dirty="0">
                <a:solidFill>
                  <a:schemeClr val="bg2"/>
                </a:solidFill>
                <a:latin typeface="Inter Bold" pitchFamily="34" charset="0"/>
                <a:ea typeface="Inter Bold" pitchFamily="34" charset="-122"/>
                <a:cs typeface="B Nazanin" panose="00000400000000000000" pitchFamily="2" charset="-78"/>
              </a:rPr>
              <a:t>ایالات متحده آمریکا: حمایت پنهان و آشکار از عراق</a:t>
            </a:r>
            <a:endParaRPr lang="en-US" sz="2700" dirty="0">
              <a:solidFill>
                <a:schemeClr val="bg2"/>
              </a:solidFill>
              <a:cs typeface="B Nazanin" panose="00000400000000000000" pitchFamily="2" charset="-78"/>
            </a:endParaRPr>
          </a:p>
        </p:txBody>
      </p:sp>
      <p:sp>
        <p:nvSpPr>
          <p:cNvPr id="99" name="Text 1">
            <a:extLst>
              <a:ext uri="{FF2B5EF4-FFF2-40B4-BE49-F238E27FC236}">
                <a16:creationId xmlns:a16="http://schemas.microsoft.com/office/drawing/2014/main" id="{7D8B4439-7068-24DB-7EB3-5D52C54C256B}"/>
              </a:ext>
            </a:extLst>
          </p:cNvPr>
          <p:cNvSpPr/>
          <p:nvPr/>
        </p:nvSpPr>
        <p:spPr>
          <a:xfrm>
            <a:off x="8083094" y="958857"/>
            <a:ext cx="2923222" cy="584027"/>
          </a:xfrm>
          <a:prstGeom prst="rect">
            <a:avLst/>
          </a:prstGeom>
          <a:noFill/>
          <a:ln/>
        </p:spPr>
        <p:txBody>
          <a:bodyPr wrap="none" lIns="0" tIns="0" rIns="0" bIns="0" rtlCol="0" anchor="t"/>
          <a:lstStyle/>
          <a:p>
            <a:pPr marL="0" indent="0" algn="r" rtl="1">
              <a:lnSpc>
                <a:spcPts val="1700"/>
              </a:lnSpc>
              <a:buNone/>
            </a:pPr>
            <a:r>
              <a:rPr lang="en-US" sz="1050" dirty="0">
                <a:solidFill>
                  <a:schemeClr val="bg2"/>
                </a:solidFill>
                <a:latin typeface="Inter" pitchFamily="34" charset="0"/>
                <a:ea typeface="Inter" pitchFamily="34" charset="-122"/>
                <a:cs typeface="B Nazanin" panose="00000400000000000000" pitchFamily="2" charset="-78"/>
              </a:rPr>
              <a:t>ایالات متحده آمریکا از همان روزهای نخست جنگ، نقشی محوری در حمایت از عراق ایفا کرد. این حمایت‌ها طیف گسترده‌ای از </a:t>
            </a:r>
            <a:r>
              <a:rPr lang="en-US" sz="1050" dirty="0" err="1">
                <a:solidFill>
                  <a:schemeClr val="bg2"/>
                </a:solidFill>
                <a:latin typeface="Inter" pitchFamily="34" charset="0"/>
                <a:ea typeface="Inter" pitchFamily="34" charset="-122"/>
                <a:cs typeface="B Nazanin" panose="00000400000000000000" pitchFamily="2" charset="-78"/>
              </a:rPr>
              <a:t>کمک‌های</a:t>
            </a:r>
            <a:r>
              <a:rPr lang="en-US" sz="1050" dirty="0">
                <a:solidFill>
                  <a:schemeClr val="bg2"/>
                </a:solidFill>
                <a:latin typeface="Inter" pitchFamily="34" charset="0"/>
                <a:ea typeface="Inter" pitchFamily="34" charset="-122"/>
                <a:cs typeface="B Nazanin" panose="00000400000000000000" pitchFamily="2" charset="-78"/>
              </a:rPr>
              <a:t> </a:t>
            </a:r>
            <a:r>
              <a:rPr lang="en-US" sz="1050" dirty="0" err="1">
                <a:solidFill>
                  <a:schemeClr val="bg2"/>
                </a:solidFill>
                <a:latin typeface="Inter" pitchFamily="34" charset="0"/>
                <a:ea typeface="Inter" pitchFamily="34" charset="-122"/>
                <a:cs typeface="B Nazanin" panose="00000400000000000000" pitchFamily="2" charset="-78"/>
              </a:rPr>
              <a:t>اطلاعاتی</a:t>
            </a:r>
            <a:endParaRPr lang="en-US" sz="1050" dirty="0">
              <a:solidFill>
                <a:schemeClr val="bg2"/>
              </a:solidFill>
              <a:latin typeface="Inter" pitchFamily="34" charset="0"/>
              <a:ea typeface="Inter" pitchFamily="34" charset="-122"/>
              <a:cs typeface="B Nazanin" panose="00000400000000000000" pitchFamily="2" charset="-78"/>
            </a:endParaRPr>
          </a:p>
          <a:p>
            <a:pPr marL="0" indent="0" algn="r" rtl="1">
              <a:lnSpc>
                <a:spcPts val="1700"/>
              </a:lnSpc>
              <a:buNone/>
            </a:pPr>
            <a:r>
              <a:rPr lang="en-US" sz="1050" dirty="0">
                <a:solidFill>
                  <a:schemeClr val="bg2"/>
                </a:solidFill>
                <a:latin typeface="Inter" pitchFamily="34" charset="0"/>
                <a:ea typeface="Inter" pitchFamily="34" charset="-122"/>
                <a:cs typeface="B Nazanin" panose="00000400000000000000" pitchFamily="2" charset="-78"/>
              </a:rPr>
              <a:t>، مالی، نظامی و دیپلماتیک را شامل می‌شد که هدف نهایی آن تضعیف جمهوری اسلامی ایران </a:t>
            </a:r>
            <a:r>
              <a:rPr lang="en-US" sz="1050" dirty="0" err="1">
                <a:solidFill>
                  <a:schemeClr val="bg2"/>
                </a:solidFill>
                <a:latin typeface="Inter" pitchFamily="34" charset="0"/>
                <a:ea typeface="Inter" pitchFamily="34" charset="-122"/>
                <a:cs typeface="B Nazanin" panose="00000400000000000000" pitchFamily="2" charset="-78"/>
              </a:rPr>
              <a:t>بود</a:t>
            </a:r>
            <a:r>
              <a:rPr lang="en-US" sz="1050" dirty="0">
                <a:solidFill>
                  <a:schemeClr val="bg2"/>
                </a:solidFill>
                <a:latin typeface="Inter" pitchFamily="34" charset="0"/>
                <a:ea typeface="Inter" pitchFamily="34" charset="-122"/>
                <a:cs typeface="B Nazanin" panose="00000400000000000000" pitchFamily="2" charset="-78"/>
              </a:rPr>
              <a:t>.</a:t>
            </a:r>
            <a:endParaRPr lang="en-US" sz="1050" dirty="0">
              <a:solidFill>
                <a:schemeClr val="bg2"/>
              </a:solidFill>
              <a:cs typeface="B Nazanin" panose="00000400000000000000" pitchFamily="2" charset="-78"/>
            </a:endParaRPr>
          </a:p>
        </p:txBody>
      </p:sp>
      <p:sp>
        <p:nvSpPr>
          <p:cNvPr id="100" name="Shape 2">
            <a:extLst>
              <a:ext uri="{FF2B5EF4-FFF2-40B4-BE49-F238E27FC236}">
                <a16:creationId xmlns:a16="http://schemas.microsoft.com/office/drawing/2014/main" id="{B5C44CFF-4E18-62BC-66FC-76F33078D31A}"/>
              </a:ext>
            </a:extLst>
          </p:cNvPr>
          <p:cNvSpPr/>
          <p:nvPr/>
        </p:nvSpPr>
        <p:spPr>
          <a:xfrm>
            <a:off x="7307580" y="1579959"/>
            <a:ext cx="15240" cy="3419118"/>
          </a:xfrm>
          <a:prstGeom prst="roundRect">
            <a:avLst>
              <a:gd name="adj" fmla="val 381755"/>
            </a:avLst>
          </a:prstGeom>
          <a:solidFill>
            <a:srgbClr val="C0C1D7"/>
          </a:solidFill>
          <a:ln/>
        </p:spPr>
      </p:sp>
      <p:sp>
        <p:nvSpPr>
          <p:cNvPr id="101" name="Shape 3">
            <a:extLst>
              <a:ext uri="{FF2B5EF4-FFF2-40B4-BE49-F238E27FC236}">
                <a16:creationId xmlns:a16="http://schemas.microsoft.com/office/drawing/2014/main" id="{212D6035-FCC9-E617-829A-D27B963C288B}"/>
              </a:ext>
            </a:extLst>
          </p:cNvPr>
          <p:cNvSpPr/>
          <p:nvPr/>
        </p:nvSpPr>
        <p:spPr>
          <a:xfrm>
            <a:off x="7455753" y="1728073"/>
            <a:ext cx="415528" cy="15240"/>
          </a:xfrm>
          <a:prstGeom prst="roundRect">
            <a:avLst>
              <a:gd name="adj" fmla="val 381755"/>
            </a:avLst>
          </a:prstGeom>
          <a:solidFill>
            <a:srgbClr val="C0C1D7"/>
          </a:solidFill>
          <a:ln/>
        </p:spPr>
      </p:sp>
      <p:sp>
        <p:nvSpPr>
          <p:cNvPr id="102" name="Shape 4">
            <a:extLst>
              <a:ext uri="{FF2B5EF4-FFF2-40B4-BE49-F238E27FC236}">
                <a16:creationId xmlns:a16="http://schemas.microsoft.com/office/drawing/2014/main" id="{40456720-3F6A-C15B-0F8F-2028C7E3C80E}"/>
              </a:ext>
            </a:extLst>
          </p:cNvPr>
          <p:cNvSpPr/>
          <p:nvPr/>
        </p:nvSpPr>
        <p:spPr>
          <a:xfrm>
            <a:off x="7159407" y="1579959"/>
            <a:ext cx="311587" cy="311587"/>
          </a:xfrm>
          <a:prstGeom prst="roundRect">
            <a:avLst>
              <a:gd name="adj" fmla="val 18672"/>
            </a:avLst>
          </a:prstGeom>
          <a:solidFill>
            <a:srgbClr val="DADBF1"/>
          </a:solidFill>
          <a:ln w="7620">
            <a:solidFill>
              <a:srgbClr val="C0C1D7"/>
            </a:solidFill>
            <a:prstDash val="solid"/>
          </a:ln>
        </p:spPr>
      </p:sp>
      <p:sp>
        <p:nvSpPr>
          <p:cNvPr id="103" name="Text 5">
            <a:extLst>
              <a:ext uri="{FF2B5EF4-FFF2-40B4-BE49-F238E27FC236}">
                <a16:creationId xmlns:a16="http://schemas.microsoft.com/office/drawing/2014/main" id="{13D21B69-A8F1-74B4-C745-E202655EF11E}"/>
              </a:ext>
            </a:extLst>
          </p:cNvPr>
          <p:cNvSpPr/>
          <p:nvPr/>
        </p:nvSpPr>
        <p:spPr>
          <a:xfrm>
            <a:off x="7211258" y="1605855"/>
            <a:ext cx="207764" cy="259675"/>
          </a:xfrm>
          <a:prstGeom prst="rect">
            <a:avLst/>
          </a:prstGeom>
          <a:noFill/>
          <a:ln/>
        </p:spPr>
        <p:txBody>
          <a:bodyPr wrap="none" lIns="0" tIns="0" rIns="0" bIns="0" rtlCol="0" anchor="t"/>
          <a:lstStyle/>
          <a:p>
            <a:pPr marL="0" indent="0" algn="ctr" rtl="1">
              <a:lnSpc>
                <a:spcPts val="1600"/>
              </a:lnSpc>
              <a:buNone/>
            </a:pPr>
            <a:r>
              <a:rPr lang="en-US" sz="1600" b="1" dirty="0">
                <a:solidFill>
                  <a:srgbClr val="272525"/>
                </a:solidFill>
                <a:latin typeface="Inter Bold" pitchFamily="34" charset="0"/>
                <a:ea typeface="Inter Bold" pitchFamily="34" charset="-122"/>
                <a:cs typeface="B Nazanin" panose="00000400000000000000" pitchFamily="2" charset="-78"/>
              </a:rPr>
              <a:t>1</a:t>
            </a:r>
            <a:endParaRPr lang="en-US" sz="1600" dirty="0">
              <a:cs typeface="B Nazanin" panose="00000400000000000000" pitchFamily="2" charset="-78"/>
            </a:endParaRPr>
          </a:p>
        </p:txBody>
      </p:sp>
      <p:sp>
        <p:nvSpPr>
          <p:cNvPr id="104" name="Text 6">
            <a:extLst>
              <a:ext uri="{FF2B5EF4-FFF2-40B4-BE49-F238E27FC236}">
                <a16:creationId xmlns:a16="http://schemas.microsoft.com/office/drawing/2014/main" id="{2A7A45F2-755F-0443-B2A3-EA5DEB489B24}"/>
              </a:ext>
            </a:extLst>
          </p:cNvPr>
          <p:cNvSpPr/>
          <p:nvPr/>
        </p:nvSpPr>
        <p:spPr>
          <a:xfrm>
            <a:off x="8007787" y="1627465"/>
            <a:ext cx="3073837" cy="216337"/>
          </a:xfrm>
          <a:prstGeom prst="rect">
            <a:avLst/>
          </a:prstGeom>
          <a:noFill/>
          <a:ln/>
        </p:spPr>
        <p:txBody>
          <a:bodyPr wrap="none" lIns="0" tIns="0" rIns="0" bIns="0" rtlCol="0" anchor="t"/>
          <a:lstStyle/>
          <a:p>
            <a:pPr marL="0" indent="0" algn="l" rtl="1">
              <a:lnSpc>
                <a:spcPts val="1700"/>
              </a:lnSpc>
              <a:buNone/>
            </a:pPr>
            <a:r>
              <a:rPr lang="en-US" sz="1350" b="1" dirty="0">
                <a:solidFill>
                  <a:schemeClr val="bg2"/>
                </a:solidFill>
                <a:latin typeface="Inter Bold" pitchFamily="34" charset="0"/>
                <a:ea typeface="Inter Bold" pitchFamily="34" charset="-122"/>
                <a:cs typeface="B Nazanin" panose="00000400000000000000" pitchFamily="2" charset="-78"/>
              </a:rPr>
              <a:t>۱۹۸۲ - حذف عراق از فهرست حامیان تروریسم</a:t>
            </a:r>
            <a:endParaRPr lang="en-US" sz="1350" dirty="0">
              <a:solidFill>
                <a:schemeClr val="bg2"/>
              </a:solidFill>
              <a:cs typeface="B Nazanin" panose="00000400000000000000" pitchFamily="2" charset="-78"/>
            </a:endParaRPr>
          </a:p>
        </p:txBody>
      </p:sp>
      <p:sp>
        <p:nvSpPr>
          <p:cNvPr id="105" name="Text 7">
            <a:extLst>
              <a:ext uri="{FF2B5EF4-FFF2-40B4-BE49-F238E27FC236}">
                <a16:creationId xmlns:a16="http://schemas.microsoft.com/office/drawing/2014/main" id="{66839F40-7A50-1401-5842-D41F13815FA8}"/>
              </a:ext>
            </a:extLst>
          </p:cNvPr>
          <p:cNvSpPr/>
          <p:nvPr/>
        </p:nvSpPr>
        <p:spPr>
          <a:xfrm>
            <a:off x="8007787" y="1926907"/>
            <a:ext cx="2395449" cy="442913"/>
          </a:xfrm>
          <a:prstGeom prst="rect">
            <a:avLst/>
          </a:prstGeom>
          <a:noFill/>
          <a:ln/>
        </p:spPr>
        <p:txBody>
          <a:bodyPr wrap="square" lIns="0" tIns="0" rIns="0" bIns="0" rtlCol="0" anchor="t"/>
          <a:lstStyle/>
          <a:p>
            <a:pPr marL="0" indent="0" algn="l" rtl="1">
              <a:lnSpc>
                <a:spcPts val="1700"/>
              </a:lnSpc>
              <a:buNone/>
            </a:pPr>
            <a:r>
              <a:rPr lang="en-US" sz="1050" dirty="0">
                <a:solidFill>
                  <a:schemeClr val="bg2"/>
                </a:solidFill>
                <a:latin typeface="Inter" pitchFamily="34" charset="0"/>
                <a:ea typeface="Inter" pitchFamily="34" charset="-122"/>
                <a:cs typeface="B Nazanin" panose="00000400000000000000" pitchFamily="2" charset="-78"/>
              </a:rPr>
              <a:t>آمریکا عراق را از لیست کشورهای حامی تروریسم خارج کرد تا بتواند آزادانه به این کشور کمک کند و تجارت با آن را تسهیل نماید.</a:t>
            </a:r>
            <a:endParaRPr lang="en-US" sz="1050" dirty="0">
              <a:solidFill>
                <a:schemeClr val="bg2"/>
              </a:solidFill>
              <a:cs typeface="B Nazanin" panose="00000400000000000000" pitchFamily="2" charset="-78"/>
            </a:endParaRPr>
          </a:p>
        </p:txBody>
      </p:sp>
      <p:sp>
        <p:nvSpPr>
          <p:cNvPr id="106" name="Shape 8">
            <a:extLst>
              <a:ext uri="{FF2B5EF4-FFF2-40B4-BE49-F238E27FC236}">
                <a16:creationId xmlns:a16="http://schemas.microsoft.com/office/drawing/2014/main" id="{2D8DECAF-664D-76BC-3FEB-EFB4965A5751}"/>
              </a:ext>
            </a:extLst>
          </p:cNvPr>
          <p:cNvSpPr/>
          <p:nvPr/>
        </p:nvSpPr>
        <p:spPr>
          <a:xfrm>
            <a:off x="6759119" y="2559010"/>
            <a:ext cx="415528" cy="15240"/>
          </a:xfrm>
          <a:prstGeom prst="roundRect">
            <a:avLst>
              <a:gd name="adj" fmla="val 381755"/>
            </a:avLst>
          </a:prstGeom>
          <a:solidFill>
            <a:srgbClr val="C0C1D7"/>
          </a:solidFill>
          <a:ln/>
        </p:spPr>
      </p:sp>
      <p:sp>
        <p:nvSpPr>
          <p:cNvPr id="107" name="Shape 9">
            <a:extLst>
              <a:ext uri="{FF2B5EF4-FFF2-40B4-BE49-F238E27FC236}">
                <a16:creationId xmlns:a16="http://schemas.microsoft.com/office/drawing/2014/main" id="{C38A12F4-A028-1025-1689-2219C441501C}"/>
              </a:ext>
            </a:extLst>
          </p:cNvPr>
          <p:cNvSpPr/>
          <p:nvPr/>
        </p:nvSpPr>
        <p:spPr>
          <a:xfrm>
            <a:off x="7159407" y="2410897"/>
            <a:ext cx="311587" cy="311587"/>
          </a:xfrm>
          <a:prstGeom prst="roundRect">
            <a:avLst>
              <a:gd name="adj" fmla="val 18672"/>
            </a:avLst>
          </a:prstGeom>
          <a:solidFill>
            <a:srgbClr val="DADBF1"/>
          </a:solidFill>
          <a:ln w="7620">
            <a:solidFill>
              <a:srgbClr val="C0C1D7"/>
            </a:solidFill>
            <a:prstDash val="solid"/>
          </a:ln>
        </p:spPr>
      </p:sp>
      <p:sp>
        <p:nvSpPr>
          <p:cNvPr id="108" name="Text 10">
            <a:extLst>
              <a:ext uri="{FF2B5EF4-FFF2-40B4-BE49-F238E27FC236}">
                <a16:creationId xmlns:a16="http://schemas.microsoft.com/office/drawing/2014/main" id="{93739762-0E4B-745D-7777-932894296F70}"/>
              </a:ext>
            </a:extLst>
          </p:cNvPr>
          <p:cNvSpPr/>
          <p:nvPr/>
        </p:nvSpPr>
        <p:spPr>
          <a:xfrm>
            <a:off x="7211258" y="2436793"/>
            <a:ext cx="207764" cy="259675"/>
          </a:xfrm>
          <a:prstGeom prst="rect">
            <a:avLst/>
          </a:prstGeom>
          <a:noFill/>
          <a:ln/>
        </p:spPr>
        <p:txBody>
          <a:bodyPr wrap="none" lIns="0" tIns="0" rIns="0" bIns="0" rtlCol="0" anchor="t"/>
          <a:lstStyle/>
          <a:p>
            <a:pPr marL="0" indent="0" algn="ctr" rtl="1">
              <a:lnSpc>
                <a:spcPts val="1600"/>
              </a:lnSpc>
              <a:buNone/>
            </a:pPr>
            <a:r>
              <a:rPr lang="en-US" sz="1600" b="1" dirty="0">
                <a:solidFill>
                  <a:srgbClr val="272525"/>
                </a:solidFill>
                <a:latin typeface="Inter Bold" pitchFamily="34" charset="0"/>
                <a:ea typeface="Inter Bold" pitchFamily="34" charset="-122"/>
                <a:cs typeface="B Nazanin" panose="00000400000000000000" pitchFamily="2" charset="-78"/>
              </a:rPr>
              <a:t>2</a:t>
            </a:r>
            <a:endParaRPr lang="en-US" sz="1600" dirty="0">
              <a:cs typeface="B Nazanin" panose="00000400000000000000" pitchFamily="2" charset="-78"/>
            </a:endParaRPr>
          </a:p>
        </p:txBody>
      </p:sp>
      <p:sp>
        <p:nvSpPr>
          <p:cNvPr id="109" name="Text 11">
            <a:extLst>
              <a:ext uri="{FF2B5EF4-FFF2-40B4-BE49-F238E27FC236}">
                <a16:creationId xmlns:a16="http://schemas.microsoft.com/office/drawing/2014/main" id="{A0964B29-B06F-3944-312A-560614C3E206}"/>
              </a:ext>
            </a:extLst>
          </p:cNvPr>
          <p:cNvSpPr/>
          <p:nvPr/>
        </p:nvSpPr>
        <p:spPr>
          <a:xfrm>
            <a:off x="4891088" y="2458403"/>
            <a:ext cx="1731526" cy="216337"/>
          </a:xfrm>
          <a:prstGeom prst="rect">
            <a:avLst/>
          </a:prstGeom>
          <a:noFill/>
          <a:ln/>
        </p:spPr>
        <p:txBody>
          <a:bodyPr wrap="none" lIns="0" tIns="0" rIns="0" bIns="0" rtlCol="0" anchor="t"/>
          <a:lstStyle/>
          <a:p>
            <a:pPr marL="0" indent="0" algn="r" rtl="1">
              <a:lnSpc>
                <a:spcPts val="1700"/>
              </a:lnSpc>
              <a:buNone/>
            </a:pPr>
            <a:r>
              <a:rPr lang="en-US" sz="1350" b="1" dirty="0">
                <a:solidFill>
                  <a:schemeClr val="bg2"/>
                </a:solidFill>
                <a:latin typeface="Inter Bold" pitchFamily="34" charset="0"/>
                <a:ea typeface="Inter Bold" pitchFamily="34" charset="-122"/>
                <a:cs typeface="B Nazanin" panose="00000400000000000000" pitchFamily="2" charset="-78"/>
              </a:rPr>
              <a:t>۱۹۸۳ - عملیات استاپل</a:t>
            </a:r>
            <a:endParaRPr lang="en-US" sz="1350" dirty="0">
              <a:solidFill>
                <a:schemeClr val="bg2"/>
              </a:solidFill>
              <a:cs typeface="B Nazanin" panose="00000400000000000000" pitchFamily="2" charset="-78"/>
            </a:endParaRPr>
          </a:p>
        </p:txBody>
      </p:sp>
      <p:sp>
        <p:nvSpPr>
          <p:cNvPr id="110" name="Text 12">
            <a:extLst>
              <a:ext uri="{FF2B5EF4-FFF2-40B4-BE49-F238E27FC236}">
                <a16:creationId xmlns:a16="http://schemas.microsoft.com/office/drawing/2014/main" id="{8C308E5E-830D-8C6C-1569-063B7AB3DFCB}"/>
              </a:ext>
            </a:extLst>
          </p:cNvPr>
          <p:cNvSpPr/>
          <p:nvPr/>
        </p:nvSpPr>
        <p:spPr>
          <a:xfrm>
            <a:off x="553998" y="2757845"/>
            <a:ext cx="6068616" cy="442913"/>
          </a:xfrm>
          <a:prstGeom prst="rect">
            <a:avLst/>
          </a:prstGeom>
          <a:noFill/>
          <a:ln/>
        </p:spPr>
        <p:txBody>
          <a:bodyPr wrap="square" lIns="0" tIns="0" rIns="0" bIns="0" rtlCol="0" anchor="t"/>
          <a:lstStyle/>
          <a:p>
            <a:pPr marL="0" indent="0" algn="r" rtl="1">
              <a:lnSpc>
                <a:spcPts val="1700"/>
              </a:lnSpc>
              <a:buNone/>
            </a:pPr>
            <a:r>
              <a:rPr lang="en-US" sz="1050" dirty="0">
                <a:solidFill>
                  <a:schemeClr val="bg2"/>
                </a:solidFill>
                <a:latin typeface="Inter" pitchFamily="34" charset="0"/>
                <a:ea typeface="Inter" pitchFamily="34" charset="-122"/>
                <a:cs typeface="B Nazanin" panose="00000400000000000000" pitchFamily="2" charset="-78"/>
              </a:rPr>
              <a:t>سیا شروع به ارائه اطلاعات ماهواره‌ای و جاسوسی درباره </a:t>
            </a:r>
            <a:r>
              <a:rPr lang="en-US" sz="1050" dirty="0" err="1">
                <a:solidFill>
                  <a:schemeClr val="bg2"/>
                </a:solidFill>
                <a:latin typeface="Inter" pitchFamily="34" charset="0"/>
                <a:ea typeface="Inter" pitchFamily="34" charset="-122"/>
                <a:cs typeface="B Nazanin" panose="00000400000000000000" pitchFamily="2" charset="-78"/>
              </a:rPr>
              <a:t>مواضع</a:t>
            </a:r>
            <a:r>
              <a:rPr lang="en-US" sz="1050" dirty="0">
                <a:solidFill>
                  <a:schemeClr val="bg2"/>
                </a:solidFill>
                <a:latin typeface="Inter" pitchFamily="34" charset="0"/>
                <a:ea typeface="Inter" pitchFamily="34" charset="-122"/>
                <a:cs typeface="B Nazanin" panose="00000400000000000000" pitchFamily="2" charset="-78"/>
              </a:rPr>
              <a:t> </a:t>
            </a:r>
            <a:r>
              <a:rPr lang="en-US" sz="1050" dirty="0" err="1">
                <a:solidFill>
                  <a:schemeClr val="bg2"/>
                </a:solidFill>
                <a:latin typeface="Inter" pitchFamily="34" charset="0"/>
                <a:ea typeface="Inter" pitchFamily="34" charset="-122"/>
                <a:cs typeface="B Nazanin" panose="00000400000000000000" pitchFamily="2" charset="-78"/>
              </a:rPr>
              <a:t>نظامی</a:t>
            </a:r>
            <a:endParaRPr lang="en-US" sz="1050" dirty="0">
              <a:solidFill>
                <a:schemeClr val="bg2"/>
              </a:solidFill>
              <a:latin typeface="Inter" pitchFamily="34" charset="0"/>
              <a:ea typeface="Inter" pitchFamily="34" charset="-122"/>
              <a:cs typeface="B Nazanin" panose="00000400000000000000" pitchFamily="2" charset="-78"/>
            </a:endParaRPr>
          </a:p>
          <a:p>
            <a:pPr marL="0" indent="0" algn="r" rtl="1">
              <a:lnSpc>
                <a:spcPts val="1700"/>
              </a:lnSpc>
              <a:buNone/>
            </a:pPr>
            <a:r>
              <a:rPr lang="en-US" sz="1050" dirty="0">
                <a:solidFill>
                  <a:schemeClr val="bg2"/>
                </a:solidFill>
                <a:latin typeface="Inter" pitchFamily="34" charset="0"/>
                <a:ea typeface="Inter" pitchFamily="34" charset="-122"/>
                <a:cs typeface="B Nazanin" panose="00000400000000000000" pitchFamily="2" charset="-78"/>
              </a:rPr>
              <a:t> ایران به عراق کرد که در برخی عملیات‌ها نقش تعیین‌کننده داشت.</a:t>
            </a:r>
            <a:endParaRPr lang="en-US" sz="1050" dirty="0">
              <a:solidFill>
                <a:schemeClr val="bg2"/>
              </a:solidFill>
              <a:cs typeface="B Nazanin" panose="00000400000000000000" pitchFamily="2" charset="-78"/>
            </a:endParaRPr>
          </a:p>
        </p:txBody>
      </p:sp>
      <p:sp>
        <p:nvSpPr>
          <p:cNvPr id="111" name="Shape 13">
            <a:extLst>
              <a:ext uri="{FF2B5EF4-FFF2-40B4-BE49-F238E27FC236}">
                <a16:creationId xmlns:a16="http://schemas.microsoft.com/office/drawing/2014/main" id="{AB699B96-A9E7-6F94-AAA9-03773A227F27}"/>
              </a:ext>
            </a:extLst>
          </p:cNvPr>
          <p:cNvSpPr/>
          <p:nvPr/>
        </p:nvSpPr>
        <p:spPr>
          <a:xfrm>
            <a:off x="7455753" y="3275290"/>
            <a:ext cx="415528" cy="15240"/>
          </a:xfrm>
          <a:prstGeom prst="roundRect">
            <a:avLst>
              <a:gd name="adj" fmla="val 381755"/>
            </a:avLst>
          </a:prstGeom>
          <a:solidFill>
            <a:srgbClr val="C0C1D7"/>
          </a:solidFill>
          <a:ln/>
        </p:spPr>
      </p:sp>
      <p:sp>
        <p:nvSpPr>
          <p:cNvPr id="112" name="Shape 14">
            <a:extLst>
              <a:ext uri="{FF2B5EF4-FFF2-40B4-BE49-F238E27FC236}">
                <a16:creationId xmlns:a16="http://schemas.microsoft.com/office/drawing/2014/main" id="{2884284E-1344-4A6C-2E2D-AD614285E48F}"/>
              </a:ext>
            </a:extLst>
          </p:cNvPr>
          <p:cNvSpPr/>
          <p:nvPr/>
        </p:nvSpPr>
        <p:spPr>
          <a:xfrm>
            <a:off x="7159407" y="3127177"/>
            <a:ext cx="311587" cy="311587"/>
          </a:xfrm>
          <a:prstGeom prst="roundRect">
            <a:avLst>
              <a:gd name="adj" fmla="val 18672"/>
            </a:avLst>
          </a:prstGeom>
          <a:solidFill>
            <a:srgbClr val="DADBF1"/>
          </a:solidFill>
          <a:ln w="7620">
            <a:solidFill>
              <a:srgbClr val="C0C1D7"/>
            </a:solidFill>
            <a:prstDash val="solid"/>
          </a:ln>
        </p:spPr>
      </p:sp>
      <p:sp>
        <p:nvSpPr>
          <p:cNvPr id="113" name="Text 15">
            <a:extLst>
              <a:ext uri="{FF2B5EF4-FFF2-40B4-BE49-F238E27FC236}">
                <a16:creationId xmlns:a16="http://schemas.microsoft.com/office/drawing/2014/main" id="{05FE41D8-65B9-D9F3-75C9-665529D2CFD7}"/>
              </a:ext>
            </a:extLst>
          </p:cNvPr>
          <p:cNvSpPr/>
          <p:nvPr/>
        </p:nvSpPr>
        <p:spPr>
          <a:xfrm>
            <a:off x="7211258" y="3153073"/>
            <a:ext cx="207764" cy="259675"/>
          </a:xfrm>
          <a:prstGeom prst="rect">
            <a:avLst/>
          </a:prstGeom>
          <a:noFill/>
          <a:ln/>
        </p:spPr>
        <p:txBody>
          <a:bodyPr wrap="none" lIns="0" tIns="0" rIns="0" bIns="0" rtlCol="0" anchor="t"/>
          <a:lstStyle/>
          <a:p>
            <a:pPr marL="0" indent="0" algn="ctr" rtl="1">
              <a:lnSpc>
                <a:spcPts val="1600"/>
              </a:lnSpc>
              <a:buNone/>
            </a:pPr>
            <a:r>
              <a:rPr lang="en-US" sz="1600" b="1" dirty="0">
                <a:solidFill>
                  <a:srgbClr val="272525"/>
                </a:solidFill>
                <a:latin typeface="Inter Bold" pitchFamily="34" charset="0"/>
                <a:ea typeface="Inter Bold" pitchFamily="34" charset="-122"/>
                <a:cs typeface="B Nazanin" panose="00000400000000000000" pitchFamily="2" charset="-78"/>
              </a:rPr>
              <a:t>3</a:t>
            </a:r>
            <a:endParaRPr lang="en-US" sz="1600" dirty="0">
              <a:cs typeface="B Nazanin" panose="00000400000000000000" pitchFamily="2" charset="-78"/>
            </a:endParaRPr>
          </a:p>
        </p:txBody>
      </p:sp>
      <p:sp>
        <p:nvSpPr>
          <p:cNvPr id="114" name="Text 16">
            <a:extLst>
              <a:ext uri="{FF2B5EF4-FFF2-40B4-BE49-F238E27FC236}">
                <a16:creationId xmlns:a16="http://schemas.microsoft.com/office/drawing/2014/main" id="{9ADD84DB-13D2-71B7-B1CF-BDFC7C5985FF}"/>
              </a:ext>
            </a:extLst>
          </p:cNvPr>
          <p:cNvSpPr/>
          <p:nvPr/>
        </p:nvSpPr>
        <p:spPr>
          <a:xfrm>
            <a:off x="8007787" y="3174682"/>
            <a:ext cx="3221474" cy="216337"/>
          </a:xfrm>
          <a:prstGeom prst="rect">
            <a:avLst/>
          </a:prstGeom>
          <a:noFill/>
          <a:ln/>
        </p:spPr>
        <p:txBody>
          <a:bodyPr wrap="none" lIns="0" tIns="0" rIns="0" bIns="0" rtlCol="0" anchor="t"/>
          <a:lstStyle/>
          <a:p>
            <a:pPr marL="0" indent="0" algn="l" rtl="1">
              <a:lnSpc>
                <a:spcPts val="1700"/>
              </a:lnSpc>
              <a:buNone/>
            </a:pPr>
            <a:r>
              <a:rPr lang="en-US" sz="1350" b="1" dirty="0">
                <a:solidFill>
                  <a:schemeClr val="bg2"/>
                </a:solidFill>
                <a:latin typeface="Inter Bold" pitchFamily="34" charset="0"/>
                <a:ea typeface="Inter Bold" pitchFamily="34" charset="-122"/>
                <a:cs typeface="B Nazanin" panose="00000400000000000000" pitchFamily="2" charset="-78"/>
              </a:rPr>
              <a:t>۱۹۸۴-۱۹۸۸ - فروش تسلیحات و تجهیزات دوگانه</a:t>
            </a:r>
            <a:endParaRPr lang="en-US" sz="1350" dirty="0">
              <a:solidFill>
                <a:schemeClr val="bg2"/>
              </a:solidFill>
              <a:cs typeface="B Nazanin" panose="00000400000000000000" pitchFamily="2" charset="-78"/>
            </a:endParaRPr>
          </a:p>
        </p:txBody>
      </p:sp>
      <p:sp>
        <p:nvSpPr>
          <p:cNvPr id="115" name="Text 17">
            <a:extLst>
              <a:ext uri="{FF2B5EF4-FFF2-40B4-BE49-F238E27FC236}">
                <a16:creationId xmlns:a16="http://schemas.microsoft.com/office/drawing/2014/main" id="{AA7CEC58-2666-30FB-52D8-EB5FD437B405}"/>
              </a:ext>
            </a:extLst>
          </p:cNvPr>
          <p:cNvSpPr/>
          <p:nvPr/>
        </p:nvSpPr>
        <p:spPr>
          <a:xfrm>
            <a:off x="8007787" y="3474125"/>
            <a:ext cx="6068616" cy="442913"/>
          </a:xfrm>
          <a:prstGeom prst="rect">
            <a:avLst/>
          </a:prstGeom>
          <a:noFill/>
          <a:ln/>
        </p:spPr>
        <p:txBody>
          <a:bodyPr wrap="square" lIns="0" tIns="0" rIns="0" bIns="0" rtlCol="0" anchor="t"/>
          <a:lstStyle/>
          <a:p>
            <a:pPr marL="0" indent="0" algn="l" rtl="1">
              <a:lnSpc>
                <a:spcPts val="1700"/>
              </a:lnSpc>
              <a:buNone/>
            </a:pPr>
            <a:r>
              <a:rPr lang="en-US" sz="1050" dirty="0">
                <a:solidFill>
                  <a:schemeClr val="bg2"/>
                </a:solidFill>
                <a:latin typeface="Inter" pitchFamily="34" charset="0"/>
                <a:ea typeface="Inter" pitchFamily="34" charset="-122"/>
                <a:cs typeface="B Nazanin" panose="00000400000000000000" pitchFamily="2" charset="-78"/>
              </a:rPr>
              <a:t>آمریکا تجهیزات نظامی و فناوری‌های دوگانه </a:t>
            </a:r>
            <a:r>
              <a:rPr lang="en-US" sz="1050" dirty="0" err="1">
                <a:solidFill>
                  <a:schemeClr val="bg2"/>
                </a:solidFill>
                <a:latin typeface="Inter" pitchFamily="34" charset="0"/>
                <a:ea typeface="Inter" pitchFamily="34" charset="-122"/>
                <a:cs typeface="B Nazanin" panose="00000400000000000000" pitchFamily="2" charset="-78"/>
              </a:rPr>
              <a:t>که</a:t>
            </a:r>
            <a:r>
              <a:rPr lang="en-US" sz="1050" dirty="0">
                <a:solidFill>
                  <a:schemeClr val="bg2"/>
                </a:solidFill>
                <a:latin typeface="Inter" pitchFamily="34" charset="0"/>
                <a:ea typeface="Inter" pitchFamily="34" charset="-122"/>
                <a:cs typeface="B Nazanin" panose="00000400000000000000" pitchFamily="2" charset="-78"/>
              </a:rPr>
              <a:t> </a:t>
            </a:r>
            <a:r>
              <a:rPr lang="en-US" sz="1050" dirty="0" err="1">
                <a:solidFill>
                  <a:schemeClr val="bg2"/>
                </a:solidFill>
                <a:latin typeface="Inter" pitchFamily="34" charset="0"/>
                <a:ea typeface="Inter" pitchFamily="34" charset="-122"/>
                <a:cs typeface="B Nazanin" panose="00000400000000000000" pitchFamily="2" charset="-78"/>
              </a:rPr>
              <a:t>می‌توانست</a:t>
            </a:r>
            <a:endParaRPr lang="en-US" sz="1050" dirty="0">
              <a:solidFill>
                <a:schemeClr val="bg2"/>
              </a:solidFill>
              <a:latin typeface="Inter" pitchFamily="34" charset="0"/>
              <a:ea typeface="Inter" pitchFamily="34" charset="-122"/>
              <a:cs typeface="B Nazanin" panose="00000400000000000000" pitchFamily="2" charset="-78"/>
            </a:endParaRPr>
          </a:p>
          <a:p>
            <a:pPr marL="0" indent="0" algn="l" rtl="1">
              <a:lnSpc>
                <a:spcPts val="1700"/>
              </a:lnSpc>
              <a:buNone/>
            </a:pPr>
            <a:r>
              <a:rPr lang="en-US" sz="1050" dirty="0">
                <a:solidFill>
                  <a:schemeClr val="bg2"/>
                </a:solidFill>
                <a:latin typeface="Inter" pitchFamily="34" charset="0"/>
                <a:ea typeface="Inter" pitchFamily="34" charset="-122"/>
                <a:cs typeface="B Nazanin" panose="00000400000000000000" pitchFamily="2" charset="-78"/>
              </a:rPr>
              <a:t> در ساخت سلاح‌های شیمیایی استفاده شود را در اختیار عراق قرار داد.</a:t>
            </a:r>
            <a:endParaRPr lang="en-US" sz="1050" dirty="0">
              <a:solidFill>
                <a:schemeClr val="bg2"/>
              </a:solidFill>
              <a:cs typeface="B Nazanin" panose="00000400000000000000" pitchFamily="2" charset="-78"/>
            </a:endParaRPr>
          </a:p>
        </p:txBody>
      </p:sp>
      <p:sp>
        <p:nvSpPr>
          <p:cNvPr id="116" name="Shape 18">
            <a:extLst>
              <a:ext uri="{FF2B5EF4-FFF2-40B4-BE49-F238E27FC236}">
                <a16:creationId xmlns:a16="http://schemas.microsoft.com/office/drawing/2014/main" id="{39F990E6-DF7C-AFDF-FCA9-BBAA586F0C23}"/>
              </a:ext>
            </a:extLst>
          </p:cNvPr>
          <p:cNvSpPr/>
          <p:nvPr/>
        </p:nvSpPr>
        <p:spPr>
          <a:xfrm>
            <a:off x="6759119" y="3991570"/>
            <a:ext cx="415528" cy="15240"/>
          </a:xfrm>
          <a:prstGeom prst="roundRect">
            <a:avLst>
              <a:gd name="adj" fmla="val 381755"/>
            </a:avLst>
          </a:prstGeom>
          <a:solidFill>
            <a:srgbClr val="C0C1D7"/>
          </a:solidFill>
          <a:ln/>
        </p:spPr>
      </p:sp>
      <p:sp>
        <p:nvSpPr>
          <p:cNvPr id="117" name="Shape 19">
            <a:extLst>
              <a:ext uri="{FF2B5EF4-FFF2-40B4-BE49-F238E27FC236}">
                <a16:creationId xmlns:a16="http://schemas.microsoft.com/office/drawing/2014/main" id="{7B6D76DA-FA13-23B5-3794-B45E67662029}"/>
              </a:ext>
            </a:extLst>
          </p:cNvPr>
          <p:cNvSpPr/>
          <p:nvPr/>
        </p:nvSpPr>
        <p:spPr>
          <a:xfrm>
            <a:off x="7159407" y="3843457"/>
            <a:ext cx="311587" cy="311587"/>
          </a:xfrm>
          <a:prstGeom prst="roundRect">
            <a:avLst>
              <a:gd name="adj" fmla="val 18672"/>
            </a:avLst>
          </a:prstGeom>
          <a:solidFill>
            <a:srgbClr val="DADBF1"/>
          </a:solidFill>
          <a:ln w="7620">
            <a:solidFill>
              <a:srgbClr val="C0C1D7"/>
            </a:solidFill>
            <a:prstDash val="solid"/>
          </a:ln>
        </p:spPr>
      </p:sp>
      <p:sp>
        <p:nvSpPr>
          <p:cNvPr id="118" name="Text 20">
            <a:extLst>
              <a:ext uri="{FF2B5EF4-FFF2-40B4-BE49-F238E27FC236}">
                <a16:creationId xmlns:a16="http://schemas.microsoft.com/office/drawing/2014/main" id="{DFA3020F-694C-C695-58F2-E600A4D55639}"/>
              </a:ext>
            </a:extLst>
          </p:cNvPr>
          <p:cNvSpPr/>
          <p:nvPr/>
        </p:nvSpPr>
        <p:spPr>
          <a:xfrm>
            <a:off x="7211258" y="3869353"/>
            <a:ext cx="207764" cy="259675"/>
          </a:xfrm>
          <a:prstGeom prst="rect">
            <a:avLst/>
          </a:prstGeom>
          <a:noFill/>
          <a:ln/>
        </p:spPr>
        <p:txBody>
          <a:bodyPr wrap="none" lIns="0" tIns="0" rIns="0" bIns="0" rtlCol="0" anchor="t"/>
          <a:lstStyle/>
          <a:p>
            <a:pPr marL="0" indent="0" algn="ctr" rtl="1">
              <a:lnSpc>
                <a:spcPts val="1600"/>
              </a:lnSpc>
              <a:buNone/>
            </a:pPr>
            <a:r>
              <a:rPr lang="en-US" sz="1600" b="1" dirty="0">
                <a:solidFill>
                  <a:srgbClr val="272525"/>
                </a:solidFill>
                <a:latin typeface="Inter Bold" pitchFamily="34" charset="0"/>
                <a:ea typeface="Inter Bold" pitchFamily="34" charset="-122"/>
                <a:cs typeface="B Nazanin" panose="00000400000000000000" pitchFamily="2" charset="-78"/>
              </a:rPr>
              <a:t>4</a:t>
            </a:r>
            <a:endParaRPr lang="en-US" sz="1600" dirty="0">
              <a:cs typeface="B Nazanin" panose="00000400000000000000" pitchFamily="2" charset="-78"/>
            </a:endParaRPr>
          </a:p>
        </p:txBody>
      </p:sp>
      <p:sp>
        <p:nvSpPr>
          <p:cNvPr id="119" name="Text 21">
            <a:extLst>
              <a:ext uri="{FF2B5EF4-FFF2-40B4-BE49-F238E27FC236}">
                <a16:creationId xmlns:a16="http://schemas.microsoft.com/office/drawing/2014/main" id="{C95C3E96-864B-1478-F300-93D5263FA4BF}"/>
              </a:ext>
            </a:extLst>
          </p:cNvPr>
          <p:cNvSpPr/>
          <p:nvPr/>
        </p:nvSpPr>
        <p:spPr>
          <a:xfrm>
            <a:off x="4525685" y="3890963"/>
            <a:ext cx="2096929" cy="216337"/>
          </a:xfrm>
          <a:prstGeom prst="rect">
            <a:avLst/>
          </a:prstGeom>
          <a:noFill/>
          <a:ln/>
        </p:spPr>
        <p:txBody>
          <a:bodyPr wrap="none" lIns="0" tIns="0" rIns="0" bIns="0" rtlCol="0" anchor="t"/>
          <a:lstStyle/>
          <a:p>
            <a:pPr marL="0" indent="0" algn="r" rtl="1">
              <a:lnSpc>
                <a:spcPts val="1700"/>
              </a:lnSpc>
              <a:buNone/>
            </a:pPr>
            <a:r>
              <a:rPr lang="en-US" sz="1350" b="1" dirty="0">
                <a:solidFill>
                  <a:schemeClr val="bg2"/>
                </a:solidFill>
                <a:latin typeface="Inter Bold" pitchFamily="34" charset="0"/>
                <a:ea typeface="Inter Bold" pitchFamily="34" charset="-122"/>
                <a:cs typeface="B Nazanin" panose="00000400000000000000" pitchFamily="2" charset="-78"/>
              </a:rPr>
              <a:t>۱۹۸۷ - حمله به کشتی‌های ایران</a:t>
            </a:r>
            <a:endParaRPr lang="en-US" sz="1350" dirty="0">
              <a:solidFill>
                <a:schemeClr val="bg2"/>
              </a:solidFill>
              <a:cs typeface="B Nazanin" panose="00000400000000000000" pitchFamily="2" charset="-78"/>
            </a:endParaRPr>
          </a:p>
        </p:txBody>
      </p:sp>
      <p:sp>
        <p:nvSpPr>
          <p:cNvPr id="120" name="Text 22">
            <a:extLst>
              <a:ext uri="{FF2B5EF4-FFF2-40B4-BE49-F238E27FC236}">
                <a16:creationId xmlns:a16="http://schemas.microsoft.com/office/drawing/2014/main" id="{0BB7427A-0E29-29CC-01D5-9432B7A8A3FB}"/>
              </a:ext>
            </a:extLst>
          </p:cNvPr>
          <p:cNvSpPr/>
          <p:nvPr/>
        </p:nvSpPr>
        <p:spPr>
          <a:xfrm>
            <a:off x="553998" y="4190405"/>
            <a:ext cx="6068616" cy="442913"/>
          </a:xfrm>
          <a:prstGeom prst="rect">
            <a:avLst/>
          </a:prstGeom>
          <a:noFill/>
          <a:ln/>
        </p:spPr>
        <p:txBody>
          <a:bodyPr wrap="square" lIns="0" tIns="0" rIns="0" bIns="0" rtlCol="0" anchor="t"/>
          <a:lstStyle/>
          <a:p>
            <a:pPr marL="0" indent="0" algn="r" rtl="1">
              <a:lnSpc>
                <a:spcPts val="1700"/>
              </a:lnSpc>
              <a:buNone/>
            </a:pPr>
            <a:r>
              <a:rPr lang="en-US" sz="1050" dirty="0">
                <a:solidFill>
                  <a:schemeClr val="bg2"/>
                </a:solidFill>
                <a:latin typeface="Inter" pitchFamily="34" charset="0"/>
                <a:ea typeface="Inter" pitchFamily="34" charset="-122"/>
                <a:cs typeface="B Nazanin" panose="00000400000000000000" pitchFamily="2" charset="-78"/>
              </a:rPr>
              <a:t>نیروی دریایی آمریکا مستقیماً وارد درگیری </a:t>
            </a:r>
            <a:r>
              <a:rPr lang="en-US" sz="1050" dirty="0" err="1">
                <a:solidFill>
                  <a:schemeClr val="bg2"/>
                </a:solidFill>
                <a:latin typeface="Inter" pitchFamily="34" charset="0"/>
                <a:ea typeface="Inter" pitchFamily="34" charset="-122"/>
                <a:cs typeface="B Nazanin" panose="00000400000000000000" pitchFamily="2" charset="-78"/>
              </a:rPr>
              <a:t>شد</a:t>
            </a:r>
            <a:r>
              <a:rPr lang="en-US" sz="1050" dirty="0">
                <a:solidFill>
                  <a:schemeClr val="bg2"/>
                </a:solidFill>
                <a:latin typeface="Inter" pitchFamily="34" charset="0"/>
                <a:ea typeface="Inter" pitchFamily="34" charset="-122"/>
                <a:cs typeface="B Nazanin" panose="00000400000000000000" pitchFamily="2" charset="-78"/>
              </a:rPr>
              <a:t> </a:t>
            </a:r>
          </a:p>
          <a:p>
            <a:pPr marL="0" indent="0" algn="r" rtl="1">
              <a:lnSpc>
                <a:spcPts val="1700"/>
              </a:lnSpc>
              <a:buNone/>
            </a:pPr>
            <a:r>
              <a:rPr lang="en-US" sz="1050" dirty="0">
                <a:solidFill>
                  <a:schemeClr val="bg2"/>
                </a:solidFill>
                <a:latin typeface="Inter" pitchFamily="34" charset="0"/>
                <a:ea typeface="Inter" pitchFamily="34" charset="-122"/>
                <a:cs typeface="B Nazanin" panose="00000400000000000000" pitchFamily="2" charset="-78"/>
              </a:rPr>
              <a:t>و به کشتی‌ها و سکوهای نفتی ایران </a:t>
            </a:r>
            <a:r>
              <a:rPr lang="en-US" sz="1050" dirty="0" err="1">
                <a:solidFill>
                  <a:schemeClr val="bg2"/>
                </a:solidFill>
                <a:latin typeface="Inter" pitchFamily="34" charset="0"/>
                <a:ea typeface="Inter" pitchFamily="34" charset="-122"/>
                <a:cs typeface="B Nazanin" panose="00000400000000000000" pitchFamily="2" charset="-78"/>
              </a:rPr>
              <a:t>حمله</a:t>
            </a:r>
            <a:r>
              <a:rPr lang="en-US" sz="1050" dirty="0">
                <a:solidFill>
                  <a:schemeClr val="bg2"/>
                </a:solidFill>
                <a:latin typeface="Inter" pitchFamily="34" charset="0"/>
                <a:ea typeface="Inter" pitchFamily="34" charset="-122"/>
                <a:cs typeface="B Nazanin" panose="00000400000000000000" pitchFamily="2" charset="-78"/>
              </a:rPr>
              <a:t> </a:t>
            </a:r>
            <a:r>
              <a:rPr lang="en-US" sz="1050" dirty="0" err="1">
                <a:solidFill>
                  <a:schemeClr val="bg2"/>
                </a:solidFill>
                <a:latin typeface="Inter" pitchFamily="34" charset="0"/>
                <a:ea typeface="Inter" pitchFamily="34" charset="-122"/>
                <a:cs typeface="B Nazanin" panose="00000400000000000000" pitchFamily="2" charset="-78"/>
              </a:rPr>
              <a:t>کرد</a:t>
            </a:r>
            <a:endParaRPr lang="en-US" sz="1050" dirty="0">
              <a:solidFill>
                <a:schemeClr val="bg2"/>
              </a:solidFill>
              <a:latin typeface="Inter" pitchFamily="34" charset="0"/>
              <a:ea typeface="Inter" pitchFamily="34" charset="-122"/>
              <a:cs typeface="B Nazanin" panose="00000400000000000000" pitchFamily="2" charset="-78"/>
            </a:endParaRPr>
          </a:p>
          <a:p>
            <a:pPr marL="0" indent="0" algn="r" rtl="1">
              <a:lnSpc>
                <a:spcPts val="1700"/>
              </a:lnSpc>
              <a:buNone/>
            </a:pPr>
            <a:r>
              <a:rPr lang="en-US" sz="1050" dirty="0">
                <a:solidFill>
                  <a:schemeClr val="bg2"/>
                </a:solidFill>
                <a:latin typeface="Inter" pitchFamily="34" charset="0"/>
                <a:ea typeface="Inter" pitchFamily="34" charset="-122"/>
                <a:cs typeface="B Nazanin" panose="00000400000000000000" pitchFamily="2" charset="-78"/>
              </a:rPr>
              <a:t> که به جنگ نفتکش‌ها معروف شد.</a:t>
            </a:r>
            <a:endParaRPr lang="en-US" sz="1050" dirty="0">
              <a:solidFill>
                <a:schemeClr val="bg2"/>
              </a:solidFill>
              <a:cs typeface="B Nazanin" panose="00000400000000000000" pitchFamily="2" charset="-78"/>
            </a:endParaRPr>
          </a:p>
        </p:txBody>
      </p:sp>
      <p:sp>
        <p:nvSpPr>
          <p:cNvPr id="121" name="Text 23">
            <a:extLst>
              <a:ext uri="{FF2B5EF4-FFF2-40B4-BE49-F238E27FC236}">
                <a16:creationId xmlns:a16="http://schemas.microsoft.com/office/drawing/2014/main" id="{FE0FA9C0-6734-E708-00A5-C15822B786EE}"/>
              </a:ext>
            </a:extLst>
          </p:cNvPr>
          <p:cNvSpPr/>
          <p:nvPr/>
        </p:nvSpPr>
        <p:spPr>
          <a:xfrm>
            <a:off x="5068491" y="5293281"/>
            <a:ext cx="2077760" cy="259675"/>
          </a:xfrm>
          <a:prstGeom prst="rect">
            <a:avLst/>
          </a:prstGeom>
          <a:noFill/>
          <a:ln/>
        </p:spPr>
        <p:txBody>
          <a:bodyPr wrap="none" lIns="0" tIns="0" rIns="0" bIns="0" rtlCol="0" anchor="t"/>
          <a:lstStyle/>
          <a:p>
            <a:pPr marL="0" indent="0" algn="r" rtl="1">
              <a:lnSpc>
                <a:spcPts val="2000"/>
              </a:lnSpc>
              <a:buNone/>
            </a:pPr>
            <a:r>
              <a:rPr lang="en-US" sz="1600" b="1" dirty="0">
                <a:solidFill>
                  <a:schemeClr val="bg2"/>
                </a:solidFill>
                <a:latin typeface="Inter Bold" pitchFamily="34" charset="0"/>
                <a:ea typeface="Inter Bold" pitchFamily="34" charset="-122"/>
                <a:cs typeface="B Nazanin" panose="00000400000000000000" pitchFamily="2" charset="-78"/>
              </a:rPr>
              <a:t>کمک‌های اطلاعاتی</a:t>
            </a:r>
            <a:endParaRPr lang="en-US" sz="1600" dirty="0">
              <a:solidFill>
                <a:schemeClr val="bg2"/>
              </a:solidFill>
              <a:cs typeface="B Nazanin" panose="00000400000000000000" pitchFamily="2" charset="-78"/>
            </a:endParaRPr>
          </a:p>
        </p:txBody>
      </p:sp>
      <p:sp>
        <p:nvSpPr>
          <p:cNvPr id="122" name="Text 24">
            <a:extLst>
              <a:ext uri="{FF2B5EF4-FFF2-40B4-BE49-F238E27FC236}">
                <a16:creationId xmlns:a16="http://schemas.microsoft.com/office/drawing/2014/main" id="{20916020-D9A4-4D4F-8FFD-F09EEE77B5B4}"/>
              </a:ext>
            </a:extLst>
          </p:cNvPr>
          <p:cNvSpPr/>
          <p:nvPr/>
        </p:nvSpPr>
        <p:spPr>
          <a:xfrm>
            <a:off x="553998" y="5691426"/>
            <a:ext cx="6592253" cy="221456"/>
          </a:xfrm>
          <a:prstGeom prst="rect">
            <a:avLst/>
          </a:prstGeom>
          <a:noFill/>
          <a:ln/>
        </p:spPr>
        <p:txBody>
          <a:bodyPr wrap="none" lIns="0" tIns="0" rIns="0" bIns="0" rtlCol="0" anchor="t"/>
          <a:lstStyle/>
          <a:p>
            <a:pPr marL="342900" indent="-342900" algn="r" rtl="1">
              <a:lnSpc>
                <a:spcPts val="1700"/>
              </a:lnSpc>
              <a:buSzPct val="100000"/>
              <a:buChar char="•"/>
            </a:pPr>
            <a:r>
              <a:rPr lang="en-US" sz="1050" dirty="0">
                <a:solidFill>
                  <a:schemeClr val="bg2"/>
                </a:solidFill>
                <a:latin typeface="Inter" pitchFamily="34" charset="0"/>
                <a:ea typeface="Inter" pitchFamily="34" charset="-122"/>
                <a:cs typeface="B Nazanin" panose="00000400000000000000" pitchFamily="2" charset="-78"/>
              </a:rPr>
              <a:t>تصاویر ماهواره‌ای از مواضع نیروهای ایرانی</a:t>
            </a:r>
            <a:endParaRPr lang="en-US" sz="1050" dirty="0">
              <a:solidFill>
                <a:schemeClr val="bg2"/>
              </a:solidFill>
              <a:cs typeface="B Nazanin" panose="00000400000000000000" pitchFamily="2" charset="-78"/>
            </a:endParaRPr>
          </a:p>
        </p:txBody>
      </p:sp>
      <p:sp>
        <p:nvSpPr>
          <p:cNvPr id="123" name="Text 25">
            <a:extLst>
              <a:ext uri="{FF2B5EF4-FFF2-40B4-BE49-F238E27FC236}">
                <a16:creationId xmlns:a16="http://schemas.microsoft.com/office/drawing/2014/main" id="{FA3FED82-23B3-53D0-84C9-372C647EF1AF}"/>
              </a:ext>
            </a:extLst>
          </p:cNvPr>
          <p:cNvSpPr/>
          <p:nvPr/>
        </p:nvSpPr>
        <p:spPr>
          <a:xfrm>
            <a:off x="553998" y="5961340"/>
            <a:ext cx="6592253" cy="221456"/>
          </a:xfrm>
          <a:prstGeom prst="rect">
            <a:avLst/>
          </a:prstGeom>
          <a:noFill/>
          <a:ln/>
        </p:spPr>
        <p:txBody>
          <a:bodyPr wrap="none" lIns="0" tIns="0" rIns="0" bIns="0" rtlCol="0" anchor="t"/>
          <a:lstStyle/>
          <a:p>
            <a:pPr marL="342900" indent="-342900" algn="r" rtl="1">
              <a:lnSpc>
                <a:spcPts val="1700"/>
              </a:lnSpc>
              <a:buSzPct val="100000"/>
              <a:buChar char="•"/>
            </a:pPr>
            <a:r>
              <a:rPr lang="en-US" sz="1050" dirty="0">
                <a:solidFill>
                  <a:schemeClr val="bg2"/>
                </a:solidFill>
                <a:latin typeface="Inter" pitchFamily="34" charset="0"/>
                <a:ea typeface="Inter" pitchFamily="34" charset="-122"/>
                <a:cs typeface="B Nazanin" panose="00000400000000000000" pitchFamily="2" charset="-78"/>
              </a:rPr>
              <a:t>اطلاعات الکترونیکی و شنود ارتباطات</a:t>
            </a:r>
            <a:endParaRPr lang="en-US" sz="1050" dirty="0">
              <a:solidFill>
                <a:schemeClr val="bg2"/>
              </a:solidFill>
              <a:cs typeface="B Nazanin" panose="00000400000000000000" pitchFamily="2" charset="-78"/>
            </a:endParaRPr>
          </a:p>
        </p:txBody>
      </p:sp>
      <p:sp>
        <p:nvSpPr>
          <p:cNvPr id="124" name="Text 26">
            <a:extLst>
              <a:ext uri="{FF2B5EF4-FFF2-40B4-BE49-F238E27FC236}">
                <a16:creationId xmlns:a16="http://schemas.microsoft.com/office/drawing/2014/main" id="{3FD8BA7F-D8D2-BB98-8E30-2DEDBA25B26A}"/>
              </a:ext>
            </a:extLst>
          </p:cNvPr>
          <p:cNvSpPr/>
          <p:nvPr/>
        </p:nvSpPr>
        <p:spPr>
          <a:xfrm>
            <a:off x="553998" y="6231255"/>
            <a:ext cx="6592253" cy="221456"/>
          </a:xfrm>
          <a:prstGeom prst="rect">
            <a:avLst/>
          </a:prstGeom>
          <a:noFill/>
          <a:ln/>
        </p:spPr>
        <p:txBody>
          <a:bodyPr wrap="none" lIns="0" tIns="0" rIns="0" bIns="0" rtlCol="0" anchor="t"/>
          <a:lstStyle/>
          <a:p>
            <a:pPr marL="342900" indent="-342900" algn="r" rtl="1">
              <a:lnSpc>
                <a:spcPts val="1700"/>
              </a:lnSpc>
              <a:buSzPct val="100000"/>
              <a:buChar char="•"/>
            </a:pPr>
            <a:r>
              <a:rPr lang="en-US" sz="1050" dirty="0">
                <a:solidFill>
                  <a:schemeClr val="bg2"/>
                </a:solidFill>
                <a:latin typeface="Inter" pitchFamily="34" charset="0"/>
                <a:ea typeface="Inter" pitchFamily="34" charset="-122"/>
                <a:cs typeface="B Nazanin" panose="00000400000000000000" pitchFamily="2" charset="-78"/>
              </a:rPr>
              <a:t>هشدار زودهنگام درباره حملات ایران</a:t>
            </a:r>
            <a:endParaRPr lang="en-US" sz="1050" dirty="0">
              <a:solidFill>
                <a:schemeClr val="bg2"/>
              </a:solidFill>
              <a:cs typeface="B Nazanin" panose="00000400000000000000" pitchFamily="2" charset="-78"/>
            </a:endParaRPr>
          </a:p>
        </p:txBody>
      </p:sp>
      <p:sp>
        <p:nvSpPr>
          <p:cNvPr id="125" name="Text 27">
            <a:extLst>
              <a:ext uri="{FF2B5EF4-FFF2-40B4-BE49-F238E27FC236}">
                <a16:creationId xmlns:a16="http://schemas.microsoft.com/office/drawing/2014/main" id="{92D4D0FB-CB00-3C71-2FD1-C7B0968DE584}"/>
              </a:ext>
            </a:extLst>
          </p:cNvPr>
          <p:cNvSpPr/>
          <p:nvPr/>
        </p:nvSpPr>
        <p:spPr>
          <a:xfrm>
            <a:off x="553998" y="6501170"/>
            <a:ext cx="6592253" cy="221456"/>
          </a:xfrm>
          <a:prstGeom prst="rect">
            <a:avLst/>
          </a:prstGeom>
          <a:noFill/>
          <a:ln/>
        </p:spPr>
        <p:txBody>
          <a:bodyPr wrap="none" lIns="0" tIns="0" rIns="0" bIns="0" rtlCol="0" anchor="t"/>
          <a:lstStyle/>
          <a:p>
            <a:pPr marL="342900" indent="-342900" algn="r" rtl="1">
              <a:lnSpc>
                <a:spcPts val="1700"/>
              </a:lnSpc>
              <a:buSzPct val="100000"/>
              <a:buChar char="•"/>
            </a:pPr>
            <a:r>
              <a:rPr lang="en-US" sz="1050" dirty="0">
                <a:solidFill>
                  <a:schemeClr val="bg2"/>
                </a:solidFill>
                <a:latin typeface="Inter" pitchFamily="34" charset="0"/>
                <a:ea typeface="Inter" pitchFamily="34" charset="-122"/>
                <a:cs typeface="B Nazanin" panose="00000400000000000000" pitchFamily="2" charset="-78"/>
              </a:rPr>
              <a:t>نقشه‌های دقیق تاکتیکی و استراتژیک</a:t>
            </a:r>
            <a:endParaRPr lang="en-US" sz="1050" dirty="0">
              <a:solidFill>
                <a:schemeClr val="bg2"/>
              </a:solidFill>
              <a:cs typeface="B Nazanin" panose="00000400000000000000" pitchFamily="2" charset="-78"/>
            </a:endParaRPr>
          </a:p>
        </p:txBody>
      </p:sp>
      <p:sp>
        <p:nvSpPr>
          <p:cNvPr id="126" name="Text 28">
            <a:extLst>
              <a:ext uri="{FF2B5EF4-FFF2-40B4-BE49-F238E27FC236}">
                <a16:creationId xmlns:a16="http://schemas.microsoft.com/office/drawing/2014/main" id="{5999337A-88C2-F9C5-A24E-417DEC8CFBB5}"/>
              </a:ext>
            </a:extLst>
          </p:cNvPr>
          <p:cNvSpPr/>
          <p:nvPr/>
        </p:nvSpPr>
        <p:spPr>
          <a:xfrm>
            <a:off x="8147090" y="5227559"/>
            <a:ext cx="2077760" cy="259675"/>
          </a:xfrm>
          <a:prstGeom prst="rect">
            <a:avLst/>
          </a:prstGeom>
          <a:noFill/>
          <a:ln/>
        </p:spPr>
        <p:txBody>
          <a:bodyPr wrap="none" lIns="0" tIns="0" rIns="0" bIns="0" rtlCol="0" anchor="t"/>
          <a:lstStyle/>
          <a:p>
            <a:pPr marL="0" indent="0" algn="r" rtl="1">
              <a:lnSpc>
                <a:spcPts val="2000"/>
              </a:lnSpc>
              <a:buNone/>
            </a:pPr>
            <a:r>
              <a:rPr lang="en-US" sz="1600" b="1" dirty="0">
                <a:solidFill>
                  <a:schemeClr val="bg2"/>
                </a:solidFill>
                <a:latin typeface="Inter Bold" pitchFamily="34" charset="0"/>
                <a:ea typeface="Inter Bold" pitchFamily="34" charset="-122"/>
                <a:cs typeface="B Nazanin" panose="00000400000000000000" pitchFamily="2" charset="-78"/>
              </a:rPr>
              <a:t>حمایت دیپلماتیک</a:t>
            </a:r>
            <a:endParaRPr lang="en-US" sz="1600" dirty="0">
              <a:solidFill>
                <a:schemeClr val="bg2"/>
              </a:solidFill>
              <a:cs typeface="B Nazanin" panose="00000400000000000000" pitchFamily="2" charset="-78"/>
            </a:endParaRPr>
          </a:p>
        </p:txBody>
      </p:sp>
      <p:sp>
        <p:nvSpPr>
          <p:cNvPr id="127" name="Text 29">
            <a:extLst>
              <a:ext uri="{FF2B5EF4-FFF2-40B4-BE49-F238E27FC236}">
                <a16:creationId xmlns:a16="http://schemas.microsoft.com/office/drawing/2014/main" id="{F41E8984-3936-14BD-8FEB-EB4935F444F2}"/>
              </a:ext>
            </a:extLst>
          </p:cNvPr>
          <p:cNvSpPr/>
          <p:nvPr/>
        </p:nvSpPr>
        <p:spPr>
          <a:xfrm>
            <a:off x="3843547" y="5691425"/>
            <a:ext cx="6592253" cy="221456"/>
          </a:xfrm>
          <a:prstGeom prst="rect">
            <a:avLst/>
          </a:prstGeom>
          <a:noFill/>
          <a:ln/>
        </p:spPr>
        <p:txBody>
          <a:bodyPr wrap="none" lIns="0" tIns="0" rIns="0" bIns="0" rtlCol="0" anchor="t"/>
          <a:lstStyle/>
          <a:p>
            <a:pPr marL="342900" indent="-342900" algn="r" rtl="1">
              <a:lnSpc>
                <a:spcPts val="1700"/>
              </a:lnSpc>
              <a:buSzPct val="100000"/>
              <a:buChar char="•"/>
            </a:pPr>
            <a:r>
              <a:rPr lang="en-US" sz="1050" dirty="0">
                <a:solidFill>
                  <a:schemeClr val="bg2"/>
                </a:solidFill>
                <a:latin typeface="Inter" pitchFamily="34" charset="0"/>
                <a:ea typeface="Inter" pitchFamily="34" charset="-122"/>
                <a:cs typeface="B Nazanin" panose="00000400000000000000" pitchFamily="2" charset="-78"/>
              </a:rPr>
              <a:t>وتو قطعنامه‌های ضدعراقی در شورای امنیت</a:t>
            </a:r>
            <a:endParaRPr lang="en-US" sz="1050" dirty="0">
              <a:solidFill>
                <a:schemeClr val="bg2"/>
              </a:solidFill>
              <a:cs typeface="B Nazanin" panose="00000400000000000000" pitchFamily="2" charset="-78"/>
            </a:endParaRPr>
          </a:p>
        </p:txBody>
      </p:sp>
      <p:sp>
        <p:nvSpPr>
          <p:cNvPr id="128" name="Text 30">
            <a:extLst>
              <a:ext uri="{FF2B5EF4-FFF2-40B4-BE49-F238E27FC236}">
                <a16:creationId xmlns:a16="http://schemas.microsoft.com/office/drawing/2014/main" id="{51EA477F-4D87-3BD7-7E79-E0B50AFCF9B9}"/>
              </a:ext>
            </a:extLst>
          </p:cNvPr>
          <p:cNvSpPr/>
          <p:nvPr/>
        </p:nvSpPr>
        <p:spPr>
          <a:xfrm>
            <a:off x="3856703" y="5971440"/>
            <a:ext cx="6592253" cy="221456"/>
          </a:xfrm>
          <a:prstGeom prst="rect">
            <a:avLst/>
          </a:prstGeom>
          <a:noFill/>
          <a:ln/>
        </p:spPr>
        <p:txBody>
          <a:bodyPr wrap="none" lIns="0" tIns="0" rIns="0" bIns="0" rtlCol="0" anchor="t"/>
          <a:lstStyle/>
          <a:p>
            <a:pPr marL="342900" indent="-342900" algn="r" rtl="1">
              <a:lnSpc>
                <a:spcPts val="1700"/>
              </a:lnSpc>
              <a:buSzPct val="100000"/>
              <a:buChar char="•"/>
            </a:pPr>
            <a:r>
              <a:rPr lang="en-US" sz="1050" dirty="0">
                <a:solidFill>
                  <a:schemeClr val="bg2"/>
                </a:solidFill>
                <a:latin typeface="Inter" pitchFamily="34" charset="0"/>
                <a:ea typeface="Inter" pitchFamily="34" charset="-122"/>
                <a:cs typeface="B Nazanin" panose="00000400000000000000" pitchFamily="2" charset="-78"/>
              </a:rPr>
              <a:t>فشار بر کشورها برای قطع فروش سلاح به ایران</a:t>
            </a:r>
            <a:endParaRPr lang="en-US" sz="1050" dirty="0">
              <a:solidFill>
                <a:schemeClr val="bg2"/>
              </a:solidFill>
              <a:cs typeface="B Nazanin" panose="00000400000000000000" pitchFamily="2" charset="-78"/>
            </a:endParaRPr>
          </a:p>
        </p:txBody>
      </p:sp>
      <p:sp>
        <p:nvSpPr>
          <p:cNvPr id="129" name="Text 31">
            <a:extLst>
              <a:ext uri="{FF2B5EF4-FFF2-40B4-BE49-F238E27FC236}">
                <a16:creationId xmlns:a16="http://schemas.microsoft.com/office/drawing/2014/main" id="{B7583195-E0DF-AF26-12C5-FDE5077F6513}"/>
              </a:ext>
            </a:extLst>
          </p:cNvPr>
          <p:cNvSpPr/>
          <p:nvPr/>
        </p:nvSpPr>
        <p:spPr>
          <a:xfrm>
            <a:off x="3856703" y="6241355"/>
            <a:ext cx="6592253" cy="221456"/>
          </a:xfrm>
          <a:prstGeom prst="rect">
            <a:avLst/>
          </a:prstGeom>
          <a:noFill/>
          <a:ln/>
        </p:spPr>
        <p:txBody>
          <a:bodyPr wrap="none" lIns="0" tIns="0" rIns="0" bIns="0" rtlCol="0" anchor="t"/>
          <a:lstStyle/>
          <a:p>
            <a:pPr marL="342900" indent="-342900" algn="r" rtl="1">
              <a:lnSpc>
                <a:spcPts val="1700"/>
              </a:lnSpc>
              <a:buSzPct val="100000"/>
              <a:buChar char="•"/>
            </a:pPr>
            <a:r>
              <a:rPr lang="en-US" sz="1050" dirty="0">
                <a:solidFill>
                  <a:schemeClr val="bg2"/>
                </a:solidFill>
                <a:latin typeface="Inter" pitchFamily="34" charset="0"/>
                <a:ea typeface="Inter" pitchFamily="34" charset="-122"/>
                <a:cs typeface="B Nazanin" panose="00000400000000000000" pitchFamily="2" charset="-78"/>
              </a:rPr>
              <a:t>مخالفت با محکومیت استفاده از سلاح شیمیایی توسط عراق</a:t>
            </a:r>
            <a:endParaRPr lang="en-US" sz="1050" dirty="0">
              <a:solidFill>
                <a:schemeClr val="bg2"/>
              </a:solidFill>
              <a:cs typeface="B Nazanin" panose="00000400000000000000" pitchFamily="2" charset="-78"/>
            </a:endParaRPr>
          </a:p>
        </p:txBody>
      </p:sp>
      <p:sp>
        <p:nvSpPr>
          <p:cNvPr id="130" name="Text 32">
            <a:extLst>
              <a:ext uri="{FF2B5EF4-FFF2-40B4-BE49-F238E27FC236}">
                <a16:creationId xmlns:a16="http://schemas.microsoft.com/office/drawing/2014/main" id="{F674DB4D-AEB1-6720-EB98-0AD806B40A70}"/>
              </a:ext>
            </a:extLst>
          </p:cNvPr>
          <p:cNvSpPr/>
          <p:nvPr/>
        </p:nvSpPr>
        <p:spPr>
          <a:xfrm>
            <a:off x="3856703" y="6511270"/>
            <a:ext cx="6592253" cy="221456"/>
          </a:xfrm>
          <a:prstGeom prst="rect">
            <a:avLst/>
          </a:prstGeom>
          <a:noFill/>
          <a:ln/>
        </p:spPr>
        <p:txBody>
          <a:bodyPr wrap="none" lIns="0" tIns="0" rIns="0" bIns="0" rtlCol="0" anchor="t"/>
          <a:lstStyle/>
          <a:p>
            <a:pPr marL="342900" indent="-342900" algn="r" rtl="1">
              <a:lnSpc>
                <a:spcPts val="1700"/>
              </a:lnSpc>
              <a:buSzPct val="100000"/>
              <a:buChar char="•"/>
            </a:pPr>
            <a:r>
              <a:rPr lang="en-US" sz="1050" dirty="0">
                <a:solidFill>
                  <a:schemeClr val="bg2"/>
                </a:solidFill>
                <a:latin typeface="Inter" pitchFamily="34" charset="0"/>
                <a:ea typeface="Inter" pitchFamily="34" charset="-122"/>
                <a:cs typeface="B Nazanin" panose="00000400000000000000" pitchFamily="2" charset="-78"/>
              </a:rPr>
              <a:t>حمایت مالی از عراق از طریق متحدان عرب</a:t>
            </a:r>
            <a:endParaRPr lang="en-US" sz="1050" dirty="0">
              <a:solidFill>
                <a:schemeClr val="bg2"/>
              </a:solidFill>
              <a:cs typeface="B Nazanin" panose="00000400000000000000" pitchFamily="2" charset="-78"/>
            </a:endParaRPr>
          </a:p>
        </p:txBody>
      </p:sp>
      <p:pic>
        <p:nvPicPr>
          <p:cNvPr id="132" name="Image 0" descr="preencoded.png">
            <a:extLst>
              <a:ext uri="{FF2B5EF4-FFF2-40B4-BE49-F238E27FC236}">
                <a16:creationId xmlns:a16="http://schemas.microsoft.com/office/drawing/2014/main" id="{F94ABF43-E896-B071-C7F9-A7D49BC4F9AC}"/>
              </a:ext>
            </a:extLst>
          </p:cNvPr>
          <p:cNvPicPr>
            <a:picLocks noChangeAspect="1"/>
          </p:cNvPicPr>
          <p:nvPr/>
        </p:nvPicPr>
        <p:blipFill>
          <a:blip r:embed="rId9"/>
          <a:stretch>
            <a:fillRect/>
          </a:stretch>
        </p:blipFill>
        <p:spPr>
          <a:xfrm>
            <a:off x="692468" y="7138630"/>
            <a:ext cx="173117" cy="138470"/>
          </a:xfrm>
          <a:prstGeom prst="rect">
            <a:avLst/>
          </a:prstGeom>
        </p:spPr>
      </p:pic>
      <p:pic>
        <p:nvPicPr>
          <p:cNvPr id="135" name="Graphic 134" descr="Dollar with solid fill">
            <a:extLst>
              <a:ext uri="{FF2B5EF4-FFF2-40B4-BE49-F238E27FC236}">
                <a16:creationId xmlns:a16="http://schemas.microsoft.com/office/drawing/2014/main" id="{F2425953-85E3-F733-592D-7D413631746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308323" y="2332786"/>
            <a:ext cx="914400" cy="914400"/>
          </a:xfrm>
          <a:prstGeom prst="rect">
            <a:avLst/>
          </a:prstGeom>
        </p:spPr>
      </p:pic>
    </p:spTree>
    <p:extLst>
      <p:ext uri="{BB962C8B-B14F-4D97-AF65-F5344CB8AC3E}">
        <p14:creationId xmlns:p14="http://schemas.microsoft.com/office/powerpoint/2010/main" val="20139607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9000" b="-109000"/>
          </a:stretch>
        </a:blipFill>
        <a:effectLst/>
      </p:bgPr>
    </p:bg>
    <p:spTree>
      <p:nvGrpSpPr>
        <p:cNvPr id="1" name="">
          <a:extLst>
            <a:ext uri="{FF2B5EF4-FFF2-40B4-BE49-F238E27FC236}">
              <a16:creationId xmlns:a16="http://schemas.microsoft.com/office/drawing/2014/main" id="{7C83FBDC-DDB0-F8C3-2A63-46ED79F38761}"/>
            </a:ext>
          </a:extLst>
        </p:cNvPr>
        <p:cNvGrpSpPr/>
        <p:nvPr/>
      </p:nvGrpSpPr>
      <p:grpSpPr>
        <a:xfrm>
          <a:off x="0" y="0"/>
          <a:ext cx="0" cy="0"/>
          <a:chOff x="0" y="0"/>
          <a:chExt cx="0" cy="0"/>
        </a:xfrm>
      </p:grpSpPr>
      <p:grpSp>
        <p:nvGrpSpPr>
          <p:cNvPr id="44" name="Group 43">
            <a:extLst>
              <a:ext uri="{FF2B5EF4-FFF2-40B4-BE49-F238E27FC236}">
                <a16:creationId xmlns:a16="http://schemas.microsoft.com/office/drawing/2014/main" id="{984359F6-70A4-A75D-1792-ACD846192580}"/>
              </a:ext>
            </a:extLst>
          </p:cNvPr>
          <p:cNvGrpSpPr/>
          <p:nvPr/>
        </p:nvGrpSpPr>
        <p:grpSpPr>
          <a:xfrm>
            <a:off x="108103" y="-2536061"/>
            <a:ext cx="4590873" cy="15855333"/>
            <a:chOff x="-693173" y="-4054166"/>
            <a:chExt cx="4590873" cy="15855333"/>
          </a:xfrm>
        </p:grpSpPr>
        <p:sp>
          <p:nvSpPr>
            <p:cNvPr id="16" name="Hexagon 15">
              <a:extLst>
                <a:ext uri="{FF2B5EF4-FFF2-40B4-BE49-F238E27FC236}">
                  <a16:creationId xmlns:a16="http://schemas.microsoft.com/office/drawing/2014/main" id="{EB79EB6C-70AE-D9B4-310C-A32AE61A3F47}"/>
                </a:ext>
              </a:extLst>
            </p:cNvPr>
            <p:cNvSpPr/>
            <p:nvPr/>
          </p:nvSpPr>
          <p:spPr>
            <a:xfrm>
              <a:off x="2620293" y="493579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grpSp>
          <p:nvGrpSpPr>
            <p:cNvPr id="43" name="Group 42">
              <a:extLst>
                <a:ext uri="{FF2B5EF4-FFF2-40B4-BE49-F238E27FC236}">
                  <a16:creationId xmlns:a16="http://schemas.microsoft.com/office/drawing/2014/main" id="{D6ED225E-F1FF-B4B4-0601-DF5D4BE5226B}"/>
                </a:ext>
              </a:extLst>
            </p:cNvPr>
            <p:cNvGrpSpPr/>
            <p:nvPr/>
          </p:nvGrpSpPr>
          <p:grpSpPr>
            <a:xfrm>
              <a:off x="-693173" y="-3503559"/>
              <a:ext cx="4300821" cy="15304726"/>
              <a:chOff x="-693173" y="-3503559"/>
              <a:chExt cx="4300821" cy="15304726"/>
            </a:xfrm>
          </p:grpSpPr>
          <p:sp>
            <p:nvSpPr>
              <p:cNvPr id="4" name="Hexagon 3">
                <a:extLst>
                  <a:ext uri="{FF2B5EF4-FFF2-40B4-BE49-F238E27FC236}">
                    <a16:creationId xmlns:a16="http://schemas.microsoft.com/office/drawing/2014/main" id="{C28D4BBF-3494-A2DC-F9D7-7D90F6181C13}"/>
                  </a:ext>
                </a:extLst>
              </p:cNvPr>
              <p:cNvSpPr/>
              <p:nvPr/>
            </p:nvSpPr>
            <p:spPr>
              <a:xfrm>
                <a:off x="314632" y="218276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6" name="Hexagon 5">
                <a:extLst>
                  <a:ext uri="{FF2B5EF4-FFF2-40B4-BE49-F238E27FC236}">
                    <a16:creationId xmlns:a16="http://schemas.microsoft.com/office/drawing/2014/main" id="{E152EF5C-399E-26AF-6506-4C37EC436BB3}"/>
                  </a:ext>
                </a:extLst>
              </p:cNvPr>
              <p:cNvSpPr/>
              <p:nvPr/>
            </p:nvSpPr>
            <p:spPr>
              <a:xfrm>
                <a:off x="1322438" y="273336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7" name="Hexagon 6">
                <a:extLst>
                  <a:ext uri="{FF2B5EF4-FFF2-40B4-BE49-F238E27FC236}">
                    <a16:creationId xmlns:a16="http://schemas.microsoft.com/office/drawing/2014/main" id="{C128DB5D-2A02-7D0A-551B-9A51AFB8CA99}"/>
                  </a:ext>
                </a:extLst>
              </p:cNvPr>
              <p:cNvSpPr/>
              <p:nvPr/>
            </p:nvSpPr>
            <p:spPr>
              <a:xfrm>
                <a:off x="604684" y="3834580"/>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8" name="Hexagon 7">
                <a:extLst>
                  <a:ext uri="{FF2B5EF4-FFF2-40B4-BE49-F238E27FC236}">
                    <a16:creationId xmlns:a16="http://schemas.microsoft.com/office/drawing/2014/main" id="{0E1C3105-BA90-0486-FDCB-6BA27B9D1947}"/>
                  </a:ext>
                </a:extLst>
              </p:cNvPr>
              <p:cNvSpPr/>
              <p:nvPr/>
            </p:nvSpPr>
            <p:spPr>
              <a:xfrm>
                <a:off x="1322437" y="163215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9" name="Hexagon 8">
                <a:extLst>
                  <a:ext uri="{FF2B5EF4-FFF2-40B4-BE49-F238E27FC236}">
                    <a16:creationId xmlns:a16="http://schemas.microsoft.com/office/drawing/2014/main" id="{D21B94D0-1631-7BB2-74F1-73D195285DDA}"/>
                  </a:ext>
                </a:extLst>
              </p:cNvPr>
              <p:cNvSpPr/>
              <p:nvPr/>
            </p:nvSpPr>
            <p:spPr>
              <a:xfrm>
                <a:off x="1322436" y="53094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0" name="Hexagon 9">
                <a:extLst>
                  <a:ext uri="{FF2B5EF4-FFF2-40B4-BE49-F238E27FC236}">
                    <a16:creationId xmlns:a16="http://schemas.microsoft.com/office/drawing/2014/main" id="{AF23B556-20A3-023D-8CF0-2013A0FE2F27}"/>
                  </a:ext>
                </a:extLst>
              </p:cNvPr>
              <p:cNvSpPr/>
              <p:nvPr/>
            </p:nvSpPr>
            <p:spPr>
              <a:xfrm>
                <a:off x="2330241" y="10815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1" name="Hexagon 10">
                <a:extLst>
                  <a:ext uri="{FF2B5EF4-FFF2-40B4-BE49-F238E27FC236}">
                    <a16:creationId xmlns:a16="http://schemas.microsoft.com/office/drawing/2014/main" id="{51130B3D-5C8D-C568-9766-3F08522B248E}"/>
                  </a:ext>
                </a:extLst>
              </p:cNvPr>
              <p:cNvSpPr/>
              <p:nvPr/>
            </p:nvSpPr>
            <p:spPr>
              <a:xfrm>
                <a:off x="604684" y="60370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2" name="Hexagon 11">
                <a:extLst>
                  <a:ext uri="{FF2B5EF4-FFF2-40B4-BE49-F238E27FC236}">
                    <a16:creationId xmlns:a16="http://schemas.microsoft.com/office/drawing/2014/main" id="{3D1F36E9-7E91-9FC3-1CCF-BD03E7D54B51}"/>
                  </a:ext>
                </a:extLst>
              </p:cNvPr>
              <p:cNvSpPr/>
              <p:nvPr/>
            </p:nvSpPr>
            <p:spPr>
              <a:xfrm>
                <a:off x="1612490" y="65876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3" name="Hexagon 12">
                <a:extLst>
                  <a:ext uri="{FF2B5EF4-FFF2-40B4-BE49-F238E27FC236}">
                    <a16:creationId xmlns:a16="http://schemas.microsoft.com/office/drawing/2014/main" id="{F5F412BE-19CC-0BF0-7A9D-F5D76793E7C0}"/>
                  </a:ext>
                </a:extLst>
              </p:cNvPr>
              <p:cNvSpPr/>
              <p:nvPr/>
            </p:nvSpPr>
            <p:spPr>
              <a:xfrm>
                <a:off x="894736" y="768882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4" name="Hexagon 13">
                <a:extLst>
                  <a:ext uri="{FF2B5EF4-FFF2-40B4-BE49-F238E27FC236}">
                    <a16:creationId xmlns:a16="http://schemas.microsoft.com/office/drawing/2014/main" id="{86E93B12-F3E3-AE69-78EA-C0FCD7EC0D79}"/>
                  </a:ext>
                </a:extLst>
              </p:cNvPr>
              <p:cNvSpPr/>
              <p:nvPr/>
            </p:nvSpPr>
            <p:spPr>
              <a:xfrm>
                <a:off x="1612489" y="54863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5" name="Hexagon 14">
                <a:extLst>
                  <a:ext uri="{FF2B5EF4-FFF2-40B4-BE49-F238E27FC236}">
                    <a16:creationId xmlns:a16="http://schemas.microsoft.com/office/drawing/2014/main" id="{6B85BED6-2496-B3FC-CC0B-CFAA8F65C924}"/>
                  </a:ext>
                </a:extLst>
              </p:cNvPr>
              <p:cNvSpPr/>
              <p:nvPr/>
            </p:nvSpPr>
            <p:spPr>
              <a:xfrm>
                <a:off x="1612488" y="438518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29" name="Hexagon 28">
                <a:extLst>
                  <a:ext uri="{FF2B5EF4-FFF2-40B4-BE49-F238E27FC236}">
                    <a16:creationId xmlns:a16="http://schemas.microsoft.com/office/drawing/2014/main" id="{8DDD9E1C-7028-EEDB-E2E5-C46A61952876}"/>
                  </a:ext>
                </a:extLst>
              </p:cNvPr>
              <p:cNvSpPr/>
              <p:nvPr/>
            </p:nvSpPr>
            <p:spPr>
              <a:xfrm>
                <a:off x="-693173" y="45310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0" name="Hexagon 29">
                <a:extLst>
                  <a:ext uri="{FF2B5EF4-FFF2-40B4-BE49-F238E27FC236}">
                    <a16:creationId xmlns:a16="http://schemas.microsoft.com/office/drawing/2014/main" id="{3994C5F7-B711-B3B1-E2CA-24CDFB15B214}"/>
                  </a:ext>
                </a:extLst>
              </p:cNvPr>
              <p:cNvSpPr/>
              <p:nvPr/>
            </p:nvSpPr>
            <p:spPr>
              <a:xfrm>
                <a:off x="314632" y="-975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1" name="Hexagon 30">
                <a:extLst>
                  <a:ext uri="{FF2B5EF4-FFF2-40B4-BE49-F238E27FC236}">
                    <a16:creationId xmlns:a16="http://schemas.microsoft.com/office/drawing/2014/main" id="{DF90136D-6C7B-D4B3-F52D-6D3DF036D308}"/>
                  </a:ext>
                </a:extLst>
              </p:cNvPr>
              <p:cNvSpPr/>
              <p:nvPr/>
            </p:nvSpPr>
            <p:spPr>
              <a:xfrm>
                <a:off x="314631" y="-119871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2" name="Hexagon 31">
                <a:extLst>
                  <a:ext uri="{FF2B5EF4-FFF2-40B4-BE49-F238E27FC236}">
                    <a16:creationId xmlns:a16="http://schemas.microsoft.com/office/drawing/2014/main" id="{8D21D9F5-6718-7C48-9365-6B51518A0249}"/>
                  </a:ext>
                </a:extLst>
              </p:cNvPr>
              <p:cNvSpPr/>
              <p:nvPr/>
            </p:nvSpPr>
            <p:spPr>
              <a:xfrm>
                <a:off x="1322436" y="-648113"/>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3" name="Hexagon 32">
                <a:extLst>
                  <a:ext uri="{FF2B5EF4-FFF2-40B4-BE49-F238E27FC236}">
                    <a16:creationId xmlns:a16="http://schemas.microsoft.com/office/drawing/2014/main" id="{47962BA4-2E9E-0952-BA19-CB30E8967377}"/>
                  </a:ext>
                </a:extLst>
              </p:cNvPr>
              <p:cNvSpPr/>
              <p:nvPr/>
            </p:nvSpPr>
            <p:spPr>
              <a:xfrm>
                <a:off x="1981590" y="1069995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4" name="Hexagon 33">
                <a:extLst>
                  <a:ext uri="{FF2B5EF4-FFF2-40B4-BE49-F238E27FC236}">
                    <a16:creationId xmlns:a16="http://schemas.microsoft.com/office/drawing/2014/main" id="{9F35EEBF-AFA3-6D79-F2BE-2FE0D224F838}"/>
                  </a:ext>
                </a:extLst>
              </p:cNvPr>
              <p:cNvSpPr/>
              <p:nvPr/>
            </p:nvSpPr>
            <p:spPr>
              <a:xfrm>
                <a:off x="1981589" y="955039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5" name="Hexagon 34">
                <a:extLst>
                  <a:ext uri="{FF2B5EF4-FFF2-40B4-BE49-F238E27FC236}">
                    <a16:creationId xmlns:a16="http://schemas.microsoft.com/office/drawing/2014/main" id="{2290E52C-5B4B-A870-81AD-4E121BA9BEF7}"/>
                  </a:ext>
                </a:extLst>
              </p:cNvPr>
              <p:cNvSpPr/>
              <p:nvPr/>
            </p:nvSpPr>
            <p:spPr>
              <a:xfrm>
                <a:off x="-252788" y="95610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6" name="Hexagon 35">
                <a:extLst>
                  <a:ext uri="{FF2B5EF4-FFF2-40B4-BE49-F238E27FC236}">
                    <a16:creationId xmlns:a16="http://schemas.microsoft.com/office/drawing/2014/main" id="{36586304-6F33-6C8D-FCD2-1D3373F88191}"/>
                  </a:ext>
                </a:extLst>
              </p:cNvPr>
              <p:cNvSpPr/>
              <p:nvPr/>
            </p:nvSpPr>
            <p:spPr>
              <a:xfrm>
                <a:off x="894735" y="890515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7" name="Hexagon 36">
                <a:extLst>
                  <a:ext uri="{FF2B5EF4-FFF2-40B4-BE49-F238E27FC236}">
                    <a16:creationId xmlns:a16="http://schemas.microsoft.com/office/drawing/2014/main" id="{C50AF483-592B-2AE1-6888-C717A998F32F}"/>
                  </a:ext>
                </a:extLst>
              </p:cNvPr>
              <p:cNvSpPr/>
              <p:nvPr/>
            </p:nvSpPr>
            <p:spPr>
              <a:xfrm>
                <a:off x="1981589" y="8354548"/>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8" name="Hexagon 37">
                <a:extLst>
                  <a:ext uri="{FF2B5EF4-FFF2-40B4-BE49-F238E27FC236}">
                    <a16:creationId xmlns:a16="http://schemas.microsoft.com/office/drawing/2014/main" id="{CB230229-74C5-2DD5-8F1D-7227328812DC}"/>
                  </a:ext>
                </a:extLst>
              </p:cNvPr>
              <p:cNvSpPr/>
              <p:nvPr/>
            </p:nvSpPr>
            <p:spPr>
              <a:xfrm>
                <a:off x="1342886" y="-17738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sp>
            <p:nvSpPr>
              <p:cNvPr id="39" name="Hexagon 38">
                <a:extLst>
                  <a:ext uri="{FF2B5EF4-FFF2-40B4-BE49-F238E27FC236}">
                    <a16:creationId xmlns:a16="http://schemas.microsoft.com/office/drawing/2014/main" id="{65B9BF94-8C7C-D6EF-3E64-007207D0638F}"/>
                  </a:ext>
                </a:extLst>
              </p:cNvPr>
              <p:cNvSpPr/>
              <p:nvPr/>
            </p:nvSpPr>
            <p:spPr>
              <a:xfrm>
                <a:off x="1342886" y="-28751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40" name="Hexagon 39">
                <a:extLst>
                  <a:ext uri="{FF2B5EF4-FFF2-40B4-BE49-F238E27FC236}">
                    <a16:creationId xmlns:a16="http://schemas.microsoft.com/office/drawing/2014/main" id="{4A42F8E8-F17E-33F7-A498-CF168FD54FC2}"/>
                  </a:ext>
                </a:extLst>
              </p:cNvPr>
              <p:cNvSpPr/>
              <p:nvPr/>
            </p:nvSpPr>
            <p:spPr>
              <a:xfrm>
                <a:off x="-672723" y="-295295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41" name="Hexagon 40">
                <a:extLst>
                  <a:ext uri="{FF2B5EF4-FFF2-40B4-BE49-F238E27FC236}">
                    <a16:creationId xmlns:a16="http://schemas.microsoft.com/office/drawing/2014/main" id="{9F413E9A-07B2-041F-BB94-594D97227A1C}"/>
                  </a:ext>
                </a:extLst>
              </p:cNvPr>
              <p:cNvSpPr/>
              <p:nvPr/>
            </p:nvSpPr>
            <p:spPr>
              <a:xfrm>
                <a:off x="335082" y="-350355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grpSp>
        <p:sp>
          <p:nvSpPr>
            <p:cNvPr id="42" name="Hexagon 41">
              <a:extLst>
                <a:ext uri="{FF2B5EF4-FFF2-40B4-BE49-F238E27FC236}">
                  <a16:creationId xmlns:a16="http://schemas.microsoft.com/office/drawing/2014/main" id="{E601EC70-DB8B-33F9-16FB-37EA48E47062}"/>
                </a:ext>
              </a:extLst>
            </p:cNvPr>
            <p:cNvSpPr/>
            <p:nvPr/>
          </p:nvSpPr>
          <p:spPr>
            <a:xfrm>
              <a:off x="1342886" y="-405416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grpSp>
      <p:pic>
        <p:nvPicPr>
          <p:cNvPr id="46" name="Graphic 45" descr="Employee badge with solid fill">
            <a:extLst>
              <a:ext uri="{FF2B5EF4-FFF2-40B4-BE49-F238E27FC236}">
                <a16:creationId xmlns:a16="http://schemas.microsoft.com/office/drawing/2014/main" id="{4782628E-3183-8C40-2753-989CA6832C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07598" y="-2301715"/>
            <a:ext cx="763027" cy="763027"/>
          </a:xfrm>
          <a:prstGeom prst="rect">
            <a:avLst/>
          </a:prstGeom>
        </p:spPr>
      </p:pic>
      <p:pic>
        <p:nvPicPr>
          <p:cNvPr id="52" name="Graphic 51" descr="Bullseye with solid fill">
            <a:extLst>
              <a:ext uri="{FF2B5EF4-FFF2-40B4-BE49-F238E27FC236}">
                <a16:creationId xmlns:a16="http://schemas.microsoft.com/office/drawing/2014/main" id="{9A22E187-8B7B-D998-7321-9D3B0B9C92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34714" y="-1240253"/>
            <a:ext cx="914400" cy="914400"/>
          </a:xfrm>
          <a:prstGeom prst="rect">
            <a:avLst/>
          </a:prstGeom>
        </p:spPr>
      </p:pic>
      <p:pic>
        <p:nvPicPr>
          <p:cNvPr id="69" name="Graphic 68" descr="Earth globe: Americas with solid fill">
            <a:extLst>
              <a:ext uri="{FF2B5EF4-FFF2-40B4-BE49-F238E27FC236}">
                <a16:creationId xmlns:a16="http://schemas.microsoft.com/office/drawing/2014/main" id="{C32BF47B-1478-E427-7CB1-797CB9204B7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305215" y="-104379"/>
            <a:ext cx="914400" cy="914400"/>
          </a:xfrm>
          <a:prstGeom prst="rect">
            <a:avLst/>
          </a:prstGeom>
        </p:spPr>
      </p:pic>
      <p:pic>
        <p:nvPicPr>
          <p:cNvPr id="135" name="Graphic 134" descr="Dollar with solid fill">
            <a:extLst>
              <a:ext uri="{FF2B5EF4-FFF2-40B4-BE49-F238E27FC236}">
                <a16:creationId xmlns:a16="http://schemas.microsoft.com/office/drawing/2014/main" id="{39ACC4CA-3C48-E357-5922-21962799932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334714" y="991666"/>
            <a:ext cx="914400" cy="914400"/>
          </a:xfrm>
          <a:prstGeom prst="rect">
            <a:avLst/>
          </a:prstGeom>
        </p:spPr>
      </p:pic>
      <p:sp>
        <p:nvSpPr>
          <p:cNvPr id="2" name="Text 0">
            <a:extLst>
              <a:ext uri="{FF2B5EF4-FFF2-40B4-BE49-F238E27FC236}">
                <a16:creationId xmlns:a16="http://schemas.microsoft.com/office/drawing/2014/main" id="{9AC19455-FE0B-B531-99F8-E1497B576E55}"/>
              </a:ext>
            </a:extLst>
          </p:cNvPr>
          <p:cNvSpPr/>
          <p:nvPr/>
        </p:nvSpPr>
        <p:spPr>
          <a:xfrm rot="10800000" flipV="1">
            <a:off x="4162879" y="224942"/>
            <a:ext cx="7971331" cy="452225"/>
          </a:xfrm>
          <a:prstGeom prst="rect">
            <a:avLst/>
          </a:prstGeom>
          <a:noFill/>
          <a:ln/>
        </p:spPr>
        <p:txBody>
          <a:bodyPr wrap="none" lIns="0" tIns="0" rIns="0" bIns="0" rtlCol="0" anchor="t"/>
          <a:lstStyle/>
          <a:p>
            <a:pPr marL="0" indent="0" algn="r" rtl="1">
              <a:lnSpc>
                <a:spcPts val="4600"/>
              </a:lnSpc>
              <a:buNone/>
            </a:pPr>
            <a:r>
              <a:rPr lang="en-US" sz="3650" b="1" dirty="0">
                <a:solidFill>
                  <a:schemeClr val="bg2"/>
                </a:solidFill>
                <a:latin typeface="Inter Bold" pitchFamily="34" charset="0"/>
                <a:ea typeface="Inter Bold" pitchFamily="34" charset="-122"/>
                <a:cs typeface="B Nazanin" panose="00000400000000000000" pitchFamily="2" charset="-78"/>
              </a:rPr>
              <a:t>اتحاد جماهیر شوروی: تأمین تسلیحات و </a:t>
            </a:r>
            <a:r>
              <a:rPr lang="en-US" sz="2800" b="1" dirty="0">
                <a:solidFill>
                  <a:schemeClr val="bg2"/>
                </a:solidFill>
                <a:latin typeface="Inter Bold" pitchFamily="34" charset="0"/>
                <a:ea typeface="Inter Bold" pitchFamily="34" charset="-122"/>
                <a:cs typeface="B Nazanin" panose="00000400000000000000" pitchFamily="2" charset="-78"/>
              </a:rPr>
              <a:t>پشتیبانی</a:t>
            </a:r>
            <a:r>
              <a:rPr lang="en-US" sz="3650" b="1" dirty="0">
                <a:solidFill>
                  <a:schemeClr val="bg2"/>
                </a:solidFill>
                <a:latin typeface="Inter Bold" pitchFamily="34" charset="0"/>
                <a:ea typeface="Inter Bold" pitchFamily="34" charset="-122"/>
                <a:cs typeface="B Nazanin" panose="00000400000000000000" pitchFamily="2" charset="-78"/>
              </a:rPr>
              <a:t> نظامی</a:t>
            </a:r>
            <a:endParaRPr lang="en-US" sz="3650" dirty="0">
              <a:solidFill>
                <a:schemeClr val="bg2"/>
              </a:solidFill>
              <a:cs typeface="B Nazanin" panose="00000400000000000000" pitchFamily="2" charset="-78"/>
            </a:endParaRPr>
          </a:p>
        </p:txBody>
      </p:sp>
      <p:sp>
        <p:nvSpPr>
          <p:cNvPr id="3" name="Text 1">
            <a:extLst>
              <a:ext uri="{FF2B5EF4-FFF2-40B4-BE49-F238E27FC236}">
                <a16:creationId xmlns:a16="http://schemas.microsoft.com/office/drawing/2014/main" id="{DD80FD18-2FAB-41BD-0517-AF41846138C1}"/>
              </a:ext>
            </a:extLst>
          </p:cNvPr>
          <p:cNvSpPr/>
          <p:nvPr/>
        </p:nvSpPr>
        <p:spPr>
          <a:xfrm rot="10800000" flipV="1">
            <a:off x="1625718" y="983834"/>
            <a:ext cx="10152928" cy="462995"/>
          </a:xfrm>
          <a:prstGeom prst="rect">
            <a:avLst/>
          </a:prstGeom>
          <a:noFill/>
          <a:ln/>
        </p:spPr>
        <p:txBody>
          <a:bodyPr wrap="square" lIns="0" tIns="0" rIns="0" bIns="0" rtlCol="0" anchor="t"/>
          <a:lstStyle/>
          <a:p>
            <a:pPr marL="0" indent="0" algn="r" rtl="1">
              <a:lnSpc>
                <a:spcPts val="2350"/>
              </a:lnSpc>
              <a:buNone/>
            </a:pPr>
            <a:r>
              <a:rPr lang="en-US" sz="1450" dirty="0">
                <a:solidFill>
                  <a:schemeClr val="bg2"/>
                </a:solidFill>
                <a:latin typeface="Inter" pitchFamily="34" charset="0"/>
                <a:ea typeface="Inter" pitchFamily="34" charset="-122"/>
                <a:cs typeface="B Nazanin" panose="00000400000000000000" pitchFamily="2" charset="-78"/>
              </a:rPr>
              <a:t>اتحاد جماهیر شوروی به عنوان دیگر ابرقدرت جهان، </a:t>
            </a:r>
            <a:r>
              <a:rPr lang="en-US" sz="1450" dirty="0" err="1">
                <a:solidFill>
                  <a:schemeClr val="bg2"/>
                </a:solidFill>
                <a:latin typeface="Inter" pitchFamily="34" charset="0"/>
                <a:ea typeface="Inter" pitchFamily="34" charset="-122"/>
                <a:cs typeface="B Nazanin" panose="00000400000000000000" pitchFamily="2" charset="-78"/>
              </a:rPr>
              <a:t>بزرگ‌ترین</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تأمین‌کننده</a:t>
            </a:r>
            <a:endParaRPr lang="en-US" sz="1450" dirty="0">
              <a:solidFill>
                <a:schemeClr val="bg2"/>
              </a:solidFill>
              <a:latin typeface="Inter" pitchFamily="34" charset="0"/>
              <a:ea typeface="Inter" pitchFamily="34" charset="-122"/>
              <a:cs typeface="B Nazanin" panose="00000400000000000000" pitchFamily="2" charset="-78"/>
            </a:endParaRPr>
          </a:p>
          <a:p>
            <a:pPr marL="0" indent="0" algn="r" rtl="1">
              <a:lnSpc>
                <a:spcPts val="2350"/>
              </a:lnSpc>
              <a:buNone/>
            </a:pPr>
            <a:r>
              <a:rPr lang="en-US" sz="1450" dirty="0">
                <a:solidFill>
                  <a:schemeClr val="bg2"/>
                </a:solidFill>
                <a:latin typeface="Inter" pitchFamily="34" charset="0"/>
                <a:ea typeface="Inter" pitchFamily="34" charset="-122"/>
                <a:cs typeface="B Nazanin" panose="00000400000000000000" pitchFamily="2" charset="-78"/>
              </a:rPr>
              <a:t> تسلیحات عراق در طول جنگ بود. این کشور که </a:t>
            </a:r>
            <a:r>
              <a:rPr lang="en-US" sz="1450" dirty="0" err="1">
                <a:solidFill>
                  <a:schemeClr val="bg2"/>
                </a:solidFill>
                <a:latin typeface="Inter" pitchFamily="34" charset="0"/>
                <a:ea typeface="Inter" pitchFamily="34" charset="-122"/>
                <a:cs typeface="B Nazanin" panose="00000400000000000000" pitchFamily="2" charset="-78"/>
              </a:rPr>
              <a:t>رابطه</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نزدیکی</a:t>
            </a:r>
            <a:endParaRPr lang="en-US" sz="1450" dirty="0">
              <a:solidFill>
                <a:schemeClr val="bg2"/>
              </a:solidFill>
              <a:latin typeface="Inter" pitchFamily="34" charset="0"/>
              <a:ea typeface="Inter" pitchFamily="34" charset="-122"/>
              <a:cs typeface="B Nazanin" panose="00000400000000000000" pitchFamily="2" charset="-78"/>
            </a:endParaRPr>
          </a:p>
          <a:p>
            <a:pPr marL="0" indent="0" algn="r" rtl="1">
              <a:lnSpc>
                <a:spcPts val="2350"/>
              </a:lnSpc>
              <a:buNone/>
            </a:pPr>
            <a:r>
              <a:rPr lang="en-US" sz="1450" dirty="0">
                <a:solidFill>
                  <a:schemeClr val="bg2"/>
                </a:solidFill>
                <a:latin typeface="Inter" pitchFamily="34" charset="0"/>
                <a:ea typeface="Inter" pitchFamily="34" charset="-122"/>
                <a:cs typeface="B Nazanin" panose="00000400000000000000" pitchFamily="2" charset="-78"/>
              </a:rPr>
              <a:t> با رژیم بعث عراق داشت، با فروش گسترده تسلیحات پیشرفته، نقش بسزایی در تداوم جنگ ایفا کرد.</a:t>
            </a:r>
            <a:endParaRPr lang="en-US" sz="1450" dirty="0">
              <a:solidFill>
                <a:schemeClr val="bg2"/>
              </a:solidFill>
              <a:cs typeface="B Nazanin" panose="00000400000000000000" pitchFamily="2" charset="-78"/>
            </a:endParaRPr>
          </a:p>
        </p:txBody>
      </p:sp>
      <p:pic>
        <p:nvPicPr>
          <p:cNvPr id="5" name="Image 0" descr="preencoded.png">
            <a:extLst>
              <a:ext uri="{FF2B5EF4-FFF2-40B4-BE49-F238E27FC236}">
                <a16:creationId xmlns:a16="http://schemas.microsoft.com/office/drawing/2014/main" id="{29EF561C-E8E2-C3F6-0305-E4279D0986E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0800000" flipV="1">
            <a:off x="11598337" y="2280799"/>
            <a:ext cx="434184" cy="434184"/>
          </a:xfrm>
          <a:prstGeom prst="rect">
            <a:avLst/>
          </a:prstGeom>
        </p:spPr>
      </p:pic>
      <p:sp>
        <p:nvSpPr>
          <p:cNvPr id="17" name="Text 2">
            <a:extLst>
              <a:ext uri="{FF2B5EF4-FFF2-40B4-BE49-F238E27FC236}">
                <a16:creationId xmlns:a16="http://schemas.microsoft.com/office/drawing/2014/main" id="{3E3E80DD-BA25-52D3-73CF-51F745DE6C9E}"/>
              </a:ext>
            </a:extLst>
          </p:cNvPr>
          <p:cNvSpPr/>
          <p:nvPr/>
        </p:nvSpPr>
        <p:spPr>
          <a:xfrm rot="10800000" flipV="1">
            <a:off x="9765291" y="2386568"/>
            <a:ext cx="1809084" cy="226066"/>
          </a:xfrm>
          <a:prstGeom prst="rect">
            <a:avLst/>
          </a:prstGeom>
          <a:noFill/>
          <a:ln/>
        </p:spPr>
        <p:txBody>
          <a:bodyPr wrap="none" lIns="0" tIns="0" rIns="0" bIns="0" rtlCol="0" anchor="t"/>
          <a:lstStyle/>
          <a:p>
            <a:pPr marL="0" indent="0" algn="r" rtl="1">
              <a:lnSpc>
                <a:spcPts val="2300"/>
              </a:lnSpc>
              <a:buNone/>
            </a:pPr>
            <a:r>
              <a:rPr lang="en-US" sz="1800" b="1" dirty="0">
                <a:solidFill>
                  <a:schemeClr val="bg2"/>
                </a:solidFill>
                <a:latin typeface="Inter Bold" pitchFamily="34" charset="0"/>
                <a:ea typeface="Inter Bold" pitchFamily="34" charset="-122"/>
                <a:cs typeface="B Nazanin" panose="00000400000000000000" pitchFamily="2" charset="-78"/>
              </a:rPr>
              <a:t>تسلیحات زمینی</a:t>
            </a:r>
            <a:endParaRPr lang="en-US" sz="1800" dirty="0">
              <a:solidFill>
                <a:schemeClr val="bg2"/>
              </a:solidFill>
              <a:cs typeface="B Nazanin" panose="00000400000000000000" pitchFamily="2" charset="-78"/>
            </a:endParaRPr>
          </a:p>
        </p:txBody>
      </p:sp>
      <p:sp>
        <p:nvSpPr>
          <p:cNvPr id="18" name="Text 3">
            <a:extLst>
              <a:ext uri="{FF2B5EF4-FFF2-40B4-BE49-F238E27FC236}">
                <a16:creationId xmlns:a16="http://schemas.microsoft.com/office/drawing/2014/main" id="{6F9227C0-D33A-CC28-0A0D-0389D2C51E4F}"/>
              </a:ext>
            </a:extLst>
          </p:cNvPr>
          <p:cNvSpPr/>
          <p:nvPr/>
        </p:nvSpPr>
        <p:spPr>
          <a:xfrm rot="10800000" flipV="1">
            <a:off x="7116650" y="2929371"/>
            <a:ext cx="2172130" cy="1157486"/>
          </a:xfrm>
          <a:prstGeom prst="rect">
            <a:avLst/>
          </a:prstGeom>
          <a:noFill/>
          <a:ln/>
        </p:spPr>
        <p:txBody>
          <a:bodyPr wrap="square" lIns="0" tIns="0" rIns="0" bIns="0" rtlCol="0" anchor="t"/>
          <a:lstStyle/>
          <a:p>
            <a:pPr algn="r" rtl="1">
              <a:lnSpc>
                <a:spcPts val="2350"/>
              </a:lnSpc>
            </a:pPr>
            <a:r>
              <a:rPr lang="en-US" sz="1450" dirty="0" err="1">
                <a:solidFill>
                  <a:schemeClr val="bg2"/>
                </a:solidFill>
                <a:latin typeface="Inter" pitchFamily="34" charset="0"/>
                <a:ea typeface="Inter" pitchFamily="34" charset="-122"/>
                <a:cs typeface="B Nazanin" panose="00000400000000000000" pitchFamily="2" charset="-78"/>
              </a:rPr>
              <a:t>صدها</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فروند</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جنگنده</a:t>
            </a:r>
            <a:r>
              <a:rPr lang="en-US" sz="1450" dirty="0">
                <a:solidFill>
                  <a:schemeClr val="bg2"/>
                </a:solidFill>
                <a:latin typeface="Inter" pitchFamily="34" charset="0"/>
                <a:ea typeface="Inter" pitchFamily="34" charset="-122"/>
                <a:cs typeface="B Nazanin" panose="00000400000000000000" pitchFamily="2" charset="-78"/>
              </a:rPr>
              <a:t> میگ-۲۱، میگ-۲۳، میگ-۲۵ و میگ-۲۹، </a:t>
            </a:r>
            <a:r>
              <a:rPr lang="en-US" sz="1450" dirty="0" err="1">
                <a:solidFill>
                  <a:schemeClr val="bg2"/>
                </a:solidFill>
                <a:latin typeface="Inter" pitchFamily="34" charset="0"/>
                <a:ea typeface="Inter" pitchFamily="34" charset="-122"/>
                <a:cs typeface="B Nazanin" panose="00000400000000000000" pitchFamily="2" charset="-78"/>
              </a:rPr>
              <a:t>بالگردهای</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حمله‌ور</a:t>
            </a:r>
            <a:r>
              <a:rPr lang="en-US" sz="1450" dirty="0">
                <a:solidFill>
                  <a:schemeClr val="bg2"/>
                </a:solidFill>
                <a:latin typeface="Inter" pitchFamily="34" charset="0"/>
                <a:ea typeface="Inter" pitchFamily="34" charset="-122"/>
                <a:cs typeface="B Nazanin" panose="00000400000000000000" pitchFamily="2" charset="-78"/>
              </a:rPr>
              <a:t> Mi-24، </a:t>
            </a:r>
            <a:r>
              <a:rPr lang="en-US" sz="1450" dirty="0" err="1">
                <a:solidFill>
                  <a:schemeClr val="bg2"/>
                </a:solidFill>
                <a:latin typeface="Inter" pitchFamily="34" charset="0"/>
                <a:ea typeface="Inter" pitchFamily="34" charset="-122"/>
                <a:cs typeface="B Nazanin" panose="00000400000000000000" pitchFamily="2" charset="-78"/>
              </a:rPr>
              <a:t>هواپیماهای</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بمب‌افکن</a:t>
            </a:r>
            <a:r>
              <a:rPr lang="en-US" sz="1450" dirty="0">
                <a:solidFill>
                  <a:schemeClr val="bg2"/>
                </a:solidFill>
                <a:latin typeface="Inter" pitchFamily="34" charset="0"/>
                <a:ea typeface="Inter" pitchFamily="34" charset="-122"/>
                <a:cs typeface="B Nazanin" panose="00000400000000000000" pitchFamily="2" charset="-78"/>
              </a:rPr>
              <a:t> Su-22 و Su-25 و </a:t>
            </a:r>
            <a:r>
              <a:rPr lang="en-US" sz="1450" dirty="0" err="1">
                <a:solidFill>
                  <a:schemeClr val="bg2"/>
                </a:solidFill>
                <a:latin typeface="Inter" pitchFamily="34" charset="0"/>
                <a:ea typeface="Inter" pitchFamily="34" charset="-122"/>
                <a:cs typeface="B Nazanin" panose="00000400000000000000" pitchFamily="2" charset="-78"/>
              </a:rPr>
              <a:t>سامانه‌های</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دفاع</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هوایی</a:t>
            </a:r>
            <a:r>
              <a:rPr lang="en-US" sz="1450" dirty="0">
                <a:solidFill>
                  <a:schemeClr val="bg2"/>
                </a:solidFill>
                <a:latin typeface="Inter" pitchFamily="34" charset="0"/>
                <a:ea typeface="Inter" pitchFamily="34" charset="-122"/>
                <a:cs typeface="B Nazanin" panose="00000400000000000000" pitchFamily="2" charset="-78"/>
              </a:rPr>
              <a:t> SA-2، SA-3 و SA-6 </a:t>
            </a:r>
            <a:r>
              <a:rPr lang="en-US" sz="1450" dirty="0" err="1">
                <a:solidFill>
                  <a:schemeClr val="bg2"/>
                </a:solidFill>
                <a:latin typeface="Inter" pitchFamily="34" charset="0"/>
                <a:ea typeface="Inter" pitchFamily="34" charset="-122"/>
                <a:cs typeface="B Nazanin" panose="00000400000000000000" pitchFamily="2" charset="-78"/>
              </a:rPr>
              <a:t>در</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اختیار</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نیروی</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هوایی</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عراق</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قرار</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گرفت</a:t>
            </a:r>
            <a:r>
              <a:rPr lang="en-US" sz="1450" dirty="0">
                <a:solidFill>
                  <a:schemeClr val="bg2"/>
                </a:solidFill>
                <a:latin typeface="Inter" pitchFamily="34" charset="0"/>
                <a:ea typeface="Inter" pitchFamily="34" charset="-122"/>
                <a:cs typeface="B Nazanin" panose="00000400000000000000" pitchFamily="2" charset="-78"/>
              </a:rPr>
              <a:t>.</a:t>
            </a:r>
            <a:endParaRPr lang="en-US" sz="1450" dirty="0">
              <a:solidFill>
                <a:schemeClr val="bg2"/>
              </a:solidFill>
              <a:cs typeface="B Nazanin" panose="00000400000000000000" pitchFamily="2" charset="-78"/>
            </a:endParaRPr>
          </a:p>
        </p:txBody>
      </p:sp>
      <p:sp>
        <p:nvSpPr>
          <p:cNvPr id="20" name="Text 4">
            <a:extLst>
              <a:ext uri="{FF2B5EF4-FFF2-40B4-BE49-F238E27FC236}">
                <a16:creationId xmlns:a16="http://schemas.microsoft.com/office/drawing/2014/main" id="{430FA661-413F-1C17-B2AC-19CEDEEE4406}"/>
              </a:ext>
            </a:extLst>
          </p:cNvPr>
          <p:cNvSpPr/>
          <p:nvPr/>
        </p:nvSpPr>
        <p:spPr>
          <a:xfrm rot="10800000" flipV="1">
            <a:off x="6827835" y="2439820"/>
            <a:ext cx="1809084" cy="226066"/>
          </a:xfrm>
          <a:prstGeom prst="rect">
            <a:avLst/>
          </a:prstGeom>
          <a:noFill/>
          <a:ln/>
        </p:spPr>
        <p:txBody>
          <a:bodyPr wrap="none" lIns="0" tIns="0" rIns="0" bIns="0" rtlCol="0" anchor="t"/>
          <a:lstStyle/>
          <a:p>
            <a:pPr marL="0" indent="0" algn="r" rtl="1">
              <a:lnSpc>
                <a:spcPts val="2300"/>
              </a:lnSpc>
              <a:buNone/>
            </a:pPr>
            <a:r>
              <a:rPr lang="en-US" sz="1800" b="1" dirty="0">
                <a:solidFill>
                  <a:schemeClr val="bg2"/>
                </a:solidFill>
                <a:latin typeface="Inter Bold" pitchFamily="34" charset="0"/>
                <a:ea typeface="Inter Bold" pitchFamily="34" charset="-122"/>
                <a:cs typeface="B Nazanin" panose="00000400000000000000" pitchFamily="2" charset="-78"/>
              </a:rPr>
              <a:t>تجهیزات هوایی</a:t>
            </a:r>
            <a:endParaRPr lang="en-US" sz="1800" dirty="0">
              <a:solidFill>
                <a:schemeClr val="bg2"/>
              </a:solidFill>
              <a:cs typeface="B Nazanin" panose="00000400000000000000" pitchFamily="2" charset="-78"/>
            </a:endParaRPr>
          </a:p>
        </p:txBody>
      </p:sp>
      <p:sp>
        <p:nvSpPr>
          <p:cNvPr id="21" name="Text 5">
            <a:extLst>
              <a:ext uri="{FF2B5EF4-FFF2-40B4-BE49-F238E27FC236}">
                <a16:creationId xmlns:a16="http://schemas.microsoft.com/office/drawing/2014/main" id="{DD285F5F-03D5-4631-8D2B-5BFFFD0EF32E}"/>
              </a:ext>
            </a:extLst>
          </p:cNvPr>
          <p:cNvSpPr/>
          <p:nvPr/>
        </p:nvSpPr>
        <p:spPr>
          <a:xfrm rot="10800000" flipV="1">
            <a:off x="4308255" y="2884916"/>
            <a:ext cx="2648641" cy="1157486"/>
          </a:xfrm>
          <a:prstGeom prst="rect">
            <a:avLst/>
          </a:prstGeom>
          <a:noFill/>
          <a:ln/>
        </p:spPr>
        <p:txBody>
          <a:bodyPr wrap="square" lIns="0" tIns="0" rIns="0" bIns="0" rtlCol="0" anchor="t"/>
          <a:lstStyle/>
          <a:p>
            <a:pPr algn="r" rtl="1">
              <a:lnSpc>
                <a:spcPts val="2350"/>
              </a:lnSpc>
            </a:pPr>
            <a:r>
              <a:rPr lang="en-US" sz="1450" dirty="0" err="1">
                <a:solidFill>
                  <a:schemeClr val="bg2"/>
                </a:solidFill>
                <a:latin typeface="Inter" pitchFamily="34" charset="0"/>
                <a:ea typeface="Inter" pitchFamily="34" charset="-122"/>
                <a:cs typeface="B Nazanin" panose="00000400000000000000" pitchFamily="2" charset="-78"/>
              </a:rPr>
              <a:t>هزاران</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مشاور</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نظامی</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شوروی</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در</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عراق</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مستقر</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شدند</a:t>
            </a:r>
            <a:r>
              <a:rPr lang="en-US" sz="1450" dirty="0">
                <a:solidFill>
                  <a:schemeClr val="bg2"/>
                </a:solidFill>
                <a:latin typeface="Inter" pitchFamily="34" charset="0"/>
                <a:ea typeface="Inter" pitchFamily="34" charset="-122"/>
                <a:cs typeface="B Nazanin" panose="00000400000000000000" pitchFamily="2" charset="-78"/>
              </a:rPr>
              <a:t> و </a:t>
            </a:r>
            <a:r>
              <a:rPr lang="en-US" sz="1450" dirty="0" err="1">
                <a:solidFill>
                  <a:schemeClr val="bg2"/>
                </a:solidFill>
                <a:latin typeface="Inter" pitchFamily="34" charset="0"/>
                <a:ea typeface="Inter" pitchFamily="34" charset="-122"/>
                <a:cs typeface="B Nazanin" panose="00000400000000000000" pitchFamily="2" charset="-78"/>
              </a:rPr>
              <a:t>افسران</a:t>
            </a:r>
            <a:r>
              <a:rPr lang="en-US" sz="1450" dirty="0">
                <a:solidFill>
                  <a:schemeClr val="bg2"/>
                </a:solidFill>
                <a:latin typeface="Inter" pitchFamily="34" charset="0"/>
                <a:ea typeface="Inter" pitchFamily="34" charset="-122"/>
                <a:cs typeface="B Nazanin" panose="00000400000000000000" pitchFamily="2" charset="-78"/>
              </a:rPr>
              <a:t> و </a:t>
            </a:r>
            <a:r>
              <a:rPr lang="en-US" sz="1450" dirty="0" err="1">
                <a:solidFill>
                  <a:schemeClr val="bg2"/>
                </a:solidFill>
                <a:latin typeface="Inter" pitchFamily="34" charset="0"/>
                <a:ea typeface="Inter" pitchFamily="34" charset="-122"/>
                <a:cs typeface="B Nazanin" panose="00000400000000000000" pitchFamily="2" charset="-78"/>
              </a:rPr>
              <a:t>تکنسین‌های</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عراقی</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را</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در</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استفاده</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از</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تسلیحات</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پیشرفته</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تاکتیک‌های</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نظامی</a:t>
            </a:r>
            <a:r>
              <a:rPr lang="en-US" sz="1450" dirty="0">
                <a:solidFill>
                  <a:schemeClr val="bg2"/>
                </a:solidFill>
                <a:latin typeface="Inter" pitchFamily="34" charset="0"/>
                <a:ea typeface="Inter" pitchFamily="34" charset="-122"/>
                <a:cs typeface="B Nazanin" panose="00000400000000000000" pitchFamily="2" charset="-78"/>
              </a:rPr>
              <a:t> و </a:t>
            </a:r>
            <a:r>
              <a:rPr lang="en-US" sz="1450" dirty="0" err="1">
                <a:solidFill>
                  <a:schemeClr val="bg2"/>
                </a:solidFill>
                <a:latin typeface="Inter" pitchFamily="34" charset="0"/>
                <a:ea typeface="Inter" pitchFamily="34" charset="-122"/>
                <a:cs typeface="B Nazanin" panose="00000400000000000000" pitchFamily="2" charset="-78"/>
              </a:rPr>
              <a:t>تعمیر</a:t>
            </a:r>
            <a:r>
              <a:rPr lang="en-US" sz="1450" dirty="0">
                <a:solidFill>
                  <a:schemeClr val="bg2"/>
                </a:solidFill>
                <a:latin typeface="Inter" pitchFamily="34" charset="0"/>
                <a:ea typeface="Inter" pitchFamily="34" charset="-122"/>
                <a:cs typeface="B Nazanin" panose="00000400000000000000" pitchFamily="2" charset="-78"/>
              </a:rPr>
              <a:t> و </a:t>
            </a:r>
            <a:r>
              <a:rPr lang="en-US" sz="1450" dirty="0" err="1">
                <a:solidFill>
                  <a:schemeClr val="bg2"/>
                </a:solidFill>
                <a:latin typeface="Inter" pitchFamily="34" charset="0"/>
                <a:ea typeface="Inter" pitchFamily="34" charset="-122"/>
                <a:cs typeface="B Nazanin" panose="00000400000000000000" pitchFamily="2" charset="-78"/>
              </a:rPr>
              <a:t>نگهداری</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تجهیزات</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آموزش</a:t>
            </a:r>
            <a:r>
              <a:rPr lang="en-US" sz="1450" dirty="0">
                <a:solidFill>
                  <a:schemeClr val="bg2"/>
                </a:solidFill>
                <a:latin typeface="Inter" pitchFamily="34" charset="0"/>
                <a:ea typeface="Inter" pitchFamily="34" charset="-122"/>
                <a:cs typeface="B Nazanin" panose="00000400000000000000" pitchFamily="2" charset="-78"/>
              </a:rPr>
              <a:t> </a:t>
            </a:r>
            <a:r>
              <a:rPr lang="en-US" sz="1450" dirty="0" err="1">
                <a:solidFill>
                  <a:schemeClr val="bg2"/>
                </a:solidFill>
                <a:latin typeface="Inter" pitchFamily="34" charset="0"/>
                <a:ea typeface="Inter" pitchFamily="34" charset="-122"/>
                <a:cs typeface="B Nazanin" panose="00000400000000000000" pitchFamily="2" charset="-78"/>
              </a:rPr>
              <a:t>دادند</a:t>
            </a:r>
            <a:r>
              <a:rPr lang="en-US" sz="1450" dirty="0">
                <a:solidFill>
                  <a:schemeClr val="bg2"/>
                </a:solidFill>
                <a:latin typeface="Inter" pitchFamily="34" charset="0"/>
                <a:ea typeface="Inter" pitchFamily="34" charset="-122"/>
                <a:cs typeface="B Nazanin" panose="00000400000000000000" pitchFamily="2" charset="-78"/>
              </a:rPr>
              <a:t>.</a:t>
            </a:r>
            <a:endParaRPr lang="en-US" sz="1450" dirty="0">
              <a:solidFill>
                <a:schemeClr val="bg2"/>
              </a:solidFill>
              <a:cs typeface="B Nazanin" panose="00000400000000000000" pitchFamily="2" charset="-78"/>
            </a:endParaRPr>
          </a:p>
        </p:txBody>
      </p:sp>
      <p:pic>
        <p:nvPicPr>
          <p:cNvPr id="22" name="Image 2" descr="preencoded.png">
            <a:extLst>
              <a:ext uri="{FF2B5EF4-FFF2-40B4-BE49-F238E27FC236}">
                <a16:creationId xmlns:a16="http://schemas.microsoft.com/office/drawing/2014/main" id="{517E10A2-15CF-315B-3C57-07CA1EABA3C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0800000" flipV="1">
            <a:off x="6412423" y="2335761"/>
            <a:ext cx="434184" cy="434184"/>
          </a:xfrm>
          <a:prstGeom prst="rect">
            <a:avLst/>
          </a:prstGeom>
        </p:spPr>
      </p:pic>
      <p:sp>
        <p:nvSpPr>
          <p:cNvPr id="23" name="Text 6">
            <a:extLst>
              <a:ext uri="{FF2B5EF4-FFF2-40B4-BE49-F238E27FC236}">
                <a16:creationId xmlns:a16="http://schemas.microsoft.com/office/drawing/2014/main" id="{7A20303C-0230-A019-4099-7678BEAAF6C4}"/>
              </a:ext>
            </a:extLst>
          </p:cNvPr>
          <p:cNvSpPr/>
          <p:nvPr/>
        </p:nvSpPr>
        <p:spPr>
          <a:xfrm rot="10800000" flipV="1">
            <a:off x="4603339" y="2460391"/>
            <a:ext cx="1809084" cy="226066"/>
          </a:xfrm>
          <a:prstGeom prst="rect">
            <a:avLst/>
          </a:prstGeom>
          <a:noFill/>
          <a:ln/>
        </p:spPr>
        <p:txBody>
          <a:bodyPr wrap="none" lIns="0" tIns="0" rIns="0" bIns="0" rtlCol="0" anchor="t"/>
          <a:lstStyle/>
          <a:p>
            <a:pPr marL="0" indent="0" algn="r" rtl="1">
              <a:lnSpc>
                <a:spcPts val="2300"/>
              </a:lnSpc>
              <a:buNone/>
            </a:pPr>
            <a:r>
              <a:rPr lang="en-US" sz="1800" b="1" dirty="0">
                <a:solidFill>
                  <a:schemeClr val="bg2"/>
                </a:solidFill>
                <a:latin typeface="Inter Bold" pitchFamily="34" charset="0"/>
                <a:ea typeface="Inter Bold" pitchFamily="34" charset="-122"/>
                <a:cs typeface="B Nazanin" panose="00000400000000000000" pitchFamily="2" charset="-78"/>
              </a:rPr>
              <a:t>مشاوران و آموزش</a:t>
            </a:r>
            <a:endParaRPr lang="en-US" sz="1800" dirty="0">
              <a:solidFill>
                <a:schemeClr val="bg2"/>
              </a:solidFill>
              <a:cs typeface="B Nazanin" panose="00000400000000000000" pitchFamily="2" charset="-78"/>
            </a:endParaRPr>
          </a:p>
        </p:txBody>
      </p:sp>
      <p:pic>
        <p:nvPicPr>
          <p:cNvPr id="51" name="Graphic 50" descr="Atom with solid fill">
            <a:extLst>
              <a:ext uri="{FF2B5EF4-FFF2-40B4-BE49-F238E27FC236}">
                <a16:creationId xmlns:a16="http://schemas.microsoft.com/office/drawing/2014/main" id="{D663F102-EF7F-DE4D-443B-21F2DC4E9B5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05215" y="2168371"/>
            <a:ext cx="914400" cy="914400"/>
          </a:xfrm>
          <a:prstGeom prst="rect">
            <a:avLst/>
          </a:prstGeom>
        </p:spPr>
      </p:pic>
      <p:sp>
        <p:nvSpPr>
          <p:cNvPr id="63" name="TextBox 62">
            <a:extLst>
              <a:ext uri="{FF2B5EF4-FFF2-40B4-BE49-F238E27FC236}">
                <a16:creationId xmlns:a16="http://schemas.microsoft.com/office/drawing/2014/main" id="{4619D35A-9C75-4E65-DBFB-C2848ED9763F}"/>
              </a:ext>
            </a:extLst>
          </p:cNvPr>
          <p:cNvSpPr txBox="1"/>
          <p:nvPr/>
        </p:nvSpPr>
        <p:spPr>
          <a:xfrm>
            <a:off x="9238386" y="2978468"/>
            <a:ext cx="2895824" cy="1600438"/>
          </a:xfrm>
          <a:prstGeom prst="rect">
            <a:avLst/>
          </a:prstGeom>
          <a:noFill/>
        </p:spPr>
        <p:txBody>
          <a:bodyPr wrap="square">
            <a:spAutoFit/>
          </a:bodyPr>
          <a:lstStyle/>
          <a:p>
            <a:pPr marL="0" indent="0" algn="r" rtl="1">
              <a:lnSpc>
                <a:spcPts val="2350"/>
              </a:lnSpc>
              <a:buNone/>
            </a:pPr>
            <a:r>
              <a:rPr lang="en-US" sz="1200" dirty="0" err="1">
                <a:solidFill>
                  <a:schemeClr val="bg2"/>
                </a:solidFill>
                <a:latin typeface="Inter" pitchFamily="34" charset="0"/>
                <a:ea typeface="Inter" pitchFamily="34" charset="-122"/>
                <a:cs typeface="B Nazanin" panose="00000400000000000000" pitchFamily="2" charset="-78"/>
              </a:rPr>
              <a:t>شوروی</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هزاران</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دستگاه</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تانک</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از</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جمله</a:t>
            </a:r>
            <a:r>
              <a:rPr lang="en-US" sz="1200" dirty="0">
                <a:solidFill>
                  <a:schemeClr val="bg2"/>
                </a:solidFill>
                <a:latin typeface="Inter" pitchFamily="34" charset="0"/>
                <a:ea typeface="Inter" pitchFamily="34" charset="-122"/>
                <a:cs typeface="B Nazanin" panose="00000400000000000000" pitchFamily="2" charset="-78"/>
              </a:rPr>
              <a:t> T-55، T-62 و T-72، </a:t>
            </a:r>
            <a:r>
              <a:rPr lang="en-US" sz="1200" dirty="0" err="1">
                <a:solidFill>
                  <a:schemeClr val="bg2"/>
                </a:solidFill>
                <a:latin typeface="Inter" pitchFamily="34" charset="0"/>
                <a:ea typeface="Inter" pitchFamily="34" charset="-122"/>
                <a:cs typeface="B Nazanin" panose="00000400000000000000" pitchFamily="2" charset="-78"/>
              </a:rPr>
              <a:t>خودروهای</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زرهی</a:t>
            </a:r>
            <a:r>
              <a:rPr lang="en-US" sz="1200" dirty="0">
                <a:solidFill>
                  <a:schemeClr val="bg2"/>
                </a:solidFill>
                <a:latin typeface="Inter" pitchFamily="34" charset="0"/>
                <a:ea typeface="Inter" pitchFamily="34" charset="-122"/>
                <a:cs typeface="B Nazanin" panose="00000400000000000000" pitchFamily="2" charset="-78"/>
              </a:rPr>
              <a:t> BMP و BTR، </a:t>
            </a:r>
            <a:r>
              <a:rPr lang="en-US" sz="1200" dirty="0" err="1">
                <a:solidFill>
                  <a:schemeClr val="bg2"/>
                </a:solidFill>
                <a:latin typeface="Inter" pitchFamily="34" charset="0"/>
                <a:ea typeface="Inter" pitchFamily="34" charset="-122"/>
                <a:cs typeface="B Nazanin" panose="00000400000000000000" pitchFamily="2" charset="-78"/>
              </a:rPr>
              <a:t>توپخانه</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سنگین</a:t>
            </a:r>
            <a:r>
              <a:rPr lang="en-US" sz="1200" dirty="0">
                <a:solidFill>
                  <a:schemeClr val="bg2"/>
                </a:solidFill>
                <a:latin typeface="Inter" pitchFamily="34" charset="0"/>
                <a:ea typeface="Inter" pitchFamily="34" charset="-122"/>
                <a:cs typeface="B Nazanin" panose="00000400000000000000" pitchFamily="2" charset="-78"/>
              </a:rPr>
              <a:t> و </a:t>
            </a:r>
            <a:r>
              <a:rPr lang="en-US" sz="1200" dirty="0" err="1">
                <a:solidFill>
                  <a:schemeClr val="bg2"/>
                </a:solidFill>
                <a:latin typeface="Inter" pitchFamily="34" charset="0"/>
                <a:ea typeface="Inter" pitchFamily="34" charset="-122"/>
                <a:cs typeface="B Nazanin" panose="00000400000000000000" pitchFamily="2" charset="-78"/>
              </a:rPr>
              <a:t>سیستم‌های</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موشکی</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زمین</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به</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زمین</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اسکاد</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را</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به</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عراق</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فروخت</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که</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ستون</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فقرات</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نیروی</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زمینی</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عراق</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را</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تشکیل</a:t>
            </a:r>
            <a:r>
              <a:rPr lang="en-US" sz="1200" dirty="0">
                <a:solidFill>
                  <a:schemeClr val="bg2"/>
                </a:solidFill>
                <a:latin typeface="Inter" pitchFamily="34" charset="0"/>
                <a:ea typeface="Inter" pitchFamily="34" charset="-122"/>
                <a:cs typeface="B Nazanin" panose="00000400000000000000" pitchFamily="2" charset="-78"/>
              </a:rPr>
              <a:t> </a:t>
            </a:r>
            <a:r>
              <a:rPr lang="en-US" sz="1200" dirty="0" err="1">
                <a:solidFill>
                  <a:schemeClr val="bg2"/>
                </a:solidFill>
                <a:latin typeface="Inter" pitchFamily="34" charset="0"/>
                <a:ea typeface="Inter" pitchFamily="34" charset="-122"/>
                <a:cs typeface="B Nazanin" panose="00000400000000000000" pitchFamily="2" charset="-78"/>
              </a:rPr>
              <a:t>می‌داد</a:t>
            </a:r>
            <a:r>
              <a:rPr lang="en-US" sz="1200" dirty="0">
                <a:solidFill>
                  <a:schemeClr val="bg2"/>
                </a:solidFill>
                <a:latin typeface="Inter" pitchFamily="34" charset="0"/>
                <a:ea typeface="Inter" pitchFamily="34" charset="-122"/>
                <a:cs typeface="B Nazanin" panose="00000400000000000000" pitchFamily="2" charset="-78"/>
              </a:rPr>
              <a:t>.</a:t>
            </a:r>
            <a:endParaRPr lang="en-US" sz="1200" dirty="0">
              <a:solidFill>
                <a:schemeClr val="bg2"/>
              </a:solidFill>
              <a:cs typeface="B Nazanin" panose="00000400000000000000" pitchFamily="2" charset="-78"/>
            </a:endParaRPr>
          </a:p>
        </p:txBody>
      </p:sp>
      <p:pic>
        <p:nvPicPr>
          <p:cNvPr id="64" name="Image 1" descr="preencoded.png">
            <a:extLst>
              <a:ext uri="{FF2B5EF4-FFF2-40B4-BE49-F238E27FC236}">
                <a16:creationId xmlns:a16="http://schemas.microsoft.com/office/drawing/2014/main" id="{7849DD69-504E-2CB0-69D0-ADE6DC48A427}"/>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655691" y="2386567"/>
            <a:ext cx="561618" cy="561618"/>
          </a:xfrm>
          <a:prstGeom prst="rect">
            <a:avLst/>
          </a:prstGeom>
        </p:spPr>
      </p:pic>
    </p:spTree>
    <p:extLst>
      <p:ext uri="{BB962C8B-B14F-4D97-AF65-F5344CB8AC3E}">
        <p14:creationId xmlns:p14="http://schemas.microsoft.com/office/powerpoint/2010/main" val="33504403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9000" b="-109000"/>
          </a:stretch>
        </a:blipFill>
        <a:effectLst/>
      </p:bgPr>
    </p:bg>
    <p:spTree>
      <p:nvGrpSpPr>
        <p:cNvPr id="1" name="">
          <a:extLst>
            <a:ext uri="{FF2B5EF4-FFF2-40B4-BE49-F238E27FC236}">
              <a16:creationId xmlns:a16="http://schemas.microsoft.com/office/drawing/2014/main" id="{CF85BD0A-46DB-4D11-0117-71465FC54873}"/>
            </a:ext>
          </a:extLst>
        </p:cNvPr>
        <p:cNvGrpSpPr/>
        <p:nvPr/>
      </p:nvGrpSpPr>
      <p:grpSpPr>
        <a:xfrm>
          <a:off x="0" y="0"/>
          <a:ext cx="0" cy="0"/>
          <a:chOff x="0" y="0"/>
          <a:chExt cx="0" cy="0"/>
        </a:xfrm>
      </p:grpSpPr>
      <p:grpSp>
        <p:nvGrpSpPr>
          <p:cNvPr id="114" name="Group 113">
            <a:extLst>
              <a:ext uri="{FF2B5EF4-FFF2-40B4-BE49-F238E27FC236}">
                <a16:creationId xmlns:a16="http://schemas.microsoft.com/office/drawing/2014/main" id="{D67EB18C-B2B1-046B-A017-5059D5ACF9D3}"/>
              </a:ext>
            </a:extLst>
          </p:cNvPr>
          <p:cNvGrpSpPr/>
          <p:nvPr/>
        </p:nvGrpSpPr>
        <p:grpSpPr>
          <a:xfrm>
            <a:off x="3352780" y="1320999"/>
            <a:ext cx="4412369" cy="3662005"/>
            <a:chOff x="7364849" y="1051560"/>
            <a:chExt cx="6868716" cy="3662005"/>
          </a:xfrm>
        </p:grpSpPr>
        <p:sp>
          <p:nvSpPr>
            <p:cNvPr id="115" name="Shape 2">
              <a:extLst>
                <a:ext uri="{FF2B5EF4-FFF2-40B4-BE49-F238E27FC236}">
                  <a16:creationId xmlns:a16="http://schemas.microsoft.com/office/drawing/2014/main" id="{FBED4773-BD6A-31DE-9752-120E935FA590}"/>
                </a:ext>
              </a:extLst>
            </p:cNvPr>
            <p:cNvSpPr/>
            <p:nvPr/>
          </p:nvSpPr>
          <p:spPr>
            <a:xfrm>
              <a:off x="7364849" y="1051560"/>
              <a:ext cx="6868716" cy="1781413"/>
            </a:xfrm>
            <a:prstGeom prst="roundRect">
              <a:avLst>
                <a:gd name="adj" fmla="val 2340"/>
              </a:avLst>
            </a:prstGeom>
            <a:solidFill>
              <a:srgbClr val="DADBF1"/>
            </a:solidFill>
            <a:ln w="7620">
              <a:solidFill>
                <a:srgbClr val="C0C1D7"/>
              </a:solidFill>
              <a:prstDash val="solid"/>
            </a:ln>
          </p:spPr>
        </p:sp>
        <p:sp>
          <p:nvSpPr>
            <p:cNvPr id="116" name="Shape 3">
              <a:extLst>
                <a:ext uri="{FF2B5EF4-FFF2-40B4-BE49-F238E27FC236}">
                  <a16:creationId xmlns:a16="http://schemas.microsoft.com/office/drawing/2014/main" id="{E11411E1-B1C5-E07B-ABD1-73604FE9D201}"/>
                </a:ext>
              </a:extLst>
            </p:cNvPr>
            <p:cNvSpPr/>
            <p:nvPr/>
          </p:nvSpPr>
          <p:spPr>
            <a:xfrm>
              <a:off x="13829109" y="1158359"/>
              <a:ext cx="297656" cy="297656"/>
            </a:xfrm>
            <a:prstGeom prst="roundRect">
              <a:avLst>
                <a:gd name="adj" fmla="val 30716954"/>
              </a:avLst>
            </a:prstGeom>
            <a:solidFill>
              <a:srgbClr val="4950BC"/>
            </a:solidFill>
            <a:ln/>
          </p:spPr>
        </p:sp>
        <p:pic>
          <p:nvPicPr>
            <p:cNvPr id="117" name="Image 0" descr="preencoded.png">
              <a:extLst>
                <a:ext uri="{FF2B5EF4-FFF2-40B4-BE49-F238E27FC236}">
                  <a16:creationId xmlns:a16="http://schemas.microsoft.com/office/drawing/2014/main" id="{48359562-1569-5193-CB41-E60CCA94D0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11024" y="1240155"/>
              <a:ext cx="133945" cy="133945"/>
            </a:xfrm>
            <a:prstGeom prst="rect">
              <a:avLst/>
            </a:prstGeom>
          </p:spPr>
        </p:pic>
        <p:sp>
          <p:nvSpPr>
            <p:cNvPr id="118" name="Text 4">
              <a:extLst>
                <a:ext uri="{FF2B5EF4-FFF2-40B4-BE49-F238E27FC236}">
                  <a16:creationId xmlns:a16="http://schemas.microsoft.com/office/drawing/2014/main" id="{3B710D81-0AFE-0D93-6D9B-D22A361A5C0C}"/>
                </a:ext>
              </a:extLst>
            </p:cNvPr>
            <p:cNvSpPr/>
            <p:nvPr/>
          </p:nvSpPr>
          <p:spPr>
            <a:xfrm>
              <a:off x="12886373" y="1555194"/>
              <a:ext cx="1240393" cy="155019"/>
            </a:xfrm>
            <a:prstGeom prst="rect">
              <a:avLst/>
            </a:prstGeom>
            <a:noFill/>
            <a:ln/>
          </p:spPr>
          <p:txBody>
            <a:bodyPr wrap="none" lIns="0" tIns="0" rIns="0" bIns="0" rtlCol="0" anchor="t"/>
            <a:lstStyle/>
            <a:p>
              <a:pPr marL="0" indent="0" algn="r" rtl="1">
                <a:lnSpc>
                  <a:spcPts val="1200"/>
                </a:lnSpc>
                <a:buNone/>
              </a:pPr>
              <a:r>
                <a:rPr lang="en-US" sz="950" b="1" dirty="0">
                  <a:solidFill>
                    <a:srgbClr val="272525"/>
                  </a:solidFill>
                  <a:latin typeface="Inter Bold" pitchFamily="34" charset="0"/>
                  <a:ea typeface="Inter Bold" pitchFamily="34" charset="-122"/>
                  <a:cs typeface="Inter Bold" pitchFamily="34" charset="-120"/>
                </a:rPr>
                <a:t>فرانسه</a:t>
              </a:r>
              <a:endParaRPr lang="en-US" sz="950" dirty="0"/>
            </a:p>
          </p:txBody>
        </p:sp>
        <p:sp>
          <p:nvSpPr>
            <p:cNvPr id="119" name="Text 5">
              <a:extLst>
                <a:ext uri="{FF2B5EF4-FFF2-40B4-BE49-F238E27FC236}">
                  <a16:creationId xmlns:a16="http://schemas.microsoft.com/office/drawing/2014/main" id="{1A1DE643-139C-85EB-144C-DD4082651704}"/>
                </a:ext>
              </a:extLst>
            </p:cNvPr>
            <p:cNvSpPr/>
            <p:nvPr/>
          </p:nvSpPr>
          <p:spPr>
            <a:xfrm>
              <a:off x="7471648" y="1769745"/>
              <a:ext cx="6655118" cy="158591"/>
            </a:xfrm>
            <a:prstGeom prst="rect">
              <a:avLst/>
            </a:prstGeom>
            <a:noFill/>
            <a:ln/>
          </p:spPr>
          <p:txBody>
            <a:bodyPr wrap="none" lIns="0" tIns="0" rIns="0" bIns="0" rtlCol="0" anchor="t"/>
            <a:lstStyle/>
            <a:p>
              <a:pPr marL="0" indent="0" algn="r" rtl="1">
                <a:lnSpc>
                  <a:spcPts val="1250"/>
                </a:lnSpc>
                <a:buNone/>
              </a:pPr>
              <a:r>
                <a:rPr lang="en-US" sz="750" dirty="0">
                  <a:solidFill>
                    <a:srgbClr val="272525"/>
                  </a:solidFill>
                  <a:latin typeface="Inter" pitchFamily="34" charset="0"/>
                  <a:ea typeface="Inter" pitchFamily="34" charset="-122"/>
                  <a:cs typeface="Inter" pitchFamily="34" charset="-120"/>
                </a:rPr>
                <a:t>بزرگ‌ترین تأمین‌کننده اروپایی سلاح برای عراق</a:t>
              </a:r>
              <a:endParaRPr lang="en-US" sz="750" dirty="0"/>
            </a:p>
          </p:txBody>
        </p:sp>
        <p:sp>
          <p:nvSpPr>
            <p:cNvPr id="120" name="Text 6">
              <a:extLst>
                <a:ext uri="{FF2B5EF4-FFF2-40B4-BE49-F238E27FC236}">
                  <a16:creationId xmlns:a16="http://schemas.microsoft.com/office/drawing/2014/main" id="{2F15C828-4E4B-2FA9-A4E5-E86B7A3888A4}"/>
                </a:ext>
              </a:extLst>
            </p:cNvPr>
            <p:cNvSpPr/>
            <p:nvPr/>
          </p:nvSpPr>
          <p:spPr>
            <a:xfrm>
              <a:off x="7471648" y="1987868"/>
              <a:ext cx="6655118"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جنگنده‌های میراژ F1 و سوپر اتاندار</a:t>
              </a:r>
              <a:endParaRPr lang="en-US" sz="750" dirty="0"/>
            </a:p>
          </p:txBody>
        </p:sp>
        <p:sp>
          <p:nvSpPr>
            <p:cNvPr id="121" name="Text 7">
              <a:extLst>
                <a:ext uri="{FF2B5EF4-FFF2-40B4-BE49-F238E27FC236}">
                  <a16:creationId xmlns:a16="http://schemas.microsoft.com/office/drawing/2014/main" id="{5366DAEB-03CC-2F4F-C20A-01EA5B36DB85}"/>
                </a:ext>
              </a:extLst>
            </p:cNvPr>
            <p:cNvSpPr/>
            <p:nvPr/>
          </p:nvSpPr>
          <p:spPr>
            <a:xfrm>
              <a:off x="7471648" y="2181106"/>
              <a:ext cx="6655118"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موشک‌های اگزوست ضدکشتی</a:t>
              </a:r>
              <a:endParaRPr lang="en-US" sz="750" dirty="0"/>
            </a:p>
          </p:txBody>
        </p:sp>
        <p:sp>
          <p:nvSpPr>
            <p:cNvPr id="122" name="Text 8">
              <a:extLst>
                <a:ext uri="{FF2B5EF4-FFF2-40B4-BE49-F238E27FC236}">
                  <a16:creationId xmlns:a16="http://schemas.microsoft.com/office/drawing/2014/main" id="{2F922C0F-D1E4-B1BB-6B7A-1B452CDD5632}"/>
                </a:ext>
              </a:extLst>
            </p:cNvPr>
            <p:cNvSpPr/>
            <p:nvPr/>
          </p:nvSpPr>
          <p:spPr>
            <a:xfrm>
              <a:off x="7471648" y="2374344"/>
              <a:ext cx="6655118"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سیستم‌های راداری پیشرفته</a:t>
              </a:r>
              <a:endParaRPr lang="en-US" sz="750" dirty="0"/>
            </a:p>
          </p:txBody>
        </p:sp>
        <p:sp>
          <p:nvSpPr>
            <p:cNvPr id="123" name="Text 9">
              <a:extLst>
                <a:ext uri="{FF2B5EF4-FFF2-40B4-BE49-F238E27FC236}">
                  <a16:creationId xmlns:a16="http://schemas.microsoft.com/office/drawing/2014/main" id="{572C75E4-B95D-F4BD-BC0D-ACAF16620B2B}"/>
                </a:ext>
              </a:extLst>
            </p:cNvPr>
            <p:cNvSpPr/>
            <p:nvPr/>
          </p:nvSpPr>
          <p:spPr>
            <a:xfrm>
              <a:off x="7471648" y="2567583"/>
              <a:ext cx="6655118"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بیش از ۱۰ میلیارد دلار فروش سلاح</a:t>
              </a:r>
              <a:endParaRPr lang="en-US" sz="750" dirty="0"/>
            </a:p>
          </p:txBody>
        </p:sp>
        <p:sp>
          <p:nvSpPr>
            <p:cNvPr id="124" name="Shape 18">
              <a:extLst>
                <a:ext uri="{FF2B5EF4-FFF2-40B4-BE49-F238E27FC236}">
                  <a16:creationId xmlns:a16="http://schemas.microsoft.com/office/drawing/2014/main" id="{3577A41F-B1C9-5E2E-BEBA-7248AC9FB75E}"/>
                </a:ext>
              </a:extLst>
            </p:cNvPr>
            <p:cNvSpPr/>
            <p:nvPr/>
          </p:nvSpPr>
          <p:spPr>
            <a:xfrm>
              <a:off x="7364849" y="2932152"/>
              <a:ext cx="6868716" cy="1781413"/>
            </a:xfrm>
            <a:prstGeom prst="roundRect">
              <a:avLst>
                <a:gd name="adj" fmla="val 2340"/>
              </a:avLst>
            </a:prstGeom>
            <a:solidFill>
              <a:srgbClr val="DADBF1"/>
            </a:solidFill>
            <a:ln w="7620">
              <a:solidFill>
                <a:srgbClr val="C0C1D7"/>
              </a:solidFill>
              <a:prstDash val="solid"/>
            </a:ln>
          </p:spPr>
        </p:sp>
        <p:sp>
          <p:nvSpPr>
            <p:cNvPr id="125" name="Shape 19">
              <a:extLst>
                <a:ext uri="{FF2B5EF4-FFF2-40B4-BE49-F238E27FC236}">
                  <a16:creationId xmlns:a16="http://schemas.microsoft.com/office/drawing/2014/main" id="{F2DA63A5-DD63-2456-7F14-60A668387E3D}"/>
                </a:ext>
              </a:extLst>
            </p:cNvPr>
            <p:cNvSpPr/>
            <p:nvPr/>
          </p:nvSpPr>
          <p:spPr>
            <a:xfrm>
              <a:off x="13829109" y="3038951"/>
              <a:ext cx="297656" cy="297656"/>
            </a:xfrm>
            <a:prstGeom prst="roundRect">
              <a:avLst>
                <a:gd name="adj" fmla="val 30716954"/>
              </a:avLst>
            </a:prstGeom>
            <a:solidFill>
              <a:srgbClr val="4950BC"/>
            </a:solidFill>
            <a:ln/>
          </p:spPr>
        </p:sp>
        <p:pic>
          <p:nvPicPr>
            <p:cNvPr id="126" name="Image 2" descr="preencoded.png">
              <a:extLst>
                <a:ext uri="{FF2B5EF4-FFF2-40B4-BE49-F238E27FC236}">
                  <a16:creationId xmlns:a16="http://schemas.microsoft.com/office/drawing/2014/main" id="{6893D6D4-EBC4-CDFC-3957-D2DD6928F4E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911024" y="3120747"/>
              <a:ext cx="133945" cy="133945"/>
            </a:xfrm>
            <a:prstGeom prst="rect">
              <a:avLst/>
            </a:prstGeom>
          </p:spPr>
        </p:pic>
        <p:sp>
          <p:nvSpPr>
            <p:cNvPr id="127" name="Text 20">
              <a:extLst>
                <a:ext uri="{FF2B5EF4-FFF2-40B4-BE49-F238E27FC236}">
                  <a16:creationId xmlns:a16="http://schemas.microsoft.com/office/drawing/2014/main" id="{11479B10-C5AF-A371-4D0A-E8BDB256B9F5}"/>
                </a:ext>
              </a:extLst>
            </p:cNvPr>
            <p:cNvSpPr/>
            <p:nvPr/>
          </p:nvSpPr>
          <p:spPr>
            <a:xfrm>
              <a:off x="12886373" y="3435787"/>
              <a:ext cx="1240393" cy="155019"/>
            </a:xfrm>
            <a:prstGeom prst="rect">
              <a:avLst/>
            </a:prstGeom>
            <a:noFill/>
            <a:ln/>
          </p:spPr>
          <p:txBody>
            <a:bodyPr wrap="none" lIns="0" tIns="0" rIns="0" bIns="0" rtlCol="0" anchor="t"/>
            <a:lstStyle/>
            <a:p>
              <a:pPr marL="0" indent="0" algn="r" rtl="1">
                <a:lnSpc>
                  <a:spcPts val="1200"/>
                </a:lnSpc>
                <a:buNone/>
              </a:pPr>
              <a:r>
                <a:rPr lang="en-US" sz="950" b="1" dirty="0">
                  <a:solidFill>
                    <a:srgbClr val="272525"/>
                  </a:solidFill>
                  <a:latin typeface="Inter Bold" pitchFamily="34" charset="0"/>
                  <a:ea typeface="Inter Bold" pitchFamily="34" charset="-122"/>
                  <a:cs typeface="Inter Bold" pitchFamily="34" charset="-120"/>
                </a:rPr>
                <a:t>بریتانیا</a:t>
              </a:r>
              <a:endParaRPr lang="en-US" sz="950" dirty="0"/>
            </a:p>
          </p:txBody>
        </p:sp>
        <p:sp>
          <p:nvSpPr>
            <p:cNvPr id="128" name="Text 21">
              <a:extLst>
                <a:ext uri="{FF2B5EF4-FFF2-40B4-BE49-F238E27FC236}">
                  <a16:creationId xmlns:a16="http://schemas.microsoft.com/office/drawing/2014/main" id="{8E867DB2-1DD0-CFF5-8037-F73CD3E1A942}"/>
                </a:ext>
              </a:extLst>
            </p:cNvPr>
            <p:cNvSpPr/>
            <p:nvPr/>
          </p:nvSpPr>
          <p:spPr>
            <a:xfrm>
              <a:off x="7471648" y="3650337"/>
              <a:ext cx="6655118" cy="158591"/>
            </a:xfrm>
            <a:prstGeom prst="rect">
              <a:avLst/>
            </a:prstGeom>
            <a:noFill/>
            <a:ln/>
          </p:spPr>
          <p:txBody>
            <a:bodyPr wrap="none" lIns="0" tIns="0" rIns="0" bIns="0" rtlCol="0" anchor="t"/>
            <a:lstStyle/>
            <a:p>
              <a:pPr marL="0" indent="0" algn="r" rtl="1">
                <a:lnSpc>
                  <a:spcPts val="1250"/>
                </a:lnSpc>
                <a:buNone/>
              </a:pPr>
              <a:r>
                <a:rPr lang="en-US" sz="750" dirty="0">
                  <a:solidFill>
                    <a:srgbClr val="272525"/>
                  </a:solidFill>
                  <a:latin typeface="Inter" pitchFamily="34" charset="0"/>
                  <a:ea typeface="Inter" pitchFamily="34" charset="-122"/>
                  <a:cs typeface="Inter" pitchFamily="34" charset="-120"/>
                </a:rPr>
                <a:t>فروش تجهیزات نظامی و صنعتی به عراق</a:t>
              </a:r>
              <a:endParaRPr lang="en-US" sz="750" dirty="0"/>
            </a:p>
          </p:txBody>
        </p:sp>
        <p:sp>
          <p:nvSpPr>
            <p:cNvPr id="129" name="Text 22">
              <a:extLst>
                <a:ext uri="{FF2B5EF4-FFF2-40B4-BE49-F238E27FC236}">
                  <a16:creationId xmlns:a16="http://schemas.microsoft.com/office/drawing/2014/main" id="{227B337D-1700-C5B4-AFEA-9E4CF1AA5F42}"/>
                </a:ext>
              </a:extLst>
            </p:cNvPr>
            <p:cNvSpPr/>
            <p:nvPr/>
          </p:nvSpPr>
          <p:spPr>
            <a:xfrm>
              <a:off x="7471648" y="3868460"/>
              <a:ext cx="6655118"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قطعات یدکی و تجهیزات الکترونیکی</a:t>
              </a:r>
              <a:endParaRPr lang="en-US" sz="750" dirty="0"/>
            </a:p>
          </p:txBody>
        </p:sp>
        <p:sp>
          <p:nvSpPr>
            <p:cNvPr id="130" name="Text 23">
              <a:extLst>
                <a:ext uri="{FF2B5EF4-FFF2-40B4-BE49-F238E27FC236}">
                  <a16:creationId xmlns:a16="http://schemas.microsoft.com/office/drawing/2014/main" id="{30711038-E597-9BD9-4F2B-4BB93FB521DA}"/>
                </a:ext>
              </a:extLst>
            </p:cNvPr>
            <p:cNvSpPr/>
            <p:nvPr/>
          </p:nvSpPr>
          <p:spPr>
            <a:xfrm>
              <a:off x="7471648" y="4061698"/>
              <a:ext cx="6655118"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ماشین‌آلات صنعتی دوگانه</a:t>
              </a:r>
              <a:endParaRPr lang="en-US" sz="750" dirty="0"/>
            </a:p>
          </p:txBody>
        </p:sp>
        <p:sp>
          <p:nvSpPr>
            <p:cNvPr id="131" name="Text 24">
              <a:extLst>
                <a:ext uri="{FF2B5EF4-FFF2-40B4-BE49-F238E27FC236}">
                  <a16:creationId xmlns:a16="http://schemas.microsoft.com/office/drawing/2014/main" id="{9A16F1D9-CAD2-9365-599B-7E1DFB675542}"/>
                </a:ext>
              </a:extLst>
            </p:cNvPr>
            <p:cNvSpPr/>
            <p:nvPr/>
          </p:nvSpPr>
          <p:spPr>
            <a:xfrm>
              <a:off x="7471648" y="4254937"/>
              <a:ext cx="6655118"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سیستم‌های ارتباطی و رادار</a:t>
              </a:r>
              <a:endParaRPr lang="en-US" sz="750" dirty="0"/>
            </a:p>
          </p:txBody>
        </p:sp>
        <p:sp>
          <p:nvSpPr>
            <p:cNvPr id="132" name="Text 25">
              <a:extLst>
                <a:ext uri="{FF2B5EF4-FFF2-40B4-BE49-F238E27FC236}">
                  <a16:creationId xmlns:a16="http://schemas.microsoft.com/office/drawing/2014/main" id="{54B9913C-6C7F-5499-6657-FC17B0BB442F}"/>
                </a:ext>
              </a:extLst>
            </p:cNvPr>
            <p:cNvSpPr/>
            <p:nvPr/>
          </p:nvSpPr>
          <p:spPr>
            <a:xfrm>
              <a:off x="7471648" y="4448175"/>
              <a:ext cx="6655118"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مشاوره نظامی و آموزش</a:t>
              </a:r>
              <a:endParaRPr lang="en-US" sz="750" dirty="0"/>
            </a:p>
          </p:txBody>
        </p:sp>
      </p:grpSp>
      <p:grpSp>
        <p:nvGrpSpPr>
          <p:cNvPr id="44" name="Group 43">
            <a:extLst>
              <a:ext uri="{FF2B5EF4-FFF2-40B4-BE49-F238E27FC236}">
                <a16:creationId xmlns:a16="http://schemas.microsoft.com/office/drawing/2014/main" id="{068FF4EC-718D-C90C-4403-E083BDF8EDC2}"/>
              </a:ext>
            </a:extLst>
          </p:cNvPr>
          <p:cNvGrpSpPr/>
          <p:nvPr/>
        </p:nvGrpSpPr>
        <p:grpSpPr>
          <a:xfrm>
            <a:off x="30289" y="-5241209"/>
            <a:ext cx="4590873" cy="15855333"/>
            <a:chOff x="-693173" y="-4054166"/>
            <a:chExt cx="4590873" cy="15855333"/>
          </a:xfrm>
        </p:grpSpPr>
        <p:sp>
          <p:nvSpPr>
            <p:cNvPr id="16" name="Hexagon 15">
              <a:extLst>
                <a:ext uri="{FF2B5EF4-FFF2-40B4-BE49-F238E27FC236}">
                  <a16:creationId xmlns:a16="http://schemas.microsoft.com/office/drawing/2014/main" id="{94F09B45-DD7B-F9FC-0AB9-DE5FBAFBE4B7}"/>
                </a:ext>
              </a:extLst>
            </p:cNvPr>
            <p:cNvSpPr/>
            <p:nvPr/>
          </p:nvSpPr>
          <p:spPr>
            <a:xfrm>
              <a:off x="2620293" y="493579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grpSp>
          <p:nvGrpSpPr>
            <p:cNvPr id="43" name="Group 42">
              <a:extLst>
                <a:ext uri="{FF2B5EF4-FFF2-40B4-BE49-F238E27FC236}">
                  <a16:creationId xmlns:a16="http://schemas.microsoft.com/office/drawing/2014/main" id="{1C2AC0C3-415F-E848-FA45-42535F5F9EC0}"/>
                </a:ext>
              </a:extLst>
            </p:cNvPr>
            <p:cNvGrpSpPr/>
            <p:nvPr/>
          </p:nvGrpSpPr>
          <p:grpSpPr>
            <a:xfrm>
              <a:off x="-693173" y="-3503559"/>
              <a:ext cx="4300821" cy="15304726"/>
              <a:chOff x="-693173" y="-3503559"/>
              <a:chExt cx="4300821" cy="15304726"/>
            </a:xfrm>
          </p:grpSpPr>
          <p:sp>
            <p:nvSpPr>
              <p:cNvPr id="4" name="Hexagon 3">
                <a:extLst>
                  <a:ext uri="{FF2B5EF4-FFF2-40B4-BE49-F238E27FC236}">
                    <a16:creationId xmlns:a16="http://schemas.microsoft.com/office/drawing/2014/main" id="{ED62B0C3-8D14-2F7A-6023-EF7248E048D7}"/>
                  </a:ext>
                </a:extLst>
              </p:cNvPr>
              <p:cNvSpPr/>
              <p:nvPr/>
            </p:nvSpPr>
            <p:spPr>
              <a:xfrm>
                <a:off x="314632" y="218276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6" name="Hexagon 5">
                <a:extLst>
                  <a:ext uri="{FF2B5EF4-FFF2-40B4-BE49-F238E27FC236}">
                    <a16:creationId xmlns:a16="http://schemas.microsoft.com/office/drawing/2014/main" id="{530FF6B8-E4CF-953C-B3F9-A1F7A6927D91}"/>
                  </a:ext>
                </a:extLst>
              </p:cNvPr>
              <p:cNvSpPr/>
              <p:nvPr/>
            </p:nvSpPr>
            <p:spPr>
              <a:xfrm>
                <a:off x="1322438" y="273336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7" name="Hexagon 6">
                <a:extLst>
                  <a:ext uri="{FF2B5EF4-FFF2-40B4-BE49-F238E27FC236}">
                    <a16:creationId xmlns:a16="http://schemas.microsoft.com/office/drawing/2014/main" id="{2229D809-015F-958B-65AF-EEECA97270F4}"/>
                  </a:ext>
                </a:extLst>
              </p:cNvPr>
              <p:cNvSpPr/>
              <p:nvPr/>
            </p:nvSpPr>
            <p:spPr>
              <a:xfrm>
                <a:off x="604684" y="3834580"/>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8" name="Hexagon 7">
                <a:extLst>
                  <a:ext uri="{FF2B5EF4-FFF2-40B4-BE49-F238E27FC236}">
                    <a16:creationId xmlns:a16="http://schemas.microsoft.com/office/drawing/2014/main" id="{0C5209CC-7936-302C-CDC7-55A8D99B1070}"/>
                  </a:ext>
                </a:extLst>
              </p:cNvPr>
              <p:cNvSpPr/>
              <p:nvPr/>
            </p:nvSpPr>
            <p:spPr>
              <a:xfrm>
                <a:off x="1342886" y="1608240"/>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9" name="Hexagon 8">
                <a:extLst>
                  <a:ext uri="{FF2B5EF4-FFF2-40B4-BE49-F238E27FC236}">
                    <a16:creationId xmlns:a16="http://schemas.microsoft.com/office/drawing/2014/main" id="{9ABBC43C-BF8D-D93F-24B0-11E0F9A25CC4}"/>
                  </a:ext>
                </a:extLst>
              </p:cNvPr>
              <p:cNvSpPr/>
              <p:nvPr/>
            </p:nvSpPr>
            <p:spPr>
              <a:xfrm>
                <a:off x="1366917" y="506768"/>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sp>
            <p:nvSpPr>
              <p:cNvPr id="10" name="Hexagon 9">
                <a:extLst>
                  <a:ext uri="{FF2B5EF4-FFF2-40B4-BE49-F238E27FC236}">
                    <a16:creationId xmlns:a16="http://schemas.microsoft.com/office/drawing/2014/main" id="{82F14062-1602-662C-A6DD-CA8C938106DD}"/>
                  </a:ext>
                </a:extLst>
              </p:cNvPr>
              <p:cNvSpPr/>
              <p:nvPr/>
            </p:nvSpPr>
            <p:spPr>
              <a:xfrm>
                <a:off x="2330241" y="10815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1" name="Hexagon 10">
                <a:extLst>
                  <a:ext uri="{FF2B5EF4-FFF2-40B4-BE49-F238E27FC236}">
                    <a16:creationId xmlns:a16="http://schemas.microsoft.com/office/drawing/2014/main" id="{6143C018-5C81-10B0-0F45-565E8A82CD00}"/>
                  </a:ext>
                </a:extLst>
              </p:cNvPr>
              <p:cNvSpPr/>
              <p:nvPr/>
            </p:nvSpPr>
            <p:spPr>
              <a:xfrm>
                <a:off x="604684" y="60370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2" name="Hexagon 11">
                <a:extLst>
                  <a:ext uri="{FF2B5EF4-FFF2-40B4-BE49-F238E27FC236}">
                    <a16:creationId xmlns:a16="http://schemas.microsoft.com/office/drawing/2014/main" id="{D21E374F-050B-4DE6-D133-C567D764F1E1}"/>
                  </a:ext>
                </a:extLst>
              </p:cNvPr>
              <p:cNvSpPr/>
              <p:nvPr/>
            </p:nvSpPr>
            <p:spPr>
              <a:xfrm>
                <a:off x="1612490" y="65876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3" name="Hexagon 12">
                <a:extLst>
                  <a:ext uri="{FF2B5EF4-FFF2-40B4-BE49-F238E27FC236}">
                    <a16:creationId xmlns:a16="http://schemas.microsoft.com/office/drawing/2014/main" id="{EDE7589F-30B1-9A7D-FE34-F61B44B8614C}"/>
                  </a:ext>
                </a:extLst>
              </p:cNvPr>
              <p:cNvSpPr/>
              <p:nvPr/>
            </p:nvSpPr>
            <p:spPr>
              <a:xfrm>
                <a:off x="894736" y="768882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4" name="Hexagon 13">
                <a:extLst>
                  <a:ext uri="{FF2B5EF4-FFF2-40B4-BE49-F238E27FC236}">
                    <a16:creationId xmlns:a16="http://schemas.microsoft.com/office/drawing/2014/main" id="{9C738B02-EB38-9550-5BA6-F28D74CF7309}"/>
                  </a:ext>
                </a:extLst>
              </p:cNvPr>
              <p:cNvSpPr/>
              <p:nvPr/>
            </p:nvSpPr>
            <p:spPr>
              <a:xfrm>
                <a:off x="1612489" y="54863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5" name="Hexagon 14">
                <a:extLst>
                  <a:ext uri="{FF2B5EF4-FFF2-40B4-BE49-F238E27FC236}">
                    <a16:creationId xmlns:a16="http://schemas.microsoft.com/office/drawing/2014/main" id="{E1DB225C-6C41-7385-8AAA-BB585B897B13}"/>
                  </a:ext>
                </a:extLst>
              </p:cNvPr>
              <p:cNvSpPr/>
              <p:nvPr/>
            </p:nvSpPr>
            <p:spPr>
              <a:xfrm>
                <a:off x="1612488" y="438518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29" name="Hexagon 28">
                <a:extLst>
                  <a:ext uri="{FF2B5EF4-FFF2-40B4-BE49-F238E27FC236}">
                    <a16:creationId xmlns:a16="http://schemas.microsoft.com/office/drawing/2014/main" id="{C7293C79-7FFD-4613-8DE8-63566331EB68}"/>
                  </a:ext>
                </a:extLst>
              </p:cNvPr>
              <p:cNvSpPr/>
              <p:nvPr/>
            </p:nvSpPr>
            <p:spPr>
              <a:xfrm>
                <a:off x="-693173" y="45310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0" name="Hexagon 29">
                <a:extLst>
                  <a:ext uri="{FF2B5EF4-FFF2-40B4-BE49-F238E27FC236}">
                    <a16:creationId xmlns:a16="http://schemas.microsoft.com/office/drawing/2014/main" id="{9CED2DB9-5F0B-97AB-2469-F09217C66556}"/>
                  </a:ext>
                </a:extLst>
              </p:cNvPr>
              <p:cNvSpPr/>
              <p:nvPr/>
            </p:nvSpPr>
            <p:spPr>
              <a:xfrm>
                <a:off x="314632" y="-975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1" name="Hexagon 30">
                <a:extLst>
                  <a:ext uri="{FF2B5EF4-FFF2-40B4-BE49-F238E27FC236}">
                    <a16:creationId xmlns:a16="http://schemas.microsoft.com/office/drawing/2014/main" id="{6808AA60-34CF-1333-70FD-771FBFA3FDD5}"/>
                  </a:ext>
                </a:extLst>
              </p:cNvPr>
              <p:cNvSpPr/>
              <p:nvPr/>
            </p:nvSpPr>
            <p:spPr>
              <a:xfrm>
                <a:off x="314631" y="-119871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2" name="Hexagon 31">
                <a:extLst>
                  <a:ext uri="{FF2B5EF4-FFF2-40B4-BE49-F238E27FC236}">
                    <a16:creationId xmlns:a16="http://schemas.microsoft.com/office/drawing/2014/main" id="{A6933CA6-D83B-3A95-AD88-344CC7D67811}"/>
                  </a:ext>
                </a:extLst>
              </p:cNvPr>
              <p:cNvSpPr/>
              <p:nvPr/>
            </p:nvSpPr>
            <p:spPr>
              <a:xfrm>
                <a:off x="1322436" y="-648113"/>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sp>
            <p:nvSpPr>
              <p:cNvPr id="33" name="Hexagon 32">
                <a:extLst>
                  <a:ext uri="{FF2B5EF4-FFF2-40B4-BE49-F238E27FC236}">
                    <a16:creationId xmlns:a16="http://schemas.microsoft.com/office/drawing/2014/main" id="{F440CBCF-5DCA-AAB2-713C-7199F1F139BE}"/>
                  </a:ext>
                </a:extLst>
              </p:cNvPr>
              <p:cNvSpPr/>
              <p:nvPr/>
            </p:nvSpPr>
            <p:spPr>
              <a:xfrm>
                <a:off x="1981590" y="1069995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4" name="Hexagon 33">
                <a:extLst>
                  <a:ext uri="{FF2B5EF4-FFF2-40B4-BE49-F238E27FC236}">
                    <a16:creationId xmlns:a16="http://schemas.microsoft.com/office/drawing/2014/main" id="{D44973C9-F497-C115-586E-7F0DF718506B}"/>
                  </a:ext>
                </a:extLst>
              </p:cNvPr>
              <p:cNvSpPr/>
              <p:nvPr/>
            </p:nvSpPr>
            <p:spPr>
              <a:xfrm>
                <a:off x="1981589" y="955039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5" name="Hexagon 34">
                <a:extLst>
                  <a:ext uri="{FF2B5EF4-FFF2-40B4-BE49-F238E27FC236}">
                    <a16:creationId xmlns:a16="http://schemas.microsoft.com/office/drawing/2014/main" id="{BB6CF0AE-8E2A-B64E-8BDC-D0A9DD99F2F7}"/>
                  </a:ext>
                </a:extLst>
              </p:cNvPr>
              <p:cNvSpPr/>
              <p:nvPr/>
            </p:nvSpPr>
            <p:spPr>
              <a:xfrm>
                <a:off x="-252788" y="95610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6" name="Hexagon 35">
                <a:extLst>
                  <a:ext uri="{FF2B5EF4-FFF2-40B4-BE49-F238E27FC236}">
                    <a16:creationId xmlns:a16="http://schemas.microsoft.com/office/drawing/2014/main" id="{08B1AF38-ECAC-E275-9109-2780E688085F}"/>
                  </a:ext>
                </a:extLst>
              </p:cNvPr>
              <p:cNvSpPr/>
              <p:nvPr/>
            </p:nvSpPr>
            <p:spPr>
              <a:xfrm>
                <a:off x="894735" y="890515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7" name="Hexagon 36">
                <a:extLst>
                  <a:ext uri="{FF2B5EF4-FFF2-40B4-BE49-F238E27FC236}">
                    <a16:creationId xmlns:a16="http://schemas.microsoft.com/office/drawing/2014/main" id="{9E7F2DB6-00C0-BE50-C93E-29288065E4C6}"/>
                  </a:ext>
                </a:extLst>
              </p:cNvPr>
              <p:cNvSpPr/>
              <p:nvPr/>
            </p:nvSpPr>
            <p:spPr>
              <a:xfrm>
                <a:off x="1981589" y="8354548"/>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8" name="Hexagon 37">
                <a:extLst>
                  <a:ext uri="{FF2B5EF4-FFF2-40B4-BE49-F238E27FC236}">
                    <a16:creationId xmlns:a16="http://schemas.microsoft.com/office/drawing/2014/main" id="{EB940602-7B95-8A58-7ED2-376483037857}"/>
                  </a:ext>
                </a:extLst>
              </p:cNvPr>
              <p:cNvSpPr/>
              <p:nvPr/>
            </p:nvSpPr>
            <p:spPr>
              <a:xfrm>
                <a:off x="1342886" y="-17738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sp>
            <p:nvSpPr>
              <p:cNvPr id="39" name="Hexagon 38">
                <a:extLst>
                  <a:ext uri="{FF2B5EF4-FFF2-40B4-BE49-F238E27FC236}">
                    <a16:creationId xmlns:a16="http://schemas.microsoft.com/office/drawing/2014/main" id="{E52B081A-59A1-85C9-BBBD-37472C5AD6C6}"/>
                  </a:ext>
                </a:extLst>
              </p:cNvPr>
              <p:cNvSpPr/>
              <p:nvPr/>
            </p:nvSpPr>
            <p:spPr>
              <a:xfrm>
                <a:off x="1342886" y="-28751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40" name="Hexagon 39">
                <a:extLst>
                  <a:ext uri="{FF2B5EF4-FFF2-40B4-BE49-F238E27FC236}">
                    <a16:creationId xmlns:a16="http://schemas.microsoft.com/office/drawing/2014/main" id="{FA3D02F2-9104-6375-30BE-8B329C2F3BE3}"/>
                  </a:ext>
                </a:extLst>
              </p:cNvPr>
              <p:cNvSpPr/>
              <p:nvPr/>
            </p:nvSpPr>
            <p:spPr>
              <a:xfrm>
                <a:off x="-672723" y="-295295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41" name="Hexagon 40">
                <a:extLst>
                  <a:ext uri="{FF2B5EF4-FFF2-40B4-BE49-F238E27FC236}">
                    <a16:creationId xmlns:a16="http://schemas.microsoft.com/office/drawing/2014/main" id="{BE5DFD68-B5CC-86B4-A46D-DE4E76E57C2C}"/>
                  </a:ext>
                </a:extLst>
              </p:cNvPr>
              <p:cNvSpPr/>
              <p:nvPr/>
            </p:nvSpPr>
            <p:spPr>
              <a:xfrm>
                <a:off x="335082" y="-350355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grpSp>
        <p:sp>
          <p:nvSpPr>
            <p:cNvPr id="42" name="Hexagon 41">
              <a:extLst>
                <a:ext uri="{FF2B5EF4-FFF2-40B4-BE49-F238E27FC236}">
                  <a16:creationId xmlns:a16="http://schemas.microsoft.com/office/drawing/2014/main" id="{12733AB5-1DAA-D136-B2E2-B58CA44CB066}"/>
                </a:ext>
              </a:extLst>
            </p:cNvPr>
            <p:cNvSpPr/>
            <p:nvPr/>
          </p:nvSpPr>
          <p:spPr>
            <a:xfrm>
              <a:off x="1342886" y="-405416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grpSp>
      <p:pic>
        <p:nvPicPr>
          <p:cNvPr id="46" name="Graphic 45" descr="Employee badge with solid fill">
            <a:extLst>
              <a:ext uri="{FF2B5EF4-FFF2-40B4-BE49-F238E27FC236}">
                <a16:creationId xmlns:a16="http://schemas.microsoft.com/office/drawing/2014/main" id="{DBCB6665-0E9F-89CB-8F80-17E8733D27C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07598" y="-2301715"/>
            <a:ext cx="763027" cy="763027"/>
          </a:xfrm>
          <a:prstGeom prst="rect">
            <a:avLst/>
          </a:prstGeom>
        </p:spPr>
      </p:pic>
      <p:pic>
        <p:nvPicPr>
          <p:cNvPr id="52" name="Graphic 51" descr="Bullseye with solid fill">
            <a:extLst>
              <a:ext uri="{FF2B5EF4-FFF2-40B4-BE49-F238E27FC236}">
                <a16:creationId xmlns:a16="http://schemas.microsoft.com/office/drawing/2014/main" id="{0144CAD0-A748-7A8C-ACAF-68E38F6F614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406868" y="-2388883"/>
            <a:ext cx="914400" cy="914400"/>
          </a:xfrm>
          <a:prstGeom prst="rect">
            <a:avLst/>
          </a:prstGeom>
        </p:spPr>
      </p:pic>
      <p:pic>
        <p:nvPicPr>
          <p:cNvPr id="69" name="Graphic 68" descr="Earth globe: Americas with solid fill">
            <a:extLst>
              <a:ext uri="{FF2B5EF4-FFF2-40B4-BE49-F238E27FC236}">
                <a16:creationId xmlns:a16="http://schemas.microsoft.com/office/drawing/2014/main" id="{D1A49597-06B1-B2DB-50CE-79D0D892C9C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25726" y="-1889976"/>
            <a:ext cx="914400" cy="914400"/>
          </a:xfrm>
          <a:prstGeom prst="rect">
            <a:avLst/>
          </a:prstGeom>
        </p:spPr>
      </p:pic>
      <p:pic>
        <p:nvPicPr>
          <p:cNvPr id="135" name="Graphic 134" descr="Dollar with solid fill">
            <a:extLst>
              <a:ext uri="{FF2B5EF4-FFF2-40B4-BE49-F238E27FC236}">
                <a16:creationId xmlns:a16="http://schemas.microsoft.com/office/drawing/2014/main" id="{FC3A590A-FBC9-2D81-6245-AA185EFC6F7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250140" y="-675282"/>
            <a:ext cx="914400" cy="914400"/>
          </a:xfrm>
          <a:prstGeom prst="rect">
            <a:avLst/>
          </a:prstGeom>
        </p:spPr>
      </p:pic>
      <p:pic>
        <p:nvPicPr>
          <p:cNvPr id="51" name="Graphic 50" descr="Atom with solid fill">
            <a:extLst>
              <a:ext uri="{FF2B5EF4-FFF2-40B4-BE49-F238E27FC236}">
                <a16:creationId xmlns:a16="http://schemas.microsoft.com/office/drawing/2014/main" id="{586833A5-950A-A8FE-50B9-130E2A1EC15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271882" y="480960"/>
            <a:ext cx="914400" cy="914400"/>
          </a:xfrm>
          <a:prstGeom prst="rect">
            <a:avLst/>
          </a:prstGeom>
        </p:spPr>
      </p:pic>
      <p:pic>
        <p:nvPicPr>
          <p:cNvPr id="64" name="Graphic 63" descr="Internet with solid fill">
            <a:extLst>
              <a:ext uri="{FF2B5EF4-FFF2-40B4-BE49-F238E27FC236}">
                <a16:creationId xmlns:a16="http://schemas.microsoft.com/office/drawing/2014/main" id="{74AA5047-016C-F934-F490-2E16624910C6}"/>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232846" y="1705686"/>
            <a:ext cx="914400" cy="914400"/>
          </a:xfrm>
          <a:prstGeom prst="rect">
            <a:avLst/>
          </a:prstGeom>
        </p:spPr>
      </p:pic>
      <p:sp>
        <p:nvSpPr>
          <p:cNvPr id="24" name="Text 0">
            <a:extLst>
              <a:ext uri="{FF2B5EF4-FFF2-40B4-BE49-F238E27FC236}">
                <a16:creationId xmlns:a16="http://schemas.microsoft.com/office/drawing/2014/main" id="{8B08A24B-F856-B286-1A89-DB9C4AB0771D}"/>
              </a:ext>
            </a:extLst>
          </p:cNvPr>
          <p:cNvSpPr/>
          <p:nvPr/>
        </p:nvSpPr>
        <p:spPr>
          <a:xfrm>
            <a:off x="4042530" y="278817"/>
            <a:ext cx="4920377" cy="310158"/>
          </a:xfrm>
          <a:prstGeom prst="rect">
            <a:avLst/>
          </a:prstGeom>
          <a:noFill/>
          <a:ln/>
        </p:spPr>
        <p:txBody>
          <a:bodyPr wrap="none" lIns="0" tIns="0" rIns="0" bIns="0" rtlCol="0" anchor="t"/>
          <a:lstStyle/>
          <a:p>
            <a:pPr marL="0" indent="0" algn="r" rtl="1">
              <a:lnSpc>
                <a:spcPts val="2400"/>
              </a:lnSpc>
              <a:buNone/>
            </a:pPr>
            <a:r>
              <a:rPr lang="en-US" sz="1950" b="1" dirty="0">
                <a:solidFill>
                  <a:schemeClr val="bg2"/>
                </a:solidFill>
                <a:latin typeface="Inter Bold" pitchFamily="34" charset="0"/>
                <a:ea typeface="Inter Bold" pitchFamily="34" charset="-122"/>
                <a:cs typeface="B Nazanin" panose="00000400000000000000" pitchFamily="2" charset="-78"/>
              </a:rPr>
              <a:t>اروپای غربی: فروش سلاح دوجانبه و منافع اقتصادی</a:t>
            </a:r>
            <a:endParaRPr lang="en-US" sz="1950" dirty="0">
              <a:solidFill>
                <a:schemeClr val="bg2"/>
              </a:solidFill>
              <a:cs typeface="B Nazanin" panose="00000400000000000000" pitchFamily="2" charset="-78"/>
            </a:endParaRPr>
          </a:p>
        </p:txBody>
      </p:sp>
      <p:sp>
        <p:nvSpPr>
          <p:cNvPr id="25" name="Text 1">
            <a:extLst>
              <a:ext uri="{FF2B5EF4-FFF2-40B4-BE49-F238E27FC236}">
                <a16:creationId xmlns:a16="http://schemas.microsoft.com/office/drawing/2014/main" id="{DC66CE0A-4C48-D496-6675-03D766D96043}"/>
              </a:ext>
            </a:extLst>
          </p:cNvPr>
          <p:cNvSpPr/>
          <p:nvPr/>
        </p:nvSpPr>
        <p:spPr>
          <a:xfrm>
            <a:off x="3924484" y="603309"/>
            <a:ext cx="4969076" cy="45719"/>
          </a:xfrm>
          <a:prstGeom prst="rect">
            <a:avLst/>
          </a:prstGeom>
          <a:noFill/>
          <a:ln/>
        </p:spPr>
        <p:txBody>
          <a:bodyPr wrap="none" lIns="0" tIns="0" rIns="0" bIns="0" rtlCol="0" anchor="t"/>
          <a:lstStyle/>
          <a:p>
            <a:pPr marL="0" indent="0" algn="r" rtl="1">
              <a:lnSpc>
                <a:spcPts val="1250"/>
              </a:lnSpc>
              <a:buNone/>
            </a:pPr>
            <a:r>
              <a:rPr lang="en-US" sz="1000" dirty="0">
                <a:solidFill>
                  <a:schemeClr val="bg2"/>
                </a:solidFill>
                <a:latin typeface="Inter" pitchFamily="34" charset="0"/>
                <a:ea typeface="Inter" pitchFamily="34" charset="-122"/>
                <a:cs typeface="B Nazanin" panose="00000400000000000000" pitchFamily="2" charset="-78"/>
              </a:rPr>
              <a:t>کشورهای اروپای غربی به ویژه فرانسه، آلمان، بریتانیا و ایتالیا، با وجود ادعای بی‌طرفی، نقش فعالی </a:t>
            </a:r>
            <a:r>
              <a:rPr lang="en-US" sz="1000" dirty="0" err="1">
                <a:solidFill>
                  <a:schemeClr val="bg2"/>
                </a:solidFill>
                <a:latin typeface="Inter" pitchFamily="34" charset="0"/>
                <a:ea typeface="Inter" pitchFamily="34" charset="-122"/>
                <a:cs typeface="B Nazanin" panose="00000400000000000000" pitchFamily="2" charset="-78"/>
              </a:rPr>
              <a:t>در</a:t>
            </a:r>
            <a:r>
              <a:rPr lang="en-US" sz="1000" dirty="0">
                <a:solidFill>
                  <a:schemeClr val="bg2"/>
                </a:solidFill>
                <a:latin typeface="Inter" pitchFamily="34" charset="0"/>
                <a:ea typeface="Inter" pitchFamily="34" charset="-122"/>
                <a:cs typeface="B Nazanin" panose="00000400000000000000" pitchFamily="2" charset="-78"/>
              </a:rPr>
              <a:t> </a:t>
            </a:r>
            <a:r>
              <a:rPr lang="en-US" sz="1000" dirty="0" err="1">
                <a:solidFill>
                  <a:schemeClr val="bg2"/>
                </a:solidFill>
                <a:latin typeface="Inter" pitchFamily="34" charset="0"/>
                <a:ea typeface="Inter" pitchFamily="34" charset="-122"/>
                <a:cs typeface="B Nazanin" panose="00000400000000000000" pitchFamily="2" charset="-78"/>
              </a:rPr>
              <a:t>تأمین</a:t>
            </a:r>
            <a:endParaRPr lang="en-US" sz="1000" dirty="0">
              <a:solidFill>
                <a:schemeClr val="bg2"/>
              </a:solidFill>
              <a:latin typeface="Inter" pitchFamily="34" charset="0"/>
              <a:ea typeface="Inter" pitchFamily="34" charset="-122"/>
              <a:cs typeface="B Nazanin" panose="00000400000000000000" pitchFamily="2" charset="-78"/>
            </a:endParaRPr>
          </a:p>
          <a:p>
            <a:pPr marL="0" indent="0" algn="r" rtl="1">
              <a:lnSpc>
                <a:spcPts val="1250"/>
              </a:lnSpc>
              <a:buNone/>
            </a:pPr>
            <a:r>
              <a:rPr lang="en-US" sz="1000" dirty="0">
                <a:solidFill>
                  <a:schemeClr val="bg2"/>
                </a:solidFill>
                <a:latin typeface="Inter" pitchFamily="34" charset="0"/>
                <a:ea typeface="Inter" pitchFamily="34" charset="-122"/>
                <a:cs typeface="B Nazanin" panose="00000400000000000000" pitchFamily="2" charset="-78"/>
              </a:rPr>
              <a:t> نیازهای نظامی و صنعتی هر دو طرف جنگ ایفا کردند. این کشورها که دارای صنایع تسلیحاتی پیشرفته </a:t>
            </a:r>
            <a:r>
              <a:rPr lang="en-US" sz="1000" dirty="0" err="1">
                <a:solidFill>
                  <a:schemeClr val="bg2"/>
                </a:solidFill>
                <a:latin typeface="Inter" pitchFamily="34" charset="0"/>
                <a:ea typeface="Inter" pitchFamily="34" charset="-122"/>
                <a:cs typeface="B Nazanin" panose="00000400000000000000" pitchFamily="2" charset="-78"/>
              </a:rPr>
              <a:t>بودند</a:t>
            </a:r>
            <a:r>
              <a:rPr lang="en-US" sz="1000" dirty="0">
                <a:solidFill>
                  <a:schemeClr val="bg2"/>
                </a:solidFill>
                <a:latin typeface="Inter" pitchFamily="34" charset="0"/>
                <a:ea typeface="Inter" pitchFamily="34" charset="-122"/>
                <a:cs typeface="B Nazanin" panose="00000400000000000000" pitchFamily="2" charset="-78"/>
              </a:rPr>
              <a:t>،</a:t>
            </a:r>
          </a:p>
          <a:p>
            <a:pPr marL="0" indent="0" algn="r" rtl="1">
              <a:lnSpc>
                <a:spcPts val="1250"/>
              </a:lnSpc>
              <a:buNone/>
            </a:pPr>
            <a:r>
              <a:rPr lang="en-US" sz="1000" dirty="0">
                <a:solidFill>
                  <a:schemeClr val="bg2"/>
                </a:solidFill>
                <a:latin typeface="Inter" pitchFamily="34" charset="0"/>
                <a:ea typeface="Inter" pitchFamily="34" charset="-122"/>
                <a:cs typeface="B Nazanin" panose="00000400000000000000" pitchFamily="2" charset="-78"/>
              </a:rPr>
              <a:t> جنگ را فرصتی برای کسب درآمدهای کلان می‌دیدند.</a:t>
            </a:r>
            <a:endParaRPr lang="en-US" sz="1000" dirty="0">
              <a:solidFill>
                <a:schemeClr val="bg2"/>
              </a:solidFill>
              <a:cs typeface="B Nazanin" panose="00000400000000000000" pitchFamily="2" charset="-78"/>
            </a:endParaRPr>
          </a:p>
        </p:txBody>
      </p:sp>
      <p:sp>
        <p:nvSpPr>
          <p:cNvPr id="92" name="Shape 37">
            <a:extLst>
              <a:ext uri="{FF2B5EF4-FFF2-40B4-BE49-F238E27FC236}">
                <a16:creationId xmlns:a16="http://schemas.microsoft.com/office/drawing/2014/main" id="{714FE404-4BAC-D7E7-8A59-029E395E2C64}"/>
              </a:ext>
            </a:extLst>
          </p:cNvPr>
          <p:cNvSpPr/>
          <p:nvPr/>
        </p:nvSpPr>
        <p:spPr>
          <a:xfrm>
            <a:off x="396835" y="11510963"/>
            <a:ext cx="13836729" cy="421362"/>
          </a:xfrm>
          <a:prstGeom prst="roundRect">
            <a:avLst>
              <a:gd name="adj" fmla="val 9892"/>
            </a:avLst>
          </a:prstGeom>
          <a:solidFill>
            <a:srgbClr val="C7C9EA"/>
          </a:solidFill>
          <a:ln/>
        </p:spPr>
      </p:sp>
      <p:pic>
        <p:nvPicPr>
          <p:cNvPr id="93" name="Image 5" descr="preencoded.png">
            <a:extLst>
              <a:ext uri="{FF2B5EF4-FFF2-40B4-BE49-F238E27FC236}">
                <a16:creationId xmlns:a16="http://schemas.microsoft.com/office/drawing/2014/main" id="{3EE2324F-B481-6EA2-221D-82886010163C}"/>
              </a:ext>
            </a:extLst>
          </p:cNvPr>
          <p:cNvPicPr>
            <a:picLocks noChangeAspect="1"/>
          </p:cNvPicPr>
          <p:nvPr/>
        </p:nvPicPr>
        <p:blipFill>
          <a:blip r:embed="rId19"/>
          <a:stretch>
            <a:fillRect/>
          </a:stretch>
        </p:blipFill>
        <p:spPr>
          <a:xfrm>
            <a:off x="496014" y="11662410"/>
            <a:ext cx="123944" cy="99179"/>
          </a:xfrm>
          <a:prstGeom prst="rect">
            <a:avLst/>
          </a:prstGeom>
        </p:spPr>
      </p:pic>
      <p:sp>
        <p:nvSpPr>
          <p:cNvPr id="94" name="Text 38">
            <a:extLst>
              <a:ext uri="{FF2B5EF4-FFF2-40B4-BE49-F238E27FC236}">
                <a16:creationId xmlns:a16="http://schemas.microsoft.com/office/drawing/2014/main" id="{2C51A4BE-9FAB-8A73-AA4B-C097C0CE6C6C}"/>
              </a:ext>
            </a:extLst>
          </p:cNvPr>
          <p:cNvSpPr/>
          <p:nvPr/>
        </p:nvSpPr>
        <p:spPr>
          <a:xfrm>
            <a:off x="719137" y="11634907"/>
            <a:ext cx="13415248" cy="158591"/>
          </a:xfrm>
          <a:prstGeom prst="rect">
            <a:avLst/>
          </a:prstGeom>
          <a:noFill/>
          <a:ln/>
        </p:spPr>
        <p:txBody>
          <a:bodyPr wrap="none" lIns="0" tIns="0" rIns="0" bIns="0" rtlCol="0" anchor="t"/>
          <a:lstStyle/>
          <a:p>
            <a:pPr marL="0" indent="0" algn="r" rtl="1">
              <a:lnSpc>
                <a:spcPts val="1250"/>
              </a:lnSpc>
              <a:buNone/>
            </a:pPr>
            <a:r>
              <a:rPr lang="en-US" sz="750" b="1" dirty="0">
                <a:solidFill>
                  <a:srgbClr val="000000"/>
                </a:solidFill>
                <a:latin typeface="Inter" pitchFamily="34" charset="0"/>
                <a:ea typeface="Inter" pitchFamily="34" charset="-122"/>
                <a:cs typeface="B Nazanin" panose="00000400000000000000" pitchFamily="2" charset="-78"/>
              </a:rPr>
              <a:t>ابعاد اخلاقی:</a:t>
            </a:r>
            <a:r>
              <a:rPr lang="en-US" sz="750" dirty="0">
                <a:solidFill>
                  <a:srgbClr val="000000"/>
                </a:solidFill>
                <a:latin typeface="Inter" pitchFamily="34" charset="0"/>
                <a:ea typeface="Inter" pitchFamily="34" charset="-122"/>
                <a:cs typeface="B Nazanin" panose="00000400000000000000" pitchFamily="2" charset="-78"/>
              </a:rPr>
              <a:t> فروش سلاح و فناوری به هر دو طرف جنگ، در حالی که صدها هزار نفر کشته می‌شدند، یکی از تاریک‌ترین فصل‌های اخلاقی سیاست اروپا در قرن بیستم بود. منافع اقتصادی بر ارزش‌های انسانی غلبه کرده بود.</a:t>
            </a:r>
            <a:endParaRPr lang="en-US" sz="750" dirty="0">
              <a:cs typeface="B Nazanin" panose="00000400000000000000" pitchFamily="2" charset="-78"/>
            </a:endParaRPr>
          </a:p>
        </p:txBody>
      </p:sp>
      <p:grpSp>
        <p:nvGrpSpPr>
          <p:cNvPr id="95" name="Group 94">
            <a:extLst>
              <a:ext uri="{FF2B5EF4-FFF2-40B4-BE49-F238E27FC236}">
                <a16:creationId xmlns:a16="http://schemas.microsoft.com/office/drawing/2014/main" id="{96CA1F21-6DA4-6A24-42F8-926B65765E0A}"/>
              </a:ext>
            </a:extLst>
          </p:cNvPr>
          <p:cNvGrpSpPr/>
          <p:nvPr/>
        </p:nvGrpSpPr>
        <p:grpSpPr>
          <a:xfrm>
            <a:off x="8091835" y="1355419"/>
            <a:ext cx="3911069" cy="3663876"/>
            <a:chOff x="396835" y="1051560"/>
            <a:chExt cx="6868835" cy="3662005"/>
          </a:xfrm>
        </p:grpSpPr>
        <p:sp>
          <p:nvSpPr>
            <p:cNvPr id="96" name="Shape 10">
              <a:extLst>
                <a:ext uri="{FF2B5EF4-FFF2-40B4-BE49-F238E27FC236}">
                  <a16:creationId xmlns:a16="http://schemas.microsoft.com/office/drawing/2014/main" id="{67C3C581-6ADC-2A9A-E6AA-1530D80265CF}"/>
                </a:ext>
              </a:extLst>
            </p:cNvPr>
            <p:cNvSpPr/>
            <p:nvPr/>
          </p:nvSpPr>
          <p:spPr>
            <a:xfrm>
              <a:off x="396835" y="1051560"/>
              <a:ext cx="6868835" cy="1781413"/>
            </a:xfrm>
            <a:prstGeom prst="roundRect">
              <a:avLst>
                <a:gd name="adj" fmla="val 2340"/>
              </a:avLst>
            </a:prstGeom>
            <a:solidFill>
              <a:srgbClr val="DADBF1"/>
            </a:solidFill>
            <a:ln w="7620">
              <a:solidFill>
                <a:srgbClr val="C0C1D7"/>
              </a:solidFill>
              <a:prstDash val="solid"/>
            </a:ln>
          </p:spPr>
        </p:sp>
        <p:sp>
          <p:nvSpPr>
            <p:cNvPr id="97" name="Shape 11">
              <a:extLst>
                <a:ext uri="{FF2B5EF4-FFF2-40B4-BE49-F238E27FC236}">
                  <a16:creationId xmlns:a16="http://schemas.microsoft.com/office/drawing/2014/main" id="{15C25BDF-9382-6C58-CF97-70AF1B7BADBD}"/>
                </a:ext>
              </a:extLst>
            </p:cNvPr>
            <p:cNvSpPr/>
            <p:nvPr/>
          </p:nvSpPr>
          <p:spPr>
            <a:xfrm>
              <a:off x="6861215" y="1158359"/>
              <a:ext cx="297656" cy="297656"/>
            </a:xfrm>
            <a:prstGeom prst="roundRect">
              <a:avLst>
                <a:gd name="adj" fmla="val 30716954"/>
              </a:avLst>
            </a:prstGeom>
            <a:solidFill>
              <a:srgbClr val="4950BC"/>
            </a:solidFill>
            <a:ln/>
          </p:spPr>
        </p:sp>
        <p:pic>
          <p:nvPicPr>
            <p:cNvPr id="98" name="Image 1" descr="preencoded.png">
              <a:extLst>
                <a:ext uri="{FF2B5EF4-FFF2-40B4-BE49-F238E27FC236}">
                  <a16:creationId xmlns:a16="http://schemas.microsoft.com/office/drawing/2014/main" id="{C23FC30F-1F24-37D2-392F-BA58D7322310}"/>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43130" y="1240155"/>
              <a:ext cx="133945" cy="133945"/>
            </a:xfrm>
            <a:prstGeom prst="rect">
              <a:avLst/>
            </a:prstGeom>
          </p:spPr>
        </p:pic>
        <p:sp>
          <p:nvSpPr>
            <p:cNvPr id="99" name="Text 12">
              <a:extLst>
                <a:ext uri="{FF2B5EF4-FFF2-40B4-BE49-F238E27FC236}">
                  <a16:creationId xmlns:a16="http://schemas.microsoft.com/office/drawing/2014/main" id="{D1CB3C37-C538-7953-CA14-946D7D1381F9}"/>
                </a:ext>
              </a:extLst>
            </p:cNvPr>
            <p:cNvSpPr/>
            <p:nvPr/>
          </p:nvSpPr>
          <p:spPr>
            <a:xfrm>
              <a:off x="5918478" y="1555194"/>
              <a:ext cx="1240393" cy="155019"/>
            </a:xfrm>
            <a:prstGeom prst="rect">
              <a:avLst/>
            </a:prstGeom>
            <a:noFill/>
            <a:ln/>
          </p:spPr>
          <p:txBody>
            <a:bodyPr wrap="none" lIns="0" tIns="0" rIns="0" bIns="0" rtlCol="0" anchor="t"/>
            <a:lstStyle/>
            <a:p>
              <a:pPr marL="0" indent="0" algn="r" rtl="1">
                <a:lnSpc>
                  <a:spcPts val="1200"/>
                </a:lnSpc>
                <a:buNone/>
              </a:pPr>
              <a:r>
                <a:rPr lang="en-US" sz="950" b="1" dirty="0">
                  <a:solidFill>
                    <a:srgbClr val="272525"/>
                  </a:solidFill>
                  <a:latin typeface="Inter Bold" pitchFamily="34" charset="0"/>
                  <a:ea typeface="Inter Bold" pitchFamily="34" charset="-122"/>
                  <a:cs typeface="Inter Bold" pitchFamily="34" charset="-120"/>
                </a:rPr>
                <a:t>آلمان</a:t>
              </a:r>
              <a:endParaRPr lang="en-US" sz="950" dirty="0"/>
            </a:p>
          </p:txBody>
        </p:sp>
        <p:sp>
          <p:nvSpPr>
            <p:cNvPr id="100" name="Text 13">
              <a:extLst>
                <a:ext uri="{FF2B5EF4-FFF2-40B4-BE49-F238E27FC236}">
                  <a16:creationId xmlns:a16="http://schemas.microsoft.com/office/drawing/2014/main" id="{530FBE13-1D53-18F3-079A-2527BFFC9AE5}"/>
                </a:ext>
              </a:extLst>
            </p:cNvPr>
            <p:cNvSpPr/>
            <p:nvPr/>
          </p:nvSpPr>
          <p:spPr>
            <a:xfrm>
              <a:off x="503634" y="1769745"/>
              <a:ext cx="6655237" cy="158591"/>
            </a:xfrm>
            <a:prstGeom prst="rect">
              <a:avLst/>
            </a:prstGeom>
            <a:noFill/>
            <a:ln/>
          </p:spPr>
          <p:txBody>
            <a:bodyPr wrap="none" lIns="0" tIns="0" rIns="0" bIns="0" rtlCol="0" anchor="t"/>
            <a:lstStyle/>
            <a:p>
              <a:pPr marL="0" indent="0" algn="r" rtl="1">
                <a:lnSpc>
                  <a:spcPts val="1250"/>
                </a:lnSpc>
                <a:buNone/>
              </a:pPr>
              <a:r>
                <a:rPr lang="en-US" sz="750" dirty="0">
                  <a:solidFill>
                    <a:srgbClr val="272525"/>
                  </a:solidFill>
                  <a:latin typeface="Inter" pitchFamily="34" charset="0"/>
                  <a:ea typeface="Inter" pitchFamily="34" charset="-122"/>
                  <a:cs typeface="Inter" pitchFamily="34" charset="-120"/>
                </a:rPr>
                <a:t>تأمین فناوری و مواد شیمیایی برای عراق</a:t>
              </a:r>
              <a:endParaRPr lang="en-US" sz="750" dirty="0"/>
            </a:p>
          </p:txBody>
        </p:sp>
        <p:sp>
          <p:nvSpPr>
            <p:cNvPr id="101" name="Text 14">
              <a:extLst>
                <a:ext uri="{FF2B5EF4-FFF2-40B4-BE49-F238E27FC236}">
                  <a16:creationId xmlns:a16="http://schemas.microsoft.com/office/drawing/2014/main" id="{B75DC255-9FE8-439B-C71F-CAE4AD2F0694}"/>
                </a:ext>
              </a:extLst>
            </p:cNvPr>
            <p:cNvSpPr/>
            <p:nvPr/>
          </p:nvSpPr>
          <p:spPr>
            <a:xfrm>
              <a:off x="503634" y="1987868"/>
              <a:ext cx="6655237"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مواد اولیه برای سلاح‌های شیمیایی</a:t>
              </a:r>
              <a:endParaRPr lang="en-US" sz="750" dirty="0"/>
            </a:p>
          </p:txBody>
        </p:sp>
        <p:sp>
          <p:nvSpPr>
            <p:cNvPr id="102" name="Text 15">
              <a:extLst>
                <a:ext uri="{FF2B5EF4-FFF2-40B4-BE49-F238E27FC236}">
                  <a16:creationId xmlns:a16="http://schemas.microsoft.com/office/drawing/2014/main" id="{6D12F885-CBD3-C9E1-7E07-5713166A8A69}"/>
                </a:ext>
              </a:extLst>
            </p:cNvPr>
            <p:cNvSpPr/>
            <p:nvPr/>
          </p:nvSpPr>
          <p:spPr>
            <a:xfrm>
              <a:off x="503634" y="2181106"/>
              <a:ext cx="6655237"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تجهیزات صنعتی دوگانه</a:t>
              </a:r>
              <a:endParaRPr lang="en-US" sz="750" dirty="0"/>
            </a:p>
          </p:txBody>
        </p:sp>
        <p:sp>
          <p:nvSpPr>
            <p:cNvPr id="103" name="Text 16">
              <a:extLst>
                <a:ext uri="{FF2B5EF4-FFF2-40B4-BE49-F238E27FC236}">
                  <a16:creationId xmlns:a16="http://schemas.microsoft.com/office/drawing/2014/main" id="{3B47CFC0-86FD-1BFA-A565-4EFECD3BF188}"/>
                </a:ext>
              </a:extLst>
            </p:cNvPr>
            <p:cNvSpPr/>
            <p:nvPr/>
          </p:nvSpPr>
          <p:spPr>
            <a:xfrm>
              <a:off x="503634" y="2374344"/>
              <a:ext cx="6655237"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فناوری ساخت پناهگاه‌های زیرزمینی</a:t>
              </a:r>
              <a:endParaRPr lang="en-US" sz="750" dirty="0"/>
            </a:p>
          </p:txBody>
        </p:sp>
        <p:sp>
          <p:nvSpPr>
            <p:cNvPr id="104" name="Text 17">
              <a:extLst>
                <a:ext uri="{FF2B5EF4-FFF2-40B4-BE49-F238E27FC236}">
                  <a16:creationId xmlns:a16="http://schemas.microsoft.com/office/drawing/2014/main" id="{5C8120E6-8824-D9E9-A5B3-D698BB36602A}"/>
                </a:ext>
              </a:extLst>
            </p:cNvPr>
            <p:cNvSpPr/>
            <p:nvPr/>
          </p:nvSpPr>
          <p:spPr>
            <a:xfrm>
              <a:off x="503634" y="2567583"/>
              <a:ext cx="6655237"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تجهیزات مخابراتی پیشرفته</a:t>
              </a:r>
              <a:endParaRPr lang="en-US" sz="750" dirty="0"/>
            </a:p>
          </p:txBody>
        </p:sp>
        <p:sp>
          <p:nvSpPr>
            <p:cNvPr id="105" name="Shape 26">
              <a:extLst>
                <a:ext uri="{FF2B5EF4-FFF2-40B4-BE49-F238E27FC236}">
                  <a16:creationId xmlns:a16="http://schemas.microsoft.com/office/drawing/2014/main" id="{B70CD64A-6C9D-7865-B36A-D3EF61E9DE3E}"/>
                </a:ext>
              </a:extLst>
            </p:cNvPr>
            <p:cNvSpPr/>
            <p:nvPr/>
          </p:nvSpPr>
          <p:spPr>
            <a:xfrm>
              <a:off x="396835" y="2932152"/>
              <a:ext cx="6868835" cy="1781413"/>
            </a:xfrm>
            <a:prstGeom prst="roundRect">
              <a:avLst>
                <a:gd name="adj" fmla="val 2340"/>
              </a:avLst>
            </a:prstGeom>
            <a:solidFill>
              <a:srgbClr val="DADBF1"/>
            </a:solidFill>
            <a:ln w="7620">
              <a:solidFill>
                <a:srgbClr val="C0C1D7"/>
              </a:solidFill>
              <a:prstDash val="solid"/>
            </a:ln>
          </p:spPr>
        </p:sp>
        <p:sp>
          <p:nvSpPr>
            <p:cNvPr id="106" name="Shape 27">
              <a:extLst>
                <a:ext uri="{FF2B5EF4-FFF2-40B4-BE49-F238E27FC236}">
                  <a16:creationId xmlns:a16="http://schemas.microsoft.com/office/drawing/2014/main" id="{26BCC82B-01D7-153C-A159-38CBC004C19F}"/>
                </a:ext>
              </a:extLst>
            </p:cNvPr>
            <p:cNvSpPr/>
            <p:nvPr/>
          </p:nvSpPr>
          <p:spPr>
            <a:xfrm>
              <a:off x="6861215" y="3038951"/>
              <a:ext cx="297656" cy="297656"/>
            </a:xfrm>
            <a:prstGeom prst="roundRect">
              <a:avLst>
                <a:gd name="adj" fmla="val 30716954"/>
              </a:avLst>
            </a:prstGeom>
            <a:solidFill>
              <a:srgbClr val="4950BC"/>
            </a:solidFill>
            <a:ln/>
          </p:spPr>
        </p:sp>
        <p:pic>
          <p:nvPicPr>
            <p:cNvPr id="107" name="Image 3" descr="preencoded.png">
              <a:extLst>
                <a:ext uri="{FF2B5EF4-FFF2-40B4-BE49-F238E27FC236}">
                  <a16:creationId xmlns:a16="http://schemas.microsoft.com/office/drawing/2014/main" id="{E18E97A6-63D8-B4CF-7A0F-A4F56CFC7459}"/>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943130" y="3120747"/>
              <a:ext cx="133945" cy="133945"/>
            </a:xfrm>
            <a:prstGeom prst="rect">
              <a:avLst/>
            </a:prstGeom>
          </p:spPr>
        </p:pic>
        <p:sp>
          <p:nvSpPr>
            <p:cNvPr id="108" name="Text 28">
              <a:extLst>
                <a:ext uri="{FF2B5EF4-FFF2-40B4-BE49-F238E27FC236}">
                  <a16:creationId xmlns:a16="http://schemas.microsoft.com/office/drawing/2014/main" id="{BFF96B0D-9509-D8C1-DC09-7E230A040127}"/>
                </a:ext>
              </a:extLst>
            </p:cNvPr>
            <p:cNvSpPr/>
            <p:nvPr/>
          </p:nvSpPr>
          <p:spPr>
            <a:xfrm>
              <a:off x="5918478" y="3435787"/>
              <a:ext cx="1240393" cy="155019"/>
            </a:xfrm>
            <a:prstGeom prst="rect">
              <a:avLst/>
            </a:prstGeom>
            <a:noFill/>
            <a:ln/>
          </p:spPr>
          <p:txBody>
            <a:bodyPr wrap="none" lIns="0" tIns="0" rIns="0" bIns="0" rtlCol="0" anchor="t"/>
            <a:lstStyle/>
            <a:p>
              <a:pPr marL="0" indent="0" algn="r" rtl="1">
                <a:lnSpc>
                  <a:spcPts val="1200"/>
                </a:lnSpc>
                <a:buNone/>
              </a:pPr>
              <a:r>
                <a:rPr lang="en-US" sz="950" b="1" dirty="0">
                  <a:solidFill>
                    <a:srgbClr val="272525"/>
                  </a:solidFill>
                  <a:latin typeface="Inter Bold" pitchFamily="34" charset="0"/>
                  <a:ea typeface="Inter Bold" pitchFamily="34" charset="-122"/>
                  <a:cs typeface="Inter Bold" pitchFamily="34" charset="-120"/>
                </a:rPr>
                <a:t>ایتالیا</a:t>
              </a:r>
              <a:endParaRPr lang="en-US" sz="950" dirty="0"/>
            </a:p>
          </p:txBody>
        </p:sp>
        <p:sp>
          <p:nvSpPr>
            <p:cNvPr id="109" name="Text 29">
              <a:extLst>
                <a:ext uri="{FF2B5EF4-FFF2-40B4-BE49-F238E27FC236}">
                  <a16:creationId xmlns:a16="http://schemas.microsoft.com/office/drawing/2014/main" id="{A9D0E5DA-B7B7-AAA9-6983-6DAE1CA76BB5}"/>
                </a:ext>
              </a:extLst>
            </p:cNvPr>
            <p:cNvSpPr/>
            <p:nvPr/>
          </p:nvSpPr>
          <p:spPr>
            <a:xfrm>
              <a:off x="503634" y="3650337"/>
              <a:ext cx="6655237" cy="158591"/>
            </a:xfrm>
            <a:prstGeom prst="rect">
              <a:avLst/>
            </a:prstGeom>
            <a:noFill/>
            <a:ln/>
          </p:spPr>
          <p:txBody>
            <a:bodyPr wrap="none" lIns="0" tIns="0" rIns="0" bIns="0" rtlCol="0" anchor="t"/>
            <a:lstStyle/>
            <a:p>
              <a:pPr marL="0" indent="0" algn="r" rtl="1">
                <a:lnSpc>
                  <a:spcPts val="1250"/>
                </a:lnSpc>
                <a:buNone/>
              </a:pPr>
              <a:r>
                <a:rPr lang="en-US" sz="750" dirty="0">
                  <a:solidFill>
                    <a:srgbClr val="272525"/>
                  </a:solidFill>
                  <a:latin typeface="Inter" pitchFamily="34" charset="0"/>
                  <a:ea typeface="Inter" pitchFamily="34" charset="-122"/>
                  <a:cs typeface="Inter" pitchFamily="34" charset="-120"/>
                </a:rPr>
                <a:t>تأمین تجهیزات دریایی و صنعتی</a:t>
              </a:r>
              <a:endParaRPr lang="en-US" sz="750" dirty="0"/>
            </a:p>
          </p:txBody>
        </p:sp>
        <p:sp>
          <p:nvSpPr>
            <p:cNvPr id="110" name="Text 30">
              <a:extLst>
                <a:ext uri="{FF2B5EF4-FFF2-40B4-BE49-F238E27FC236}">
                  <a16:creationId xmlns:a16="http://schemas.microsoft.com/office/drawing/2014/main" id="{8FFE4D87-E0A8-498B-4097-D120E5CBDBD6}"/>
                </a:ext>
              </a:extLst>
            </p:cNvPr>
            <p:cNvSpPr/>
            <p:nvPr/>
          </p:nvSpPr>
          <p:spPr>
            <a:xfrm>
              <a:off x="503634" y="3868460"/>
              <a:ext cx="6655237"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کشتی‌های جنگی و قایق‌های تندرو</a:t>
              </a:r>
              <a:endParaRPr lang="en-US" sz="750" dirty="0"/>
            </a:p>
          </p:txBody>
        </p:sp>
        <p:sp>
          <p:nvSpPr>
            <p:cNvPr id="111" name="Text 31">
              <a:extLst>
                <a:ext uri="{FF2B5EF4-FFF2-40B4-BE49-F238E27FC236}">
                  <a16:creationId xmlns:a16="http://schemas.microsoft.com/office/drawing/2014/main" id="{C9EF708C-75C0-AFE1-7FA6-5BBE3252779C}"/>
                </a:ext>
              </a:extLst>
            </p:cNvPr>
            <p:cNvSpPr/>
            <p:nvPr/>
          </p:nvSpPr>
          <p:spPr>
            <a:xfrm>
              <a:off x="503634" y="4061698"/>
              <a:ext cx="6655237"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هلیکوپترها و تجهیزات پروازی</a:t>
              </a:r>
              <a:endParaRPr lang="en-US" sz="750" dirty="0"/>
            </a:p>
          </p:txBody>
        </p:sp>
        <p:sp>
          <p:nvSpPr>
            <p:cNvPr id="112" name="Text 32">
              <a:extLst>
                <a:ext uri="{FF2B5EF4-FFF2-40B4-BE49-F238E27FC236}">
                  <a16:creationId xmlns:a16="http://schemas.microsoft.com/office/drawing/2014/main" id="{19ECCAF1-3797-3B50-746A-B93CE9D5F865}"/>
                </a:ext>
              </a:extLst>
            </p:cNvPr>
            <p:cNvSpPr/>
            <p:nvPr/>
          </p:nvSpPr>
          <p:spPr>
            <a:xfrm>
              <a:off x="503634" y="4254937"/>
              <a:ext cx="6655237"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تجهیزات صنعتی و شیمیایی</a:t>
              </a:r>
              <a:endParaRPr lang="en-US" sz="750" dirty="0"/>
            </a:p>
          </p:txBody>
        </p:sp>
        <p:sp>
          <p:nvSpPr>
            <p:cNvPr id="113" name="Text 33">
              <a:extLst>
                <a:ext uri="{FF2B5EF4-FFF2-40B4-BE49-F238E27FC236}">
                  <a16:creationId xmlns:a16="http://schemas.microsoft.com/office/drawing/2014/main" id="{EEEBD88F-36F6-5B76-E190-CD834B458470}"/>
                </a:ext>
              </a:extLst>
            </p:cNvPr>
            <p:cNvSpPr/>
            <p:nvPr/>
          </p:nvSpPr>
          <p:spPr>
            <a:xfrm>
              <a:off x="503634" y="4448175"/>
              <a:ext cx="6655237" cy="158591"/>
            </a:xfrm>
            <a:prstGeom prst="rect">
              <a:avLst/>
            </a:prstGeom>
            <a:noFill/>
            <a:ln/>
          </p:spPr>
          <p:txBody>
            <a:bodyPr wrap="none" lIns="0" tIns="0" rIns="0" bIns="0" rtlCol="0" anchor="t"/>
            <a:lstStyle/>
            <a:p>
              <a:pPr marL="342900" indent="-342900" algn="r" rtl="1">
                <a:lnSpc>
                  <a:spcPts val="1250"/>
                </a:lnSpc>
                <a:buSzPct val="100000"/>
                <a:buChar char="•"/>
              </a:pPr>
              <a:r>
                <a:rPr lang="en-US" sz="750" dirty="0">
                  <a:solidFill>
                    <a:srgbClr val="272525"/>
                  </a:solidFill>
                  <a:latin typeface="Inter" pitchFamily="34" charset="0"/>
                  <a:ea typeface="Inter" pitchFamily="34" charset="-122"/>
                  <a:cs typeface="Inter" pitchFamily="34" charset="-120"/>
                </a:rPr>
                <a:t>سیستم‌های مخابراتی</a:t>
              </a:r>
              <a:endParaRPr lang="en-US" sz="750" dirty="0"/>
            </a:p>
          </p:txBody>
        </p:sp>
      </p:grpSp>
      <p:grpSp>
        <p:nvGrpSpPr>
          <p:cNvPr id="153" name="Group 152">
            <a:extLst>
              <a:ext uri="{FF2B5EF4-FFF2-40B4-BE49-F238E27FC236}">
                <a16:creationId xmlns:a16="http://schemas.microsoft.com/office/drawing/2014/main" id="{0F5EB27F-F400-D575-484C-EB479C36D33B}"/>
              </a:ext>
            </a:extLst>
          </p:cNvPr>
          <p:cNvGrpSpPr/>
          <p:nvPr/>
        </p:nvGrpSpPr>
        <p:grpSpPr>
          <a:xfrm>
            <a:off x="5004700" y="5306344"/>
            <a:ext cx="6797397" cy="1167408"/>
            <a:chOff x="396835" y="4924306"/>
            <a:chExt cx="6797397" cy="1167408"/>
          </a:xfrm>
        </p:grpSpPr>
        <p:sp>
          <p:nvSpPr>
            <p:cNvPr id="154" name="Text 34">
              <a:extLst>
                <a:ext uri="{FF2B5EF4-FFF2-40B4-BE49-F238E27FC236}">
                  <a16:creationId xmlns:a16="http://schemas.microsoft.com/office/drawing/2014/main" id="{63085B56-964B-029B-74A7-D0FAB09FAFC4}"/>
                </a:ext>
              </a:extLst>
            </p:cNvPr>
            <p:cNvSpPr/>
            <p:nvPr/>
          </p:nvSpPr>
          <p:spPr>
            <a:xfrm>
              <a:off x="5705713" y="4924306"/>
              <a:ext cx="1488519" cy="185976"/>
            </a:xfrm>
            <a:prstGeom prst="rect">
              <a:avLst/>
            </a:prstGeom>
            <a:noFill/>
            <a:ln/>
          </p:spPr>
          <p:txBody>
            <a:bodyPr wrap="none" lIns="0" tIns="0" rIns="0" bIns="0" rtlCol="0" anchor="t"/>
            <a:lstStyle/>
            <a:p>
              <a:pPr marL="0" indent="0" algn="r" rtl="1">
                <a:lnSpc>
                  <a:spcPts val="1450"/>
                </a:lnSpc>
                <a:buNone/>
              </a:pPr>
              <a:r>
                <a:rPr lang="en-US" sz="1150" b="1" dirty="0">
                  <a:solidFill>
                    <a:schemeClr val="bg2"/>
                  </a:solidFill>
                  <a:latin typeface="Inter Bold" pitchFamily="34" charset="0"/>
                  <a:ea typeface="Inter Bold" pitchFamily="34" charset="-122"/>
                  <a:cs typeface="Inter Bold" pitchFamily="34" charset="-120"/>
                </a:rPr>
                <a:t>فروش دوجانبه</a:t>
              </a:r>
              <a:endParaRPr lang="en-US" sz="1150" dirty="0">
                <a:solidFill>
                  <a:schemeClr val="bg2"/>
                </a:solidFill>
              </a:endParaRPr>
            </a:p>
          </p:txBody>
        </p:sp>
        <p:sp>
          <p:nvSpPr>
            <p:cNvPr id="155" name="Text 35">
              <a:extLst>
                <a:ext uri="{FF2B5EF4-FFF2-40B4-BE49-F238E27FC236}">
                  <a16:creationId xmlns:a16="http://schemas.microsoft.com/office/drawing/2014/main" id="{7D6824F2-F4A7-15E1-1F5D-D6BCAA238725}"/>
                </a:ext>
              </a:extLst>
            </p:cNvPr>
            <p:cNvSpPr/>
            <p:nvPr/>
          </p:nvSpPr>
          <p:spPr>
            <a:xfrm>
              <a:off x="396835" y="5209461"/>
              <a:ext cx="6797397" cy="475774"/>
            </a:xfrm>
            <a:prstGeom prst="rect">
              <a:avLst/>
            </a:prstGeom>
            <a:noFill/>
            <a:ln/>
          </p:spPr>
          <p:txBody>
            <a:bodyPr wrap="square" lIns="0" tIns="0" rIns="0" bIns="0" rtlCol="0" anchor="t"/>
            <a:lstStyle/>
            <a:p>
              <a:pPr marL="0" indent="0" algn="r" rtl="1">
                <a:lnSpc>
                  <a:spcPts val="1250"/>
                </a:lnSpc>
                <a:buNone/>
              </a:pPr>
              <a:r>
                <a:rPr lang="en-US" sz="750" dirty="0">
                  <a:solidFill>
                    <a:schemeClr val="bg2"/>
                  </a:solidFill>
                  <a:latin typeface="Inter" pitchFamily="34" charset="0"/>
                  <a:ea typeface="Inter" pitchFamily="34" charset="-122"/>
                  <a:cs typeface="Inter" pitchFamily="34" charset="-120"/>
                </a:rPr>
                <a:t>جنبه قابل توجه سیاست اروپایی، فروش سلاح به هر دو طرف جنگ بود. در حالی که بخش عمده تسلیحات به عراق می‌رفت، کشورهای اروپایی به صورت مخفیانه و از طریق واسطه‌ها، برخی تسلیحات و قطعات یدکی را نیز به ایران می‌فروختند. این سیاست دوگانه که بعدها به اسکندال‌های بزرگی منجر شد، هدف آن حداکثر کردن سود و طولانی کردن جنگ بود.</a:t>
              </a:r>
              <a:endParaRPr lang="en-US" sz="750" dirty="0">
                <a:solidFill>
                  <a:schemeClr val="bg2"/>
                </a:solidFill>
              </a:endParaRPr>
            </a:p>
          </p:txBody>
        </p:sp>
        <p:sp>
          <p:nvSpPr>
            <p:cNvPr id="156" name="Text 36">
              <a:extLst>
                <a:ext uri="{FF2B5EF4-FFF2-40B4-BE49-F238E27FC236}">
                  <a16:creationId xmlns:a16="http://schemas.microsoft.com/office/drawing/2014/main" id="{67F91F40-81C6-5BA8-0FE9-6076738E7ED3}"/>
                </a:ext>
              </a:extLst>
            </p:cNvPr>
            <p:cNvSpPr/>
            <p:nvPr/>
          </p:nvSpPr>
          <p:spPr>
            <a:xfrm>
              <a:off x="396835" y="5774531"/>
              <a:ext cx="6797397" cy="317183"/>
            </a:xfrm>
            <a:prstGeom prst="rect">
              <a:avLst/>
            </a:prstGeom>
            <a:noFill/>
            <a:ln/>
          </p:spPr>
          <p:txBody>
            <a:bodyPr wrap="square" lIns="0" tIns="0" rIns="0" bIns="0" rtlCol="0" anchor="t"/>
            <a:lstStyle/>
            <a:p>
              <a:pPr marL="0" indent="0" algn="r" rtl="1">
                <a:lnSpc>
                  <a:spcPts val="1250"/>
                </a:lnSpc>
                <a:buNone/>
              </a:pPr>
              <a:r>
                <a:rPr lang="en-US" sz="750" dirty="0">
                  <a:solidFill>
                    <a:schemeClr val="bg2"/>
                  </a:solidFill>
                  <a:latin typeface="Inter" pitchFamily="34" charset="0"/>
                  <a:ea typeface="Inter" pitchFamily="34" charset="-122"/>
                  <a:cs typeface="Inter" pitchFamily="34" charset="-120"/>
                </a:rPr>
                <a:t>شرکت‌های اروپایی همچنین فناوری‌های دوگانه (فناوری‌هایی که هم کاربرد غیرنظامی و هم نظامی دارند) را به ویژه به عراق می‌فروختند. این فناوری‌ها در ساخت سلاح‌های شیمیایی، بیولوژیکی و حتی برنامه هسته‌ای عراق نقش داشتند.</a:t>
              </a:r>
              <a:endParaRPr lang="en-US" sz="750" dirty="0">
                <a:solidFill>
                  <a:schemeClr val="bg2"/>
                </a:solidFill>
              </a:endParaRPr>
            </a:p>
          </p:txBody>
        </p:sp>
      </p:grpSp>
    </p:spTree>
    <p:extLst>
      <p:ext uri="{BB962C8B-B14F-4D97-AF65-F5344CB8AC3E}">
        <p14:creationId xmlns:p14="http://schemas.microsoft.com/office/powerpoint/2010/main" val="3971851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9000" b="-109000"/>
          </a:stretch>
        </a:blipFill>
        <a:effectLst/>
      </p:bgPr>
    </p:bg>
    <p:spTree>
      <p:nvGrpSpPr>
        <p:cNvPr id="1" name="">
          <a:extLst>
            <a:ext uri="{FF2B5EF4-FFF2-40B4-BE49-F238E27FC236}">
              <a16:creationId xmlns:a16="http://schemas.microsoft.com/office/drawing/2014/main" id="{71EE4B52-0705-E06A-E3AE-FA604D565BEE}"/>
            </a:ext>
          </a:extLst>
        </p:cNvPr>
        <p:cNvGrpSpPr/>
        <p:nvPr/>
      </p:nvGrpSpPr>
      <p:grpSpPr>
        <a:xfrm>
          <a:off x="0" y="0"/>
          <a:ext cx="0" cy="0"/>
          <a:chOff x="0" y="0"/>
          <a:chExt cx="0" cy="0"/>
        </a:xfrm>
      </p:grpSpPr>
      <p:grpSp>
        <p:nvGrpSpPr>
          <p:cNvPr id="44" name="Group 43">
            <a:extLst>
              <a:ext uri="{FF2B5EF4-FFF2-40B4-BE49-F238E27FC236}">
                <a16:creationId xmlns:a16="http://schemas.microsoft.com/office/drawing/2014/main" id="{C677E0D4-A163-405D-0AC7-338E3F1C73A6}"/>
              </a:ext>
            </a:extLst>
          </p:cNvPr>
          <p:cNvGrpSpPr/>
          <p:nvPr/>
        </p:nvGrpSpPr>
        <p:grpSpPr>
          <a:xfrm>
            <a:off x="-151330" y="-7111185"/>
            <a:ext cx="4590873" cy="15855333"/>
            <a:chOff x="-693173" y="-4054166"/>
            <a:chExt cx="4590873" cy="15855333"/>
          </a:xfrm>
        </p:grpSpPr>
        <p:sp>
          <p:nvSpPr>
            <p:cNvPr id="16" name="Hexagon 15">
              <a:extLst>
                <a:ext uri="{FF2B5EF4-FFF2-40B4-BE49-F238E27FC236}">
                  <a16:creationId xmlns:a16="http://schemas.microsoft.com/office/drawing/2014/main" id="{61B2441C-4B65-F194-F96E-A3E8875E1581}"/>
                </a:ext>
              </a:extLst>
            </p:cNvPr>
            <p:cNvSpPr/>
            <p:nvPr/>
          </p:nvSpPr>
          <p:spPr>
            <a:xfrm>
              <a:off x="2620293" y="493579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grpSp>
          <p:nvGrpSpPr>
            <p:cNvPr id="43" name="Group 42">
              <a:extLst>
                <a:ext uri="{FF2B5EF4-FFF2-40B4-BE49-F238E27FC236}">
                  <a16:creationId xmlns:a16="http://schemas.microsoft.com/office/drawing/2014/main" id="{DC8F2E79-7A45-4AE6-2D32-1CCA3CF803F7}"/>
                </a:ext>
              </a:extLst>
            </p:cNvPr>
            <p:cNvGrpSpPr/>
            <p:nvPr/>
          </p:nvGrpSpPr>
          <p:grpSpPr>
            <a:xfrm>
              <a:off x="-693173" y="-3503559"/>
              <a:ext cx="4300821" cy="15304726"/>
              <a:chOff x="-693173" y="-3503559"/>
              <a:chExt cx="4300821" cy="15304726"/>
            </a:xfrm>
          </p:grpSpPr>
          <p:sp>
            <p:nvSpPr>
              <p:cNvPr id="4" name="Hexagon 3">
                <a:extLst>
                  <a:ext uri="{FF2B5EF4-FFF2-40B4-BE49-F238E27FC236}">
                    <a16:creationId xmlns:a16="http://schemas.microsoft.com/office/drawing/2014/main" id="{01C455BF-147C-C83B-BF22-6574FA795EB2}"/>
                  </a:ext>
                </a:extLst>
              </p:cNvPr>
              <p:cNvSpPr/>
              <p:nvPr/>
            </p:nvSpPr>
            <p:spPr>
              <a:xfrm>
                <a:off x="314632" y="218276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6" name="Hexagon 5">
                <a:extLst>
                  <a:ext uri="{FF2B5EF4-FFF2-40B4-BE49-F238E27FC236}">
                    <a16:creationId xmlns:a16="http://schemas.microsoft.com/office/drawing/2014/main" id="{8DCE36AD-F1B7-8536-6C31-6F4A045C82AF}"/>
                  </a:ext>
                </a:extLst>
              </p:cNvPr>
              <p:cNvSpPr/>
              <p:nvPr/>
            </p:nvSpPr>
            <p:spPr>
              <a:xfrm>
                <a:off x="1322438" y="273336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sp>
            <p:nvSpPr>
              <p:cNvPr id="7" name="Hexagon 6">
                <a:extLst>
                  <a:ext uri="{FF2B5EF4-FFF2-40B4-BE49-F238E27FC236}">
                    <a16:creationId xmlns:a16="http://schemas.microsoft.com/office/drawing/2014/main" id="{C02F1812-BFFB-9E1E-30CD-D9E6FCBC5741}"/>
                  </a:ext>
                </a:extLst>
              </p:cNvPr>
              <p:cNvSpPr/>
              <p:nvPr/>
            </p:nvSpPr>
            <p:spPr>
              <a:xfrm>
                <a:off x="604684" y="3834580"/>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8" name="Hexagon 7">
                <a:extLst>
                  <a:ext uri="{FF2B5EF4-FFF2-40B4-BE49-F238E27FC236}">
                    <a16:creationId xmlns:a16="http://schemas.microsoft.com/office/drawing/2014/main" id="{32808C7F-A89C-44EE-B0F9-187DCA9EE3CE}"/>
                  </a:ext>
                </a:extLst>
              </p:cNvPr>
              <p:cNvSpPr/>
              <p:nvPr/>
            </p:nvSpPr>
            <p:spPr>
              <a:xfrm>
                <a:off x="1342886" y="1608240"/>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9" name="Hexagon 8">
                <a:extLst>
                  <a:ext uri="{FF2B5EF4-FFF2-40B4-BE49-F238E27FC236}">
                    <a16:creationId xmlns:a16="http://schemas.microsoft.com/office/drawing/2014/main" id="{812BB41C-6BB7-BC3D-B9A8-3B0C41DE31B4}"/>
                  </a:ext>
                </a:extLst>
              </p:cNvPr>
              <p:cNvSpPr/>
              <p:nvPr/>
            </p:nvSpPr>
            <p:spPr>
              <a:xfrm>
                <a:off x="1366917" y="506768"/>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sp>
            <p:nvSpPr>
              <p:cNvPr id="10" name="Hexagon 9">
                <a:extLst>
                  <a:ext uri="{FF2B5EF4-FFF2-40B4-BE49-F238E27FC236}">
                    <a16:creationId xmlns:a16="http://schemas.microsoft.com/office/drawing/2014/main" id="{0E15BEA6-F540-CEB2-74BB-F0537904A45A}"/>
                  </a:ext>
                </a:extLst>
              </p:cNvPr>
              <p:cNvSpPr/>
              <p:nvPr/>
            </p:nvSpPr>
            <p:spPr>
              <a:xfrm>
                <a:off x="2330241" y="10815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1" name="Hexagon 10">
                <a:extLst>
                  <a:ext uri="{FF2B5EF4-FFF2-40B4-BE49-F238E27FC236}">
                    <a16:creationId xmlns:a16="http://schemas.microsoft.com/office/drawing/2014/main" id="{41817895-8D2E-D6A3-58D1-DBF7F44D877C}"/>
                  </a:ext>
                </a:extLst>
              </p:cNvPr>
              <p:cNvSpPr/>
              <p:nvPr/>
            </p:nvSpPr>
            <p:spPr>
              <a:xfrm>
                <a:off x="604684" y="60370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2" name="Hexagon 11">
                <a:extLst>
                  <a:ext uri="{FF2B5EF4-FFF2-40B4-BE49-F238E27FC236}">
                    <a16:creationId xmlns:a16="http://schemas.microsoft.com/office/drawing/2014/main" id="{AA875B8E-5443-A949-C51D-198A5D6F12D1}"/>
                  </a:ext>
                </a:extLst>
              </p:cNvPr>
              <p:cNvSpPr/>
              <p:nvPr/>
            </p:nvSpPr>
            <p:spPr>
              <a:xfrm>
                <a:off x="1612490" y="65876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3" name="Hexagon 12">
                <a:extLst>
                  <a:ext uri="{FF2B5EF4-FFF2-40B4-BE49-F238E27FC236}">
                    <a16:creationId xmlns:a16="http://schemas.microsoft.com/office/drawing/2014/main" id="{095B214D-BABA-CD56-56C8-633FFCCED7E8}"/>
                  </a:ext>
                </a:extLst>
              </p:cNvPr>
              <p:cNvSpPr/>
              <p:nvPr/>
            </p:nvSpPr>
            <p:spPr>
              <a:xfrm>
                <a:off x="894736" y="768882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4" name="Hexagon 13">
                <a:extLst>
                  <a:ext uri="{FF2B5EF4-FFF2-40B4-BE49-F238E27FC236}">
                    <a16:creationId xmlns:a16="http://schemas.microsoft.com/office/drawing/2014/main" id="{8E1D3884-F441-CB0B-53EA-B54FD856EBDB}"/>
                  </a:ext>
                </a:extLst>
              </p:cNvPr>
              <p:cNvSpPr/>
              <p:nvPr/>
            </p:nvSpPr>
            <p:spPr>
              <a:xfrm>
                <a:off x="1612489" y="54863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15" name="Hexagon 14">
                <a:extLst>
                  <a:ext uri="{FF2B5EF4-FFF2-40B4-BE49-F238E27FC236}">
                    <a16:creationId xmlns:a16="http://schemas.microsoft.com/office/drawing/2014/main" id="{62C2DF45-0F03-5BF2-7C02-86785BEED349}"/>
                  </a:ext>
                </a:extLst>
              </p:cNvPr>
              <p:cNvSpPr/>
              <p:nvPr/>
            </p:nvSpPr>
            <p:spPr>
              <a:xfrm>
                <a:off x="1612488" y="438518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sp>
            <p:nvSpPr>
              <p:cNvPr id="29" name="Hexagon 28">
                <a:extLst>
                  <a:ext uri="{FF2B5EF4-FFF2-40B4-BE49-F238E27FC236}">
                    <a16:creationId xmlns:a16="http://schemas.microsoft.com/office/drawing/2014/main" id="{71719350-294A-FD63-CC91-79A71FFF9203}"/>
                  </a:ext>
                </a:extLst>
              </p:cNvPr>
              <p:cNvSpPr/>
              <p:nvPr/>
            </p:nvSpPr>
            <p:spPr>
              <a:xfrm>
                <a:off x="-693173" y="45310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0" name="Hexagon 29">
                <a:extLst>
                  <a:ext uri="{FF2B5EF4-FFF2-40B4-BE49-F238E27FC236}">
                    <a16:creationId xmlns:a16="http://schemas.microsoft.com/office/drawing/2014/main" id="{E34D57C3-FA23-02CF-93FB-0994523995C1}"/>
                  </a:ext>
                </a:extLst>
              </p:cNvPr>
              <p:cNvSpPr/>
              <p:nvPr/>
            </p:nvSpPr>
            <p:spPr>
              <a:xfrm>
                <a:off x="314632" y="-975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1" name="Hexagon 30">
                <a:extLst>
                  <a:ext uri="{FF2B5EF4-FFF2-40B4-BE49-F238E27FC236}">
                    <a16:creationId xmlns:a16="http://schemas.microsoft.com/office/drawing/2014/main" id="{8A0A1604-D9E4-0EAB-9284-1B5BCCA99631}"/>
                  </a:ext>
                </a:extLst>
              </p:cNvPr>
              <p:cNvSpPr/>
              <p:nvPr/>
            </p:nvSpPr>
            <p:spPr>
              <a:xfrm>
                <a:off x="314631" y="-119871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2" name="Hexagon 31">
                <a:extLst>
                  <a:ext uri="{FF2B5EF4-FFF2-40B4-BE49-F238E27FC236}">
                    <a16:creationId xmlns:a16="http://schemas.microsoft.com/office/drawing/2014/main" id="{5B4BF99B-23BA-78EE-BC6C-B921C127E0F5}"/>
                  </a:ext>
                </a:extLst>
              </p:cNvPr>
              <p:cNvSpPr/>
              <p:nvPr/>
            </p:nvSpPr>
            <p:spPr>
              <a:xfrm>
                <a:off x="1322436" y="-648113"/>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sp>
            <p:nvSpPr>
              <p:cNvPr id="33" name="Hexagon 32">
                <a:extLst>
                  <a:ext uri="{FF2B5EF4-FFF2-40B4-BE49-F238E27FC236}">
                    <a16:creationId xmlns:a16="http://schemas.microsoft.com/office/drawing/2014/main" id="{44F6A09C-983C-A17D-1293-1DBB457D299D}"/>
                  </a:ext>
                </a:extLst>
              </p:cNvPr>
              <p:cNvSpPr/>
              <p:nvPr/>
            </p:nvSpPr>
            <p:spPr>
              <a:xfrm>
                <a:off x="1981590" y="1069995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4" name="Hexagon 33">
                <a:extLst>
                  <a:ext uri="{FF2B5EF4-FFF2-40B4-BE49-F238E27FC236}">
                    <a16:creationId xmlns:a16="http://schemas.microsoft.com/office/drawing/2014/main" id="{428D7748-3D35-09D1-B7C1-C6FC34E69613}"/>
                  </a:ext>
                </a:extLst>
              </p:cNvPr>
              <p:cNvSpPr/>
              <p:nvPr/>
            </p:nvSpPr>
            <p:spPr>
              <a:xfrm>
                <a:off x="1981589" y="955039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5" name="Hexagon 34">
                <a:extLst>
                  <a:ext uri="{FF2B5EF4-FFF2-40B4-BE49-F238E27FC236}">
                    <a16:creationId xmlns:a16="http://schemas.microsoft.com/office/drawing/2014/main" id="{8F5177DD-B36F-7396-13F7-1F9729B2DED3}"/>
                  </a:ext>
                </a:extLst>
              </p:cNvPr>
              <p:cNvSpPr/>
              <p:nvPr/>
            </p:nvSpPr>
            <p:spPr>
              <a:xfrm>
                <a:off x="-252788" y="95610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6" name="Hexagon 35">
                <a:extLst>
                  <a:ext uri="{FF2B5EF4-FFF2-40B4-BE49-F238E27FC236}">
                    <a16:creationId xmlns:a16="http://schemas.microsoft.com/office/drawing/2014/main" id="{64206186-B4F2-F615-317B-257BCDFB37FA}"/>
                  </a:ext>
                </a:extLst>
              </p:cNvPr>
              <p:cNvSpPr/>
              <p:nvPr/>
            </p:nvSpPr>
            <p:spPr>
              <a:xfrm>
                <a:off x="894735" y="890515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7" name="Hexagon 36">
                <a:extLst>
                  <a:ext uri="{FF2B5EF4-FFF2-40B4-BE49-F238E27FC236}">
                    <a16:creationId xmlns:a16="http://schemas.microsoft.com/office/drawing/2014/main" id="{5375B6D6-FFDE-F957-FA94-2D52EF0FDACE}"/>
                  </a:ext>
                </a:extLst>
              </p:cNvPr>
              <p:cNvSpPr/>
              <p:nvPr/>
            </p:nvSpPr>
            <p:spPr>
              <a:xfrm>
                <a:off x="1981589" y="8354548"/>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38" name="Hexagon 37">
                <a:extLst>
                  <a:ext uri="{FF2B5EF4-FFF2-40B4-BE49-F238E27FC236}">
                    <a16:creationId xmlns:a16="http://schemas.microsoft.com/office/drawing/2014/main" id="{6505DB2A-047D-CF52-9B7A-7C479DC84EA7}"/>
                  </a:ext>
                </a:extLst>
              </p:cNvPr>
              <p:cNvSpPr/>
              <p:nvPr/>
            </p:nvSpPr>
            <p:spPr>
              <a:xfrm>
                <a:off x="1342886" y="-17738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sp>
            <p:nvSpPr>
              <p:cNvPr id="39" name="Hexagon 38">
                <a:extLst>
                  <a:ext uri="{FF2B5EF4-FFF2-40B4-BE49-F238E27FC236}">
                    <a16:creationId xmlns:a16="http://schemas.microsoft.com/office/drawing/2014/main" id="{CB9EC726-9411-404C-E12D-6241D045B0EB}"/>
                  </a:ext>
                </a:extLst>
              </p:cNvPr>
              <p:cNvSpPr/>
              <p:nvPr/>
            </p:nvSpPr>
            <p:spPr>
              <a:xfrm>
                <a:off x="1342886" y="-28751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40" name="Hexagon 39">
                <a:extLst>
                  <a:ext uri="{FF2B5EF4-FFF2-40B4-BE49-F238E27FC236}">
                    <a16:creationId xmlns:a16="http://schemas.microsoft.com/office/drawing/2014/main" id="{F7A2741F-C04A-3628-0695-FB2BA0779DEF}"/>
                  </a:ext>
                </a:extLst>
              </p:cNvPr>
              <p:cNvSpPr/>
              <p:nvPr/>
            </p:nvSpPr>
            <p:spPr>
              <a:xfrm>
                <a:off x="-672723" y="-295295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sp>
            <p:nvSpPr>
              <p:cNvPr id="41" name="Hexagon 40">
                <a:extLst>
                  <a:ext uri="{FF2B5EF4-FFF2-40B4-BE49-F238E27FC236}">
                    <a16:creationId xmlns:a16="http://schemas.microsoft.com/office/drawing/2014/main" id="{43F64381-C060-47EE-0798-6657D1AE57A4}"/>
                  </a:ext>
                </a:extLst>
              </p:cNvPr>
              <p:cNvSpPr/>
              <p:nvPr/>
            </p:nvSpPr>
            <p:spPr>
              <a:xfrm>
                <a:off x="335082" y="-350355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cs typeface="B Nazanin" panose="00000400000000000000" pitchFamily="2" charset="-78"/>
                </a:endParaRPr>
              </a:p>
            </p:txBody>
          </p:sp>
        </p:grpSp>
        <p:sp>
          <p:nvSpPr>
            <p:cNvPr id="42" name="Hexagon 41">
              <a:extLst>
                <a:ext uri="{FF2B5EF4-FFF2-40B4-BE49-F238E27FC236}">
                  <a16:creationId xmlns:a16="http://schemas.microsoft.com/office/drawing/2014/main" id="{72E68169-2925-E7A1-824F-A524F1EA4041}"/>
                </a:ext>
              </a:extLst>
            </p:cNvPr>
            <p:cNvSpPr/>
            <p:nvPr/>
          </p:nvSpPr>
          <p:spPr>
            <a:xfrm>
              <a:off x="1342886" y="-405416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cs typeface="B Nazanin" panose="00000400000000000000" pitchFamily="2" charset="-78"/>
              </a:endParaRPr>
            </a:p>
          </p:txBody>
        </p:sp>
      </p:grpSp>
      <p:pic>
        <p:nvPicPr>
          <p:cNvPr id="46" name="Graphic 45" descr="Employee badge with solid fill">
            <a:extLst>
              <a:ext uri="{FF2B5EF4-FFF2-40B4-BE49-F238E27FC236}">
                <a16:creationId xmlns:a16="http://schemas.microsoft.com/office/drawing/2014/main" id="{C786FAC7-7A82-1CE5-9637-04D72BFEBC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07598" y="-2301715"/>
            <a:ext cx="763027" cy="763027"/>
          </a:xfrm>
          <a:prstGeom prst="rect">
            <a:avLst/>
          </a:prstGeom>
        </p:spPr>
      </p:pic>
      <p:pic>
        <p:nvPicPr>
          <p:cNvPr id="52" name="Graphic 51" descr="Bullseye with solid fill">
            <a:extLst>
              <a:ext uri="{FF2B5EF4-FFF2-40B4-BE49-F238E27FC236}">
                <a16:creationId xmlns:a16="http://schemas.microsoft.com/office/drawing/2014/main" id="{D66C14BF-5CA5-2C76-61CD-793E9F7B475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06868" y="-2388883"/>
            <a:ext cx="914400" cy="914400"/>
          </a:xfrm>
          <a:prstGeom prst="rect">
            <a:avLst/>
          </a:prstGeom>
        </p:spPr>
      </p:pic>
      <p:pic>
        <p:nvPicPr>
          <p:cNvPr id="69" name="Graphic 68" descr="Earth globe: Americas with solid fill">
            <a:extLst>
              <a:ext uri="{FF2B5EF4-FFF2-40B4-BE49-F238E27FC236}">
                <a16:creationId xmlns:a16="http://schemas.microsoft.com/office/drawing/2014/main" id="{6944EBE8-96CF-606F-35D5-EEE9E1AAF55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325726" y="-1889976"/>
            <a:ext cx="914400" cy="914400"/>
          </a:xfrm>
          <a:prstGeom prst="rect">
            <a:avLst/>
          </a:prstGeom>
        </p:spPr>
      </p:pic>
      <p:pic>
        <p:nvPicPr>
          <p:cNvPr id="135" name="Graphic 134" descr="Dollar with solid fill">
            <a:extLst>
              <a:ext uri="{FF2B5EF4-FFF2-40B4-BE49-F238E27FC236}">
                <a16:creationId xmlns:a16="http://schemas.microsoft.com/office/drawing/2014/main" id="{DEC49E66-8683-E8F4-E02F-B98D91B214B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30253" y="-1291584"/>
            <a:ext cx="914400" cy="914400"/>
          </a:xfrm>
          <a:prstGeom prst="rect">
            <a:avLst/>
          </a:prstGeom>
        </p:spPr>
      </p:pic>
      <p:pic>
        <p:nvPicPr>
          <p:cNvPr id="51" name="Graphic 50" descr="Atom with solid fill">
            <a:extLst>
              <a:ext uri="{FF2B5EF4-FFF2-40B4-BE49-F238E27FC236}">
                <a16:creationId xmlns:a16="http://schemas.microsoft.com/office/drawing/2014/main" id="{F44AA5A2-F657-5916-0195-1877050C8D6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39847" y="-1209214"/>
            <a:ext cx="914400" cy="914400"/>
          </a:xfrm>
          <a:prstGeom prst="rect">
            <a:avLst/>
          </a:prstGeom>
        </p:spPr>
      </p:pic>
      <p:pic>
        <p:nvPicPr>
          <p:cNvPr id="64" name="Graphic 63" descr="Internet with solid fill">
            <a:extLst>
              <a:ext uri="{FF2B5EF4-FFF2-40B4-BE49-F238E27FC236}">
                <a16:creationId xmlns:a16="http://schemas.microsoft.com/office/drawing/2014/main" id="{0730A1E3-4E0B-732D-8561-0CD2469C4CC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027737" y="-240667"/>
            <a:ext cx="914400" cy="914400"/>
          </a:xfrm>
          <a:prstGeom prst="rect">
            <a:avLst/>
          </a:prstGeom>
        </p:spPr>
      </p:pic>
      <p:sp>
        <p:nvSpPr>
          <p:cNvPr id="92" name="Shape 37">
            <a:extLst>
              <a:ext uri="{FF2B5EF4-FFF2-40B4-BE49-F238E27FC236}">
                <a16:creationId xmlns:a16="http://schemas.microsoft.com/office/drawing/2014/main" id="{0463F46A-5067-4711-82C5-C6ACF2415977}"/>
              </a:ext>
            </a:extLst>
          </p:cNvPr>
          <p:cNvSpPr/>
          <p:nvPr/>
        </p:nvSpPr>
        <p:spPr>
          <a:xfrm>
            <a:off x="396835" y="11510963"/>
            <a:ext cx="13836729" cy="421362"/>
          </a:xfrm>
          <a:prstGeom prst="roundRect">
            <a:avLst>
              <a:gd name="adj" fmla="val 9892"/>
            </a:avLst>
          </a:prstGeom>
          <a:solidFill>
            <a:srgbClr val="C7C9EA"/>
          </a:solidFill>
          <a:ln/>
        </p:spPr>
      </p:sp>
      <p:pic>
        <p:nvPicPr>
          <p:cNvPr id="93" name="Image 5" descr="preencoded.png">
            <a:extLst>
              <a:ext uri="{FF2B5EF4-FFF2-40B4-BE49-F238E27FC236}">
                <a16:creationId xmlns:a16="http://schemas.microsoft.com/office/drawing/2014/main" id="{AA7BFCF6-AF6D-DC06-C2E8-6C304E684C08}"/>
              </a:ext>
            </a:extLst>
          </p:cNvPr>
          <p:cNvPicPr>
            <a:picLocks noChangeAspect="1"/>
          </p:cNvPicPr>
          <p:nvPr/>
        </p:nvPicPr>
        <p:blipFill>
          <a:blip r:embed="rId15"/>
          <a:stretch>
            <a:fillRect/>
          </a:stretch>
        </p:blipFill>
        <p:spPr>
          <a:xfrm>
            <a:off x="496014" y="11662410"/>
            <a:ext cx="123944" cy="99179"/>
          </a:xfrm>
          <a:prstGeom prst="rect">
            <a:avLst/>
          </a:prstGeom>
        </p:spPr>
      </p:pic>
      <p:sp>
        <p:nvSpPr>
          <p:cNvPr id="94" name="Text 38">
            <a:extLst>
              <a:ext uri="{FF2B5EF4-FFF2-40B4-BE49-F238E27FC236}">
                <a16:creationId xmlns:a16="http://schemas.microsoft.com/office/drawing/2014/main" id="{07DBC85E-1E88-7039-3BF6-60C94681B942}"/>
              </a:ext>
            </a:extLst>
          </p:cNvPr>
          <p:cNvSpPr/>
          <p:nvPr/>
        </p:nvSpPr>
        <p:spPr>
          <a:xfrm>
            <a:off x="719137" y="11634907"/>
            <a:ext cx="13415248" cy="158591"/>
          </a:xfrm>
          <a:prstGeom prst="rect">
            <a:avLst/>
          </a:prstGeom>
          <a:noFill/>
          <a:ln/>
        </p:spPr>
        <p:txBody>
          <a:bodyPr wrap="none" lIns="0" tIns="0" rIns="0" bIns="0" rtlCol="0" anchor="t"/>
          <a:lstStyle/>
          <a:p>
            <a:pPr marL="0" indent="0" algn="r" rtl="1">
              <a:lnSpc>
                <a:spcPts val="1250"/>
              </a:lnSpc>
              <a:buNone/>
            </a:pPr>
            <a:r>
              <a:rPr lang="en-US" sz="750" b="1" dirty="0">
                <a:solidFill>
                  <a:srgbClr val="000000"/>
                </a:solidFill>
                <a:latin typeface="Inter" pitchFamily="34" charset="0"/>
                <a:ea typeface="Inter" pitchFamily="34" charset="-122"/>
                <a:cs typeface="B Nazanin" panose="00000400000000000000" pitchFamily="2" charset="-78"/>
              </a:rPr>
              <a:t>ابعاد اخلاقی:</a:t>
            </a:r>
            <a:r>
              <a:rPr lang="en-US" sz="750" dirty="0">
                <a:solidFill>
                  <a:srgbClr val="000000"/>
                </a:solidFill>
                <a:latin typeface="Inter" pitchFamily="34" charset="0"/>
                <a:ea typeface="Inter" pitchFamily="34" charset="-122"/>
                <a:cs typeface="B Nazanin" panose="00000400000000000000" pitchFamily="2" charset="-78"/>
              </a:rPr>
              <a:t> فروش سلاح و فناوری به هر دو طرف جنگ، در حالی که صدها هزار نفر کشته می‌شدند، یکی از تاریک‌ترین فصل‌های اخلاقی سیاست اروپا در قرن بیستم بود. منافع اقتصادی بر ارزش‌های انسانی غلبه کرده بود.</a:t>
            </a:r>
            <a:endParaRPr lang="en-US" sz="750" dirty="0">
              <a:cs typeface="B Nazanin" panose="00000400000000000000" pitchFamily="2" charset="-78"/>
            </a:endParaRPr>
          </a:p>
        </p:txBody>
      </p:sp>
      <p:grpSp>
        <p:nvGrpSpPr>
          <p:cNvPr id="2" name="Group 1">
            <a:extLst>
              <a:ext uri="{FF2B5EF4-FFF2-40B4-BE49-F238E27FC236}">
                <a16:creationId xmlns:a16="http://schemas.microsoft.com/office/drawing/2014/main" id="{5E248E49-BB0E-020A-E5C5-9545233785B0}"/>
              </a:ext>
            </a:extLst>
          </p:cNvPr>
          <p:cNvGrpSpPr/>
          <p:nvPr/>
        </p:nvGrpSpPr>
        <p:grpSpPr>
          <a:xfrm>
            <a:off x="-3424180" y="238163"/>
            <a:ext cx="17588450" cy="7296946"/>
            <a:chOff x="-3424180" y="238163"/>
            <a:chExt cx="17588450" cy="7296946"/>
          </a:xfrm>
        </p:grpSpPr>
        <p:sp>
          <p:nvSpPr>
            <p:cNvPr id="3" name="Text 0">
              <a:extLst>
                <a:ext uri="{FF2B5EF4-FFF2-40B4-BE49-F238E27FC236}">
                  <a16:creationId xmlns:a16="http://schemas.microsoft.com/office/drawing/2014/main" id="{A107E57D-CB50-1923-20B6-105BB079D2AF}"/>
                </a:ext>
              </a:extLst>
            </p:cNvPr>
            <p:cNvSpPr/>
            <p:nvPr/>
          </p:nvSpPr>
          <p:spPr>
            <a:xfrm>
              <a:off x="4563011" y="238163"/>
              <a:ext cx="5766554" cy="364093"/>
            </a:xfrm>
            <a:prstGeom prst="rect">
              <a:avLst/>
            </a:prstGeom>
            <a:noFill/>
            <a:ln/>
          </p:spPr>
          <p:txBody>
            <a:bodyPr wrap="none" lIns="0" tIns="0" rIns="0" bIns="0" rtlCol="0" anchor="t"/>
            <a:lstStyle/>
            <a:p>
              <a:pPr marL="0" indent="0" algn="r" rtl="1">
                <a:lnSpc>
                  <a:spcPts val="2850"/>
                </a:lnSpc>
                <a:buNone/>
              </a:pPr>
              <a:r>
                <a:rPr lang="en-US" sz="2250" b="1" dirty="0">
                  <a:solidFill>
                    <a:schemeClr val="bg2"/>
                  </a:solidFill>
                  <a:latin typeface="Inter Bold" pitchFamily="34" charset="0"/>
                  <a:ea typeface="Inter Bold" pitchFamily="34" charset="-122"/>
                  <a:cs typeface="B Nazanin" panose="00000400000000000000" pitchFamily="2" charset="-78"/>
                </a:rPr>
                <a:t>نقش سازمان ملل و قدرت‌های بزرگ در تعویق صلح</a:t>
              </a:r>
              <a:endParaRPr lang="en-US" sz="2250" dirty="0">
                <a:solidFill>
                  <a:schemeClr val="bg2"/>
                </a:solidFill>
                <a:cs typeface="B Nazanin" panose="00000400000000000000" pitchFamily="2" charset="-78"/>
              </a:endParaRPr>
            </a:p>
          </p:txBody>
        </p:sp>
        <p:sp>
          <p:nvSpPr>
            <p:cNvPr id="5" name="Text 1">
              <a:extLst>
                <a:ext uri="{FF2B5EF4-FFF2-40B4-BE49-F238E27FC236}">
                  <a16:creationId xmlns:a16="http://schemas.microsoft.com/office/drawing/2014/main" id="{167ED180-CB4D-7A5B-8C47-FC71DE6159BE}"/>
                </a:ext>
              </a:extLst>
            </p:cNvPr>
            <p:cNvSpPr/>
            <p:nvPr/>
          </p:nvSpPr>
          <p:spPr>
            <a:xfrm>
              <a:off x="-3424180" y="723256"/>
              <a:ext cx="13698141" cy="186452"/>
            </a:xfrm>
            <a:prstGeom prst="rect">
              <a:avLst/>
            </a:prstGeom>
            <a:noFill/>
            <a:ln/>
          </p:spPr>
          <p:txBody>
            <a:bodyPr wrap="none" lIns="0" tIns="0" rIns="0" bIns="0" rtlCol="0" anchor="t"/>
            <a:lstStyle/>
            <a:p>
              <a:pPr marL="0" indent="0" algn="r" rtl="1">
                <a:lnSpc>
                  <a:spcPts val="1450"/>
                </a:lnSpc>
                <a:buNone/>
              </a:pPr>
              <a:r>
                <a:rPr lang="en-US" sz="900" dirty="0">
                  <a:solidFill>
                    <a:schemeClr val="bg2"/>
                  </a:solidFill>
                  <a:latin typeface="Inter" pitchFamily="34" charset="0"/>
                  <a:ea typeface="Inter" pitchFamily="34" charset="-122"/>
                  <a:cs typeface="B Nazanin" panose="00000400000000000000" pitchFamily="2" charset="-78"/>
                </a:rPr>
                <a:t>سازمان ملل متحد که وظیفه حفظ صلح و امنیت بین‌المللی را بر عهده دارد، در طول هشت سال جنگ ایران و عراق نقش مؤثری در </a:t>
              </a:r>
              <a:r>
                <a:rPr lang="en-US" sz="900" dirty="0" err="1">
                  <a:solidFill>
                    <a:schemeClr val="bg2"/>
                  </a:solidFill>
                  <a:latin typeface="Inter" pitchFamily="34" charset="0"/>
                  <a:ea typeface="Inter" pitchFamily="34" charset="-122"/>
                  <a:cs typeface="B Nazanin" panose="00000400000000000000" pitchFamily="2" charset="-78"/>
                </a:rPr>
                <a:t>پایان</a:t>
              </a:r>
              <a:r>
                <a:rPr lang="en-US" sz="900" dirty="0">
                  <a:solidFill>
                    <a:schemeClr val="bg2"/>
                  </a:solidFill>
                  <a:latin typeface="Inter" pitchFamily="34" charset="0"/>
                  <a:ea typeface="Inter" pitchFamily="34" charset="-122"/>
                  <a:cs typeface="B Nazanin" panose="00000400000000000000" pitchFamily="2" charset="-78"/>
                </a:rPr>
                <a:t> </a:t>
              </a:r>
            </a:p>
            <a:p>
              <a:pPr marL="0" indent="0" algn="r" rtl="1">
                <a:lnSpc>
                  <a:spcPts val="1450"/>
                </a:lnSpc>
                <a:buNone/>
              </a:pPr>
              <a:r>
                <a:rPr lang="en-US" sz="900" dirty="0" err="1">
                  <a:solidFill>
                    <a:schemeClr val="bg2"/>
                  </a:solidFill>
                  <a:latin typeface="Inter" pitchFamily="34" charset="0"/>
                  <a:ea typeface="Inter" pitchFamily="34" charset="-122"/>
                  <a:cs typeface="B Nazanin" panose="00000400000000000000" pitchFamily="2" charset="-78"/>
                </a:rPr>
                <a:t>دادن</a:t>
              </a:r>
              <a:r>
                <a:rPr lang="en-US" sz="900" dirty="0">
                  <a:solidFill>
                    <a:schemeClr val="bg2"/>
                  </a:solidFill>
                  <a:latin typeface="Inter" pitchFamily="34" charset="0"/>
                  <a:ea typeface="Inter" pitchFamily="34" charset="-122"/>
                  <a:cs typeface="B Nazanin" panose="00000400000000000000" pitchFamily="2" charset="-78"/>
                </a:rPr>
                <a:t> به درگیری‌ها نداشت. نفوذ ابرقدرت‌ها و منافع آن‌ها باعث شد که این نهاد بین‌المللی نتواند به طور بی‌طرفانه عمل کند.</a:t>
              </a:r>
              <a:endParaRPr lang="en-US" sz="900" dirty="0">
                <a:solidFill>
                  <a:schemeClr val="bg2"/>
                </a:solidFill>
                <a:cs typeface="B Nazanin" panose="00000400000000000000" pitchFamily="2" charset="-78"/>
              </a:endParaRPr>
            </a:p>
          </p:txBody>
        </p:sp>
        <p:sp>
          <p:nvSpPr>
            <p:cNvPr id="17" name="Shape 2">
              <a:extLst>
                <a:ext uri="{FF2B5EF4-FFF2-40B4-BE49-F238E27FC236}">
                  <a16:creationId xmlns:a16="http://schemas.microsoft.com/office/drawing/2014/main" id="{248C7EF8-29CF-564B-691C-9B855D57D983}"/>
                </a:ext>
              </a:extLst>
            </p:cNvPr>
            <p:cNvSpPr/>
            <p:nvPr/>
          </p:nvSpPr>
          <p:spPr>
            <a:xfrm>
              <a:off x="7307580" y="1609130"/>
              <a:ext cx="15240" cy="4082296"/>
            </a:xfrm>
            <a:prstGeom prst="roundRect">
              <a:avLst>
                <a:gd name="adj" fmla="val 321208"/>
              </a:avLst>
            </a:prstGeom>
            <a:solidFill>
              <a:srgbClr val="C0C1D7"/>
            </a:solidFill>
            <a:ln/>
          </p:spPr>
        </p:sp>
        <p:sp>
          <p:nvSpPr>
            <p:cNvPr id="18" name="Shape 3">
              <a:extLst>
                <a:ext uri="{FF2B5EF4-FFF2-40B4-BE49-F238E27FC236}">
                  <a16:creationId xmlns:a16="http://schemas.microsoft.com/office/drawing/2014/main" id="{74B9898A-6EEB-4532-F5AC-EDED0F50EE7F}"/>
                </a:ext>
              </a:extLst>
            </p:cNvPr>
            <p:cNvSpPr/>
            <p:nvPr/>
          </p:nvSpPr>
          <p:spPr>
            <a:xfrm>
              <a:off x="7431048" y="1732598"/>
              <a:ext cx="349568" cy="15240"/>
            </a:xfrm>
            <a:prstGeom prst="roundRect">
              <a:avLst>
                <a:gd name="adj" fmla="val 321208"/>
              </a:avLst>
            </a:prstGeom>
            <a:solidFill>
              <a:srgbClr val="C0C1D7"/>
            </a:solidFill>
            <a:ln/>
          </p:spPr>
        </p:sp>
        <p:sp>
          <p:nvSpPr>
            <p:cNvPr id="19" name="Shape 4">
              <a:extLst>
                <a:ext uri="{FF2B5EF4-FFF2-40B4-BE49-F238E27FC236}">
                  <a16:creationId xmlns:a16="http://schemas.microsoft.com/office/drawing/2014/main" id="{13AD172C-9718-5AF4-C928-BB17FB66B4FF}"/>
                </a:ext>
              </a:extLst>
            </p:cNvPr>
            <p:cNvSpPr/>
            <p:nvPr/>
          </p:nvSpPr>
          <p:spPr>
            <a:xfrm>
              <a:off x="7184112" y="1609130"/>
              <a:ext cx="262176" cy="262176"/>
            </a:xfrm>
            <a:prstGeom prst="roundRect">
              <a:avLst>
                <a:gd name="adj" fmla="val 18671"/>
              </a:avLst>
            </a:prstGeom>
            <a:solidFill>
              <a:srgbClr val="DADBF1"/>
            </a:solidFill>
            <a:ln w="7620">
              <a:solidFill>
                <a:srgbClr val="C0C1D7"/>
              </a:solidFill>
              <a:prstDash val="solid"/>
            </a:ln>
          </p:spPr>
        </p:sp>
        <p:sp>
          <p:nvSpPr>
            <p:cNvPr id="20" name="Text 5">
              <a:extLst>
                <a:ext uri="{FF2B5EF4-FFF2-40B4-BE49-F238E27FC236}">
                  <a16:creationId xmlns:a16="http://schemas.microsoft.com/office/drawing/2014/main" id="{CC0849F9-D336-854E-52D4-E0045679B20B}"/>
                </a:ext>
              </a:extLst>
            </p:cNvPr>
            <p:cNvSpPr/>
            <p:nvPr/>
          </p:nvSpPr>
          <p:spPr>
            <a:xfrm>
              <a:off x="7227808" y="1630978"/>
              <a:ext cx="174784" cy="218480"/>
            </a:xfrm>
            <a:prstGeom prst="rect">
              <a:avLst/>
            </a:prstGeom>
            <a:noFill/>
            <a:ln/>
          </p:spPr>
          <p:txBody>
            <a:bodyPr wrap="none" lIns="0" tIns="0" rIns="0" bIns="0" rtlCol="0" anchor="t"/>
            <a:lstStyle/>
            <a:p>
              <a:pPr marL="0" indent="0" algn="ctr" rtl="1">
                <a:lnSpc>
                  <a:spcPts val="1350"/>
                </a:lnSpc>
                <a:buNone/>
              </a:pPr>
              <a:r>
                <a:rPr lang="en-US" sz="1350" b="1" dirty="0">
                  <a:solidFill>
                    <a:schemeClr val="bg2"/>
                  </a:solidFill>
                  <a:latin typeface="Inter Bold" pitchFamily="34" charset="0"/>
                  <a:ea typeface="Inter Bold" pitchFamily="34" charset="-122"/>
                  <a:cs typeface="B Nazanin" panose="00000400000000000000" pitchFamily="2" charset="-78"/>
                </a:rPr>
                <a:t>1</a:t>
              </a:r>
              <a:endParaRPr lang="en-US" sz="1350" dirty="0">
                <a:solidFill>
                  <a:schemeClr val="bg2"/>
                </a:solidFill>
                <a:cs typeface="B Nazanin" panose="00000400000000000000" pitchFamily="2" charset="-78"/>
              </a:endParaRPr>
            </a:p>
          </p:txBody>
        </p:sp>
        <p:sp>
          <p:nvSpPr>
            <p:cNvPr id="21" name="Text 6">
              <a:extLst>
                <a:ext uri="{FF2B5EF4-FFF2-40B4-BE49-F238E27FC236}">
                  <a16:creationId xmlns:a16="http://schemas.microsoft.com/office/drawing/2014/main" id="{DFE4EB79-10C6-5327-CBE1-26392EB0F436}"/>
                </a:ext>
              </a:extLst>
            </p:cNvPr>
            <p:cNvSpPr/>
            <p:nvPr/>
          </p:nvSpPr>
          <p:spPr>
            <a:xfrm>
              <a:off x="7897892" y="1649135"/>
              <a:ext cx="1589842" cy="182166"/>
            </a:xfrm>
            <a:prstGeom prst="rect">
              <a:avLst/>
            </a:prstGeom>
            <a:noFill/>
            <a:ln/>
          </p:spPr>
          <p:txBody>
            <a:bodyPr wrap="none" lIns="0" tIns="0" rIns="0" bIns="0" rtlCol="0" anchor="t"/>
            <a:lstStyle/>
            <a:p>
              <a:pPr marL="0" indent="0" algn="l" rtl="1">
                <a:lnSpc>
                  <a:spcPts val="1400"/>
                </a:lnSpc>
                <a:buNone/>
              </a:pPr>
              <a:r>
                <a:rPr lang="en-US" sz="1100" b="1" dirty="0">
                  <a:solidFill>
                    <a:schemeClr val="bg2"/>
                  </a:solidFill>
                  <a:latin typeface="Inter Bold" pitchFamily="34" charset="0"/>
                  <a:ea typeface="Inter Bold" pitchFamily="34" charset="-122"/>
                  <a:cs typeface="B Nazanin" panose="00000400000000000000" pitchFamily="2" charset="-78"/>
                </a:rPr>
                <a:t>شهریور ۱۳۵۹ (سپتامبر ۱۹۸۰)</a:t>
              </a:r>
              <a:endParaRPr lang="en-US" sz="1100" dirty="0">
                <a:solidFill>
                  <a:schemeClr val="bg2"/>
                </a:solidFill>
                <a:cs typeface="B Nazanin" panose="00000400000000000000" pitchFamily="2" charset="-78"/>
              </a:endParaRPr>
            </a:p>
          </p:txBody>
        </p:sp>
        <p:sp>
          <p:nvSpPr>
            <p:cNvPr id="22" name="Text 7">
              <a:extLst>
                <a:ext uri="{FF2B5EF4-FFF2-40B4-BE49-F238E27FC236}">
                  <a16:creationId xmlns:a16="http://schemas.microsoft.com/office/drawing/2014/main" id="{217D3B96-8F30-18C2-68F3-00FAB591BE2C}"/>
                </a:ext>
              </a:extLst>
            </p:cNvPr>
            <p:cNvSpPr/>
            <p:nvPr/>
          </p:nvSpPr>
          <p:spPr>
            <a:xfrm>
              <a:off x="7897892" y="1901190"/>
              <a:ext cx="6266378" cy="186452"/>
            </a:xfrm>
            <a:prstGeom prst="rect">
              <a:avLst/>
            </a:prstGeom>
            <a:noFill/>
            <a:ln/>
          </p:spPr>
          <p:txBody>
            <a:bodyPr wrap="none" lIns="0" tIns="0" rIns="0" bIns="0" rtlCol="0" anchor="t"/>
            <a:lstStyle/>
            <a:p>
              <a:pPr marL="0" indent="0" algn="l" rtl="1">
                <a:lnSpc>
                  <a:spcPts val="1450"/>
                </a:lnSpc>
                <a:buNone/>
              </a:pPr>
              <a:r>
                <a:rPr lang="en-US" sz="900" dirty="0">
                  <a:solidFill>
                    <a:schemeClr val="bg2"/>
                  </a:solidFill>
                  <a:latin typeface="Inter" pitchFamily="34" charset="0"/>
                  <a:ea typeface="Inter" pitchFamily="34" charset="-122"/>
                  <a:cs typeface="B Nazanin" panose="00000400000000000000" pitchFamily="2" charset="-78"/>
                </a:rPr>
                <a:t>آغاز جنگ - شورای امنیت فراخوانی به آتش‌بس صادر کرد اما بدون ذکر نام متجاوز و بدون تحریم علیه عراق</a:t>
              </a:r>
              <a:endParaRPr lang="en-US" sz="900" dirty="0">
                <a:solidFill>
                  <a:schemeClr val="bg2"/>
                </a:solidFill>
                <a:cs typeface="B Nazanin" panose="00000400000000000000" pitchFamily="2" charset="-78"/>
              </a:endParaRPr>
            </a:p>
          </p:txBody>
        </p:sp>
        <p:sp>
          <p:nvSpPr>
            <p:cNvPr id="23" name="Shape 8">
              <a:extLst>
                <a:ext uri="{FF2B5EF4-FFF2-40B4-BE49-F238E27FC236}">
                  <a16:creationId xmlns:a16="http://schemas.microsoft.com/office/drawing/2014/main" id="{BEBABAB8-EC93-040E-80E0-44835E2D3846}"/>
                </a:ext>
              </a:extLst>
            </p:cNvPr>
            <p:cNvSpPr/>
            <p:nvPr/>
          </p:nvSpPr>
          <p:spPr>
            <a:xfrm>
              <a:off x="6849785" y="2431733"/>
              <a:ext cx="349568" cy="15240"/>
            </a:xfrm>
            <a:prstGeom prst="roundRect">
              <a:avLst>
                <a:gd name="adj" fmla="val 321208"/>
              </a:avLst>
            </a:prstGeom>
            <a:solidFill>
              <a:srgbClr val="C0C1D7"/>
            </a:solidFill>
            <a:ln/>
          </p:spPr>
        </p:sp>
        <p:sp>
          <p:nvSpPr>
            <p:cNvPr id="26" name="Shape 9">
              <a:extLst>
                <a:ext uri="{FF2B5EF4-FFF2-40B4-BE49-F238E27FC236}">
                  <a16:creationId xmlns:a16="http://schemas.microsoft.com/office/drawing/2014/main" id="{211811FC-EBD5-882F-7695-77A1AB800744}"/>
                </a:ext>
              </a:extLst>
            </p:cNvPr>
            <p:cNvSpPr/>
            <p:nvPr/>
          </p:nvSpPr>
          <p:spPr>
            <a:xfrm>
              <a:off x="7184112" y="2308265"/>
              <a:ext cx="262176" cy="262176"/>
            </a:xfrm>
            <a:prstGeom prst="roundRect">
              <a:avLst>
                <a:gd name="adj" fmla="val 18671"/>
              </a:avLst>
            </a:prstGeom>
            <a:solidFill>
              <a:srgbClr val="DADBF1"/>
            </a:solidFill>
            <a:ln w="7620">
              <a:solidFill>
                <a:srgbClr val="C0C1D7"/>
              </a:solidFill>
              <a:prstDash val="solid"/>
            </a:ln>
          </p:spPr>
        </p:sp>
        <p:sp>
          <p:nvSpPr>
            <p:cNvPr id="27" name="Text 10">
              <a:extLst>
                <a:ext uri="{FF2B5EF4-FFF2-40B4-BE49-F238E27FC236}">
                  <a16:creationId xmlns:a16="http://schemas.microsoft.com/office/drawing/2014/main" id="{F3F9B712-A6FE-32D3-EC25-B6EEC0B12798}"/>
                </a:ext>
              </a:extLst>
            </p:cNvPr>
            <p:cNvSpPr/>
            <p:nvPr/>
          </p:nvSpPr>
          <p:spPr>
            <a:xfrm>
              <a:off x="7227808" y="2330113"/>
              <a:ext cx="174784" cy="218480"/>
            </a:xfrm>
            <a:prstGeom prst="rect">
              <a:avLst/>
            </a:prstGeom>
            <a:noFill/>
            <a:ln/>
          </p:spPr>
          <p:txBody>
            <a:bodyPr wrap="none" lIns="0" tIns="0" rIns="0" bIns="0" rtlCol="0" anchor="t"/>
            <a:lstStyle/>
            <a:p>
              <a:pPr marL="0" indent="0" algn="ctr" rtl="1">
                <a:lnSpc>
                  <a:spcPts val="1350"/>
                </a:lnSpc>
                <a:buNone/>
              </a:pPr>
              <a:r>
                <a:rPr lang="en-US" sz="1350" b="1" dirty="0">
                  <a:solidFill>
                    <a:schemeClr val="bg2"/>
                  </a:solidFill>
                  <a:latin typeface="Inter Bold" pitchFamily="34" charset="0"/>
                  <a:ea typeface="Inter Bold" pitchFamily="34" charset="-122"/>
                  <a:cs typeface="B Nazanin" panose="00000400000000000000" pitchFamily="2" charset="-78"/>
                </a:rPr>
                <a:t>2</a:t>
              </a:r>
              <a:endParaRPr lang="en-US" sz="1350" dirty="0">
                <a:solidFill>
                  <a:schemeClr val="bg2"/>
                </a:solidFill>
                <a:cs typeface="B Nazanin" panose="00000400000000000000" pitchFamily="2" charset="-78"/>
              </a:endParaRPr>
            </a:p>
          </p:txBody>
        </p:sp>
        <p:sp>
          <p:nvSpPr>
            <p:cNvPr id="28" name="Text 11">
              <a:extLst>
                <a:ext uri="{FF2B5EF4-FFF2-40B4-BE49-F238E27FC236}">
                  <a16:creationId xmlns:a16="http://schemas.microsoft.com/office/drawing/2014/main" id="{18F66A54-36AF-13D3-6C36-B3E9B212558B}"/>
                </a:ext>
              </a:extLst>
            </p:cNvPr>
            <p:cNvSpPr/>
            <p:nvPr/>
          </p:nvSpPr>
          <p:spPr>
            <a:xfrm>
              <a:off x="5275659" y="2348270"/>
              <a:ext cx="1456849" cy="182166"/>
            </a:xfrm>
            <a:prstGeom prst="rect">
              <a:avLst/>
            </a:prstGeom>
            <a:noFill/>
            <a:ln/>
          </p:spPr>
          <p:txBody>
            <a:bodyPr wrap="none" lIns="0" tIns="0" rIns="0" bIns="0" rtlCol="0" anchor="t"/>
            <a:lstStyle/>
            <a:p>
              <a:pPr marL="0" indent="0" algn="r" rtl="1">
                <a:lnSpc>
                  <a:spcPts val="1400"/>
                </a:lnSpc>
                <a:buNone/>
              </a:pPr>
              <a:r>
                <a:rPr lang="en-US" sz="1100" b="1" dirty="0">
                  <a:solidFill>
                    <a:schemeClr val="bg2"/>
                  </a:solidFill>
                  <a:latin typeface="Inter Bold" pitchFamily="34" charset="0"/>
                  <a:ea typeface="Inter Bold" pitchFamily="34" charset="-122"/>
                  <a:cs typeface="B Nazanin" panose="00000400000000000000" pitchFamily="2" charset="-78"/>
                </a:rPr>
                <a:t>مهر ۱۳۵۹ (اکتبر ۱۹۸۰)</a:t>
              </a:r>
              <a:endParaRPr lang="en-US" sz="1100" dirty="0">
                <a:solidFill>
                  <a:schemeClr val="bg2"/>
                </a:solidFill>
                <a:cs typeface="B Nazanin" panose="00000400000000000000" pitchFamily="2" charset="-78"/>
              </a:endParaRPr>
            </a:p>
          </p:txBody>
        </p:sp>
        <p:sp>
          <p:nvSpPr>
            <p:cNvPr id="45" name="Text 12">
              <a:extLst>
                <a:ext uri="{FF2B5EF4-FFF2-40B4-BE49-F238E27FC236}">
                  <a16:creationId xmlns:a16="http://schemas.microsoft.com/office/drawing/2014/main" id="{BCA6AB92-AB8B-D689-459F-FBE30997860B}"/>
                </a:ext>
              </a:extLst>
            </p:cNvPr>
            <p:cNvSpPr/>
            <p:nvPr/>
          </p:nvSpPr>
          <p:spPr>
            <a:xfrm>
              <a:off x="466130" y="2600325"/>
              <a:ext cx="6266378" cy="186452"/>
            </a:xfrm>
            <a:prstGeom prst="rect">
              <a:avLst/>
            </a:prstGeom>
            <a:noFill/>
            <a:ln/>
          </p:spPr>
          <p:txBody>
            <a:bodyPr wrap="none" lIns="0" tIns="0" rIns="0" bIns="0" rtlCol="0" anchor="t"/>
            <a:lstStyle/>
            <a:p>
              <a:pPr marL="0" indent="0" algn="r" rtl="1">
                <a:lnSpc>
                  <a:spcPts val="1450"/>
                </a:lnSpc>
                <a:buNone/>
              </a:pPr>
              <a:r>
                <a:rPr lang="en-US" sz="900" dirty="0">
                  <a:solidFill>
                    <a:schemeClr val="bg2"/>
                  </a:solidFill>
                  <a:latin typeface="Inter" pitchFamily="34" charset="0"/>
                  <a:ea typeface="Inter" pitchFamily="34" charset="-122"/>
                  <a:cs typeface="B Nazanin" panose="00000400000000000000" pitchFamily="2" charset="-78"/>
                </a:rPr>
                <a:t>قطعنامه ۴۷۹ - درخواست آتش‌بس و عقب‌نشینی نیروها اما بدون الزام قانونی</a:t>
              </a:r>
              <a:endParaRPr lang="en-US" sz="900" dirty="0">
                <a:solidFill>
                  <a:schemeClr val="bg2"/>
                </a:solidFill>
                <a:cs typeface="B Nazanin" panose="00000400000000000000" pitchFamily="2" charset="-78"/>
              </a:endParaRPr>
            </a:p>
          </p:txBody>
        </p:sp>
        <p:sp>
          <p:nvSpPr>
            <p:cNvPr id="47" name="Shape 13">
              <a:extLst>
                <a:ext uri="{FF2B5EF4-FFF2-40B4-BE49-F238E27FC236}">
                  <a16:creationId xmlns:a16="http://schemas.microsoft.com/office/drawing/2014/main" id="{1F5FE0C6-CF9E-95B7-ADF1-1BAD44C0FA7C}"/>
                </a:ext>
              </a:extLst>
            </p:cNvPr>
            <p:cNvSpPr/>
            <p:nvPr/>
          </p:nvSpPr>
          <p:spPr>
            <a:xfrm>
              <a:off x="7431048" y="3034427"/>
              <a:ext cx="349568" cy="15240"/>
            </a:xfrm>
            <a:prstGeom prst="roundRect">
              <a:avLst>
                <a:gd name="adj" fmla="val 321208"/>
              </a:avLst>
            </a:prstGeom>
            <a:solidFill>
              <a:srgbClr val="C0C1D7"/>
            </a:solidFill>
            <a:ln/>
          </p:spPr>
        </p:sp>
        <p:sp>
          <p:nvSpPr>
            <p:cNvPr id="48" name="Shape 14">
              <a:extLst>
                <a:ext uri="{FF2B5EF4-FFF2-40B4-BE49-F238E27FC236}">
                  <a16:creationId xmlns:a16="http://schemas.microsoft.com/office/drawing/2014/main" id="{6203E236-7019-5634-43F8-FC2D31F229D3}"/>
                </a:ext>
              </a:extLst>
            </p:cNvPr>
            <p:cNvSpPr/>
            <p:nvPr/>
          </p:nvSpPr>
          <p:spPr>
            <a:xfrm>
              <a:off x="7184112" y="2910959"/>
              <a:ext cx="262176" cy="262176"/>
            </a:xfrm>
            <a:prstGeom prst="roundRect">
              <a:avLst>
                <a:gd name="adj" fmla="val 18671"/>
              </a:avLst>
            </a:prstGeom>
            <a:solidFill>
              <a:srgbClr val="DADBF1"/>
            </a:solidFill>
            <a:ln w="7620">
              <a:solidFill>
                <a:srgbClr val="C0C1D7"/>
              </a:solidFill>
              <a:prstDash val="solid"/>
            </a:ln>
          </p:spPr>
        </p:sp>
        <p:sp>
          <p:nvSpPr>
            <p:cNvPr id="49" name="Text 15">
              <a:extLst>
                <a:ext uri="{FF2B5EF4-FFF2-40B4-BE49-F238E27FC236}">
                  <a16:creationId xmlns:a16="http://schemas.microsoft.com/office/drawing/2014/main" id="{A7374FD9-9C93-42EA-5B29-6F0D5FCB4803}"/>
                </a:ext>
              </a:extLst>
            </p:cNvPr>
            <p:cNvSpPr/>
            <p:nvPr/>
          </p:nvSpPr>
          <p:spPr>
            <a:xfrm>
              <a:off x="7227808" y="2932807"/>
              <a:ext cx="174784" cy="218480"/>
            </a:xfrm>
            <a:prstGeom prst="rect">
              <a:avLst/>
            </a:prstGeom>
            <a:noFill/>
            <a:ln/>
          </p:spPr>
          <p:txBody>
            <a:bodyPr wrap="none" lIns="0" tIns="0" rIns="0" bIns="0" rtlCol="0" anchor="t"/>
            <a:lstStyle/>
            <a:p>
              <a:pPr marL="0" indent="0" algn="ctr" rtl="1">
                <a:lnSpc>
                  <a:spcPts val="1350"/>
                </a:lnSpc>
                <a:buNone/>
              </a:pPr>
              <a:r>
                <a:rPr lang="en-US" sz="1350" b="1" dirty="0">
                  <a:solidFill>
                    <a:schemeClr val="bg2"/>
                  </a:solidFill>
                  <a:latin typeface="Inter Bold" pitchFamily="34" charset="0"/>
                  <a:ea typeface="Inter Bold" pitchFamily="34" charset="-122"/>
                  <a:cs typeface="B Nazanin" panose="00000400000000000000" pitchFamily="2" charset="-78"/>
                </a:rPr>
                <a:t>3</a:t>
              </a:r>
              <a:endParaRPr lang="en-US" sz="1350" dirty="0">
                <a:solidFill>
                  <a:schemeClr val="bg2"/>
                </a:solidFill>
                <a:cs typeface="B Nazanin" panose="00000400000000000000" pitchFamily="2" charset="-78"/>
              </a:endParaRPr>
            </a:p>
          </p:txBody>
        </p:sp>
        <p:sp>
          <p:nvSpPr>
            <p:cNvPr id="50" name="Text 16">
              <a:extLst>
                <a:ext uri="{FF2B5EF4-FFF2-40B4-BE49-F238E27FC236}">
                  <a16:creationId xmlns:a16="http://schemas.microsoft.com/office/drawing/2014/main" id="{9009EA26-4309-E550-D013-A409F2C54BEE}"/>
                </a:ext>
              </a:extLst>
            </p:cNvPr>
            <p:cNvSpPr/>
            <p:nvPr/>
          </p:nvSpPr>
          <p:spPr>
            <a:xfrm>
              <a:off x="7897892" y="2950964"/>
              <a:ext cx="1456849" cy="182166"/>
            </a:xfrm>
            <a:prstGeom prst="rect">
              <a:avLst/>
            </a:prstGeom>
            <a:noFill/>
            <a:ln/>
          </p:spPr>
          <p:txBody>
            <a:bodyPr wrap="none" lIns="0" tIns="0" rIns="0" bIns="0" rtlCol="0" anchor="t"/>
            <a:lstStyle/>
            <a:p>
              <a:pPr marL="0" indent="0" algn="l" rtl="1">
                <a:lnSpc>
                  <a:spcPts val="1400"/>
                </a:lnSpc>
                <a:buNone/>
              </a:pPr>
              <a:r>
                <a:rPr lang="en-US" sz="1100" b="1" dirty="0">
                  <a:solidFill>
                    <a:schemeClr val="bg2"/>
                  </a:solidFill>
                  <a:latin typeface="Inter Bold" pitchFamily="34" charset="0"/>
                  <a:ea typeface="Inter Bold" pitchFamily="34" charset="-122"/>
                  <a:cs typeface="B Nazanin" panose="00000400000000000000" pitchFamily="2" charset="-78"/>
                </a:rPr>
                <a:t>تیر ۱۱۳۶ (ژوئیه ۱۹۸۲)</a:t>
              </a:r>
              <a:endParaRPr lang="en-US" sz="1100" dirty="0">
                <a:solidFill>
                  <a:schemeClr val="bg2"/>
                </a:solidFill>
                <a:cs typeface="B Nazanin" panose="00000400000000000000" pitchFamily="2" charset="-78"/>
              </a:endParaRPr>
            </a:p>
          </p:txBody>
        </p:sp>
        <p:sp>
          <p:nvSpPr>
            <p:cNvPr id="53" name="Text 17">
              <a:extLst>
                <a:ext uri="{FF2B5EF4-FFF2-40B4-BE49-F238E27FC236}">
                  <a16:creationId xmlns:a16="http://schemas.microsoft.com/office/drawing/2014/main" id="{DE9E12EF-4F94-1626-A578-2C39AB6D720F}"/>
                </a:ext>
              </a:extLst>
            </p:cNvPr>
            <p:cNvSpPr/>
            <p:nvPr/>
          </p:nvSpPr>
          <p:spPr>
            <a:xfrm>
              <a:off x="7897892" y="3203019"/>
              <a:ext cx="6266378" cy="186452"/>
            </a:xfrm>
            <a:prstGeom prst="rect">
              <a:avLst/>
            </a:prstGeom>
            <a:noFill/>
            <a:ln/>
          </p:spPr>
          <p:txBody>
            <a:bodyPr wrap="none" lIns="0" tIns="0" rIns="0" bIns="0" rtlCol="0" anchor="t"/>
            <a:lstStyle/>
            <a:p>
              <a:pPr marL="0" indent="0" algn="l" rtl="1">
                <a:lnSpc>
                  <a:spcPts val="1450"/>
                </a:lnSpc>
                <a:buNone/>
              </a:pPr>
              <a:r>
                <a:rPr lang="en-US" sz="900" dirty="0">
                  <a:solidFill>
                    <a:schemeClr val="bg2"/>
                  </a:solidFill>
                  <a:latin typeface="Inter" pitchFamily="34" charset="0"/>
                  <a:ea typeface="Inter" pitchFamily="34" charset="-122"/>
                  <a:cs typeface="B Nazanin" panose="00000400000000000000" pitchFamily="2" charset="-78"/>
                </a:rPr>
                <a:t>قطعنامه ۵۱۴ - محکومیت تجاوز اما بدون نام بردن از عراق به عنوان متجاوز</a:t>
              </a:r>
              <a:endParaRPr lang="en-US" sz="900" dirty="0">
                <a:solidFill>
                  <a:schemeClr val="bg2"/>
                </a:solidFill>
                <a:cs typeface="B Nazanin" panose="00000400000000000000" pitchFamily="2" charset="-78"/>
              </a:endParaRPr>
            </a:p>
          </p:txBody>
        </p:sp>
        <p:sp>
          <p:nvSpPr>
            <p:cNvPr id="54" name="Shape 18">
              <a:extLst>
                <a:ext uri="{FF2B5EF4-FFF2-40B4-BE49-F238E27FC236}">
                  <a16:creationId xmlns:a16="http://schemas.microsoft.com/office/drawing/2014/main" id="{69BA9B8F-0ED4-3A2F-3A60-6F28F2A1C35D}"/>
                </a:ext>
              </a:extLst>
            </p:cNvPr>
            <p:cNvSpPr/>
            <p:nvPr/>
          </p:nvSpPr>
          <p:spPr>
            <a:xfrm>
              <a:off x="6849785" y="3637121"/>
              <a:ext cx="349568" cy="15240"/>
            </a:xfrm>
            <a:prstGeom prst="roundRect">
              <a:avLst>
                <a:gd name="adj" fmla="val 321208"/>
              </a:avLst>
            </a:prstGeom>
            <a:solidFill>
              <a:srgbClr val="C0C1D7"/>
            </a:solidFill>
            <a:ln/>
          </p:spPr>
        </p:sp>
        <p:sp>
          <p:nvSpPr>
            <p:cNvPr id="55" name="Shape 19">
              <a:extLst>
                <a:ext uri="{FF2B5EF4-FFF2-40B4-BE49-F238E27FC236}">
                  <a16:creationId xmlns:a16="http://schemas.microsoft.com/office/drawing/2014/main" id="{83B6FCCC-EE94-9CC1-2904-2C8126B38135}"/>
                </a:ext>
              </a:extLst>
            </p:cNvPr>
            <p:cNvSpPr/>
            <p:nvPr/>
          </p:nvSpPr>
          <p:spPr>
            <a:xfrm>
              <a:off x="7184112" y="3513653"/>
              <a:ext cx="262176" cy="262176"/>
            </a:xfrm>
            <a:prstGeom prst="roundRect">
              <a:avLst>
                <a:gd name="adj" fmla="val 18671"/>
              </a:avLst>
            </a:prstGeom>
            <a:solidFill>
              <a:srgbClr val="DADBF1"/>
            </a:solidFill>
            <a:ln w="7620">
              <a:solidFill>
                <a:srgbClr val="C0C1D7"/>
              </a:solidFill>
              <a:prstDash val="solid"/>
            </a:ln>
          </p:spPr>
        </p:sp>
        <p:sp>
          <p:nvSpPr>
            <p:cNvPr id="56" name="Text 20">
              <a:extLst>
                <a:ext uri="{FF2B5EF4-FFF2-40B4-BE49-F238E27FC236}">
                  <a16:creationId xmlns:a16="http://schemas.microsoft.com/office/drawing/2014/main" id="{70E127A8-AE1F-CBAB-CC20-802061D9398F}"/>
                </a:ext>
              </a:extLst>
            </p:cNvPr>
            <p:cNvSpPr/>
            <p:nvPr/>
          </p:nvSpPr>
          <p:spPr>
            <a:xfrm>
              <a:off x="7227808" y="3535501"/>
              <a:ext cx="174784" cy="218480"/>
            </a:xfrm>
            <a:prstGeom prst="rect">
              <a:avLst/>
            </a:prstGeom>
            <a:noFill/>
            <a:ln/>
          </p:spPr>
          <p:txBody>
            <a:bodyPr wrap="none" lIns="0" tIns="0" rIns="0" bIns="0" rtlCol="0" anchor="t"/>
            <a:lstStyle/>
            <a:p>
              <a:pPr marL="0" indent="0" algn="ctr" rtl="1">
                <a:lnSpc>
                  <a:spcPts val="1350"/>
                </a:lnSpc>
                <a:buNone/>
              </a:pPr>
              <a:r>
                <a:rPr lang="en-US" sz="1350" b="1" dirty="0">
                  <a:solidFill>
                    <a:schemeClr val="bg2"/>
                  </a:solidFill>
                  <a:latin typeface="Inter Bold" pitchFamily="34" charset="0"/>
                  <a:ea typeface="Inter Bold" pitchFamily="34" charset="-122"/>
                  <a:cs typeface="B Nazanin" panose="00000400000000000000" pitchFamily="2" charset="-78"/>
                </a:rPr>
                <a:t>4</a:t>
              </a:r>
              <a:endParaRPr lang="en-US" sz="1350" dirty="0">
                <a:solidFill>
                  <a:schemeClr val="bg2"/>
                </a:solidFill>
                <a:cs typeface="B Nazanin" panose="00000400000000000000" pitchFamily="2" charset="-78"/>
              </a:endParaRPr>
            </a:p>
          </p:txBody>
        </p:sp>
        <p:sp>
          <p:nvSpPr>
            <p:cNvPr id="57" name="Text 21">
              <a:extLst>
                <a:ext uri="{FF2B5EF4-FFF2-40B4-BE49-F238E27FC236}">
                  <a16:creationId xmlns:a16="http://schemas.microsoft.com/office/drawing/2014/main" id="{6CFFFDF8-0F3F-7CF4-ADF9-6F0A8CF02258}"/>
                </a:ext>
              </a:extLst>
            </p:cNvPr>
            <p:cNvSpPr/>
            <p:nvPr/>
          </p:nvSpPr>
          <p:spPr>
            <a:xfrm>
              <a:off x="5133380" y="3553658"/>
              <a:ext cx="1599128" cy="182166"/>
            </a:xfrm>
            <a:prstGeom prst="rect">
              <a:avLst/>
            </a:prstGeom>
            <a:noFill/>
            <a:ln/>
          </p:spPr>
          <p:txBody>
            <a:bodyPr wrap="none" lIns="0" tIns="0" rIns="0" bIns="0" rtlCol="0" anchor="t"/>
            <a:lstStyle/>
            <a:p>
              <a:pPr marL="0" indent="0" algn="r" rtl="1">
                <a:lnSpc>
                  <a:spcPts val="1400"/>
                </a:lnSpc>
                <a:buNone/>
              </a:pPr>
              <a:r>
                <a:rPr lang="en-US" sz="1100" b="1" dirty="0">
                  <a:solidFill>
                    <a:schemeClr val="bg2"/>
                  </a:solidFill>
                  <a:latin typeface="Inter Bold" pitchFamily="34" charset="0"/>
                  <a:ea typeface="Inter Bold" pitchFamily="34" charset="-122"/>
                  <a:cs typeface="B Nazanin" panose="00000400000000000000" pitchFamily="2" charset="-78"/>
                </a:rPr>
                <a:t>شهریور ۱۳۶۵ (سپتامبر ۱۹۸۶)</a:t>
              </a:r>
              <a:endParaRPr lang="en-US" sz="1100" dirty="0">
                <a:solidFill>
                  <a:schemeClr val="bg2"/>
                </a:solidFill>
                <a:cs typeface="B Nazanin" panose="00000400000000000000" pitchFamily="2" charset="-78"/>
              </a:endParaRPr>
            </a:p>
          </p:txBody>
        </p:sp>
        <p:sp>
          <p:nvSpPr>
            <p:cNvPr id="58" name="Text 22">
              <a:extLst>
                <a:ext uri="{FF2B5EF4-FFF2-40B4-BE49-F238E27FC236}">
                  <a16:creationId xmlns:a16="http://schemas.microsoft.com/office/drawing/2014/main" id="{CB572D6E-E409-15B5-B75E-8E6913D5EB1A}"/>
                </a:ext>
              </a:extLst>
            </p:cNvPr>
            <p:cNvSpPr/>
            <p:nvPr/>
          </p:nvSpPr>
          <p:spPr>
            <a:xfrm>
              <a:off x="466130" y="3805714"/>
              <a:ext cx="6266378" cy="186452"/>
            </a:xfrm>
            <a:prstGeom prst="rect">
              <a:avLst/>
            </a:prstGeom>
            <a:noFill/>
            <a:ln/>
          </p:spPr>
          <p:txBody>
            <a:bodyPr wrap="none" lIns="0" tIns="0" rIns="0" bIns="0" rtlCol="0" anchor="t"/>
            <a:lstStyle/>
            <a:p>
              <a:pPr marL="0" indent="0" algn="r" rtl="1">
                <a:lnSpc>
                  <a:spcPts val="1450"/>
                </a:lnSpc>
                <a:buNone/>
              </a:pPr>
              <a:r>
                <a:rPr lang="en-US" sz="900" dirty="0">
                  <a:solidFill>
                    <a:schemeClr val="bg2"/>
                  </a:solidFill>
                  <a:latin typeface="Inter" pitchFamily="34" charset="0"/>
                  <a:ea typeface="Inter" pitchFamily="34" charset="-122"/>
                  <a:cs typeface="B Nazanin" panose="00000400000000000000" pitchFamily="2" charset="-78"/>
                </a:rPr>
                <a:t>گزارش‌های مکرر درباره استفاده عراق از سلاح‌های شیمیایی اما بدون اقدام جدی</a:t>
              </a:r>
              <a:endParaRPr lang="en-US" sz="900" dirty="0">
                <a:solidFill>
                  <a:schemeClr val="bg2"/>
                </a:solidFill>
                <a:cs typeface="B Nazanin" panose="00000400000000000000" pitchFamily="2" charset="-78"/>
              </a:endParaRPr>
            </a:p>
          </p:txBody>
        </p:sp>
        <p:sp>
          <p:nvSpPr>
            <p:cNvPr id="59" name="Shape 23">
              <a:extLst>
                <a:ext uri="{FF2B5EF4-FFF2-40B4-BE49-F238E27FC236}">
                  <a16:creationId xmlns:a16="http://schemas.microsoft.com/office/drawing/2014/main" id="{219AD2B4-8713-257A-1A3D-48E34147DE59}"/>
                </a:ext>
              </a:extLst>
            </p:cNvPr>
            <p:cNvSpPr/>
            <p:nvPr/>
          </p:nvSpPr>
          <p:spPr>
            <a:xfrm>
              <a:off x="7431048" y="4239816"/>
              <a:ext cx="349568" cy="15240"/>
            </a:xfrm>
            <a:prstGeom prst="roundRect">
              <a:avLst>
                <a:gd name="adj" fmla="val 321208"/>
              </a:avLst>
            </a:prstGeom>
            <a:solidFill>
              <a:srgbClr val="C0C1D7"/>
            </a:solidFill>
            <a:ln/>
          </p:spPr>
        </p:sp>
        <p:sp>
          <p:nvSpPr>
            <p:cNvPr id="60" name="Shape 24">
              <a:extLst>
                <a:ext uri="{FF2B5EF4-FFF2-40B4-BE49-F238E27FC236}">
                  <a16:creationId xmlns:a16="http://schemas.microsoft.com/office/drawing/2014/main" id="{A97C92EE-9F97-6FA7-CC34-96521FBE66C1}"/>
                </a:ext>
              </a:extLst>
            </p:cNvPr>
            <p:cNvSpPr/>
            <p:nvPr/>
          </p:nvSpPr>
          <p:spPr>
            <a:xfrm>
              <a:off x="7184112" y="4116348"/>
              <a:ext cx="262176" cy="262176"/>
            </a:xfrm>
            <a:prstGeom prst="roundRect">
              <a:avLst>
                <a:gd name="adj" fmla="val 18671"/>
              </a:avLst>
            </a:prstGeom>
            <a:solidFill>
              <a:srgbClr val="DADBF1"/>
            </a:solidFill>
            <a:ln w="7620">
              <a:solidFill>
                <a:srgbClr val="C0C1D7"/>
              </a:solidFill>
              <a:prstDash val="solid"/>
            </a:ln>
          </p:spPr>
        </p:sp>
        <p:sp>
          <p:nvSpPr>
            <p:cNvPr id="61" name="Text 25">
              <a:extLst>
                <a:ext uri="{FF2B5EF4-FFF2-40B4-BE49-F238E27FC236}">
                  <a16:creationId xmlns:a16="http://schemas.microsoft.com/office/drawing/2014/main" id="{452CF31B-7091-4B73-FCC9-60DD716047DF}"/>
                </a:ext>
              </a:extLst>
            </p:cNvPr>
            <p:cNvSpPr/>
            <p:nvPr/>
          </p:nvSpPr>
          <p:spPr>
            <a:xfrm>
              <a:off x="7227808" y="4138196"/>
              <a:ext cx="174784" cy="218480"/>
            </a:xfrm>
            <a:prstGeom prst="rect">
              <a:avLst/>
            </a:prstGeom>
            <a:noFill/>
            <a:ln/>
          </p:spPr>
          <p:txBody>
            <a:bodyPr wrap="none" lIns="0" tIns="0" rIns="0" bIns="0" rtlCol="0" anchor="t"/>
            <a:lstStyle/>
            <a:p>
              <a:pPr marL="0" indent="0" algn="ctr" rtl="1">
                <a:lnSpc>
                  <a:spcPts val="1350"/>
                </a:lnSpc>
                <a:buNone/>
              </a:pPr>
              <a:r>
                <a:rPr lang="en-US" sz="1350" b="1" dirty="0">
                  <a:solidFill>
                    <a:schemeClr val="bg2"/>
                  </a:solidFill>
                  <a:latin typeface="Inter Bold" pitchFamily="34" charset="0"/>
                  <a:ea typeface="Inter Bold" pitchFamily="34" charset="-122"/>
                  <a:cs typeface="B Nazanin" panose="00000400000000000000" pitchFamily="2" charset="-78"/>
                </a:rPr>
                <a:t>5</a:t>
              </a:r>
              <a:endParaRPr lang="en-US" sz="1350" dirty="0">
                <a:solidFill>
                  <a:schemeClr val="bg2"/>
                </a:solidFill>
                <a:cs typeface="B Nazanin" panose="00000400000000000000" pitchFamily="2" charset="-78"/>
              </a:endParaRPr>
            </a:p>
          </p:txBody>
        </p:sp>
        <p:sp>
          <p:nvSpPr>
            <p:cNvPr id="62" name="Text 26">
              <a:extLst>
                <a:ext uri="{FF2B5EF4-FFF2-40B4-BE49-F238E27FC236}">
                  <a16:creationId xmlns:a16="http://schemas.microsoft.com/office/drawing/2014/main" id="{D003D1FC-EF64-CA0F-D472-F81967D58C95}"/>
                </a:ext>
              </a:extLst>
            </p:cNvPr>
            <p:cNvSpPr/>
            <p:nvPr/>
          </p:nvSpPr>
          <p:spPr>
            <a:xfrm>
              <a:off x="7897892" y="4156353"/>
              <a:ext cx="1456849" cy="182166"/>
            </a:xfrm>
            <a:prstGeom prst="rect">
              <a:avLst/>
            </a:prstGeom>
            <a:noFill/>
            <a:ln/>
          </p:spPr>
          <p:txBody>
            <a:bodyPr wrap="none" lIns="0" tIns="0" rIns="0" bIns="0" rtlCol="0" anchor="t"/>
            <a:lstStyle/>
            <a:p>
              <a:pPr marL="0" indent="0" algn="l" rtl="1">
                <a:lnSpc>
                  <a:spcPts val="1400"/>
                </a:lnSpc>
                <a:buNone/>
              </a:pPr>
              <a:r>
                <a:rPr lang="en-US" sz="1100" b="1" dirty="0">
                  <a:solidFill>
                    <a:schemeClr val="bg2"/>
                  </a:solidFill>
                  <a:latin typeface="Inter Bold" pitchFamily="34" charset="0"/>
                  <a:ea typeface="Inter Bold" pitchFamily="34" charset="-122"/>
                  <a:cs typeface="B Nazanin" panose="00000400000000000000" pitchFamily="2" charset="-78"/>
                </a:rPr>
                <a:t>مرداد ۱۳۶۶ (ژوئیه ۱۹۸۷)</a:t>
              </a:r>
              <a:endParaRPr lang="en-US" sz="1100" dirty="0">
                <a:solidFill>
                  <a:schemeClr val="bg2"/>
                </a:solidFill>
                <a:cs typeface="B Nazanin" panose="00000400000000000000" pitchFamily="2" charset="-78"/>
              </a:endParaRPr>
            </a:p>
          </p:txBody>
        </p:sp>
        <p:sp>
          <p:nvSpPr>
            <p:cNvPr id="63" name="Text 27">
              <a:extLst>
                <a:ext uri="{FF2B5EF4-FFF2-40B4-BE49-F238E27FC236}">
                  <a16:creationId xmlns:a16="http://schemas.microsoft.com/office/drawing/2014/main" id="{76C01F32-30FC-2A3B-8163-7A8CA4845CD9}"/>
                </a:ext>
              </a:extLst>
            </p:cNvPr>
            <p:cNvSpPr/>
            <p:nvPr/>
          </p:nvSpPr>
          <p:spPr>
            <a:xfrm>
              <a:off x="7897892" y="4408408"/>
              <a:ext cx="6266378" cy="186452"/>
            </a:xfrm>
            <a:prstGeom prst="rect">
              <a:avLst/>
            </a:prstGeom>
            <a:noFill/>
            <a:ln/>
          </p:spPr>
          <p:txBody>
            <a:bodyPr wrap="none" lIns="0" tIns="0" rIns="0" bIns="0" rtlCol="0" anchor="t"/>
            <a:lstStyle/>
            <a:p>
              <a:pPr marL="0" indent="0" algn="l" rtl="1">
                <a:lnSpc>
                  <a:spcPts val="1450"/>
                </a:lnSpc>
                <a:buNone/>
              </a:pPr>
              <a:r>
                <a:rPr lang="en-US" sz="900" dirty="0">
                  <a:solidFill>
                    <a:schemeClr val="bg2"/>
                  </a:solidFill>
                  <a:latin typeface="Inter" pitchFamily="34" charset="0"/>
                  <a:ea typeface="Inter" pitchFamily="34" charset="-122"/>
                  <a:cs typeface="B Nazanin" panose="00000400000000000000" pitchFamily="2" charset="-78"/>
                </a:rPr>
                <a:t>قطعنامه ۵۹۸ - درخواست آتش‌بس فوری اما با رویکردی که ایران را مسئول تداوم جنگ جلوه می‌داد</a:t>
              </a:r>
              <a:endParaRPr lang="en-US" sz="900" dirty="0">
                <a:solidFill>
                  <a:schemeClr val="bg2"/>
                </a:solidFill>
                <a:cs typeface="B Nazanin" panose="00000400000000000000" pitchFamily="2" charset="-78"/>
              </a:endParaRPr>
            </a:p>
          </p:txBody>
        </p:sp>
        <p:sp>
          <p:nvSpPr>
            <p:cNvPr id="65" name="Shape 28">
              <a:extLst>
                <a:ext uri="{FF2B5EF4-FFF2-40B4-BE49-F238E27FC236}">
                  <a16:creationId xmlns:a16="http://schemas.microsoft.com/office/drawing/2014/main" id="{FD4AE104-86A2-DE99-D8C6-A143EA82DD64}"/>
                </a:ext>
              </a:extLst>
            </p:cNvPr>
            <p:cNvSpPr/>
            <p:nvPr/>
          </p:nvSpPr>
          <p:spPr>
            <a:xfrm>
              <a:off x="6849785" y="4842510"/>
              <a:ext cx="349568" cy="15240"/>
            </a:xfrm>
            <a:prstGeom prst="roundRect">
              <a:avLst>
                <a:gd name="adj" fmla="val 321208"/>
              </a:avLst>
            </a:prstGeom>
            <a:solidFill>
              <a:srgbClr val="C0C1D7"/>
            </a:solidFill>
            <a:ln/>
          </p:spPr>
        </p:sp>
        <p:sp>
          <p:nvSpPr>
            <p:cNvPr id="66" name="Shape 29">
              <a:extLst>
                <a:ext uri="{FF2B5EF4-FFF2-40B4-BE49-F238E27FC236}">
                  <a16:creationId xmlns:a16="http://schemas.microsoft.com/office/drawing/2014/main" id="{8952E147-F9DD-6F71-05DA-A1057ECBC632}"/>
                </a:ext>
              </a:extLst>
            </p:cNvPr>
            <p:cNvSpPr/>
            <p:nvPr/>
          </p:nvSpPr>
          <p:spPr>
            <a:xfrm>
              <a:off x="7184112" y="4719042"/>
              <a:ext cx="262176" cy="262176"/>
            </a:xfrm>
            <a:prstGeom prst="roundRect">
              <a:avLst>
                <a:gd name="adj" fmla="val 18671"/>
              </a:avLst>
            </a:prstGeom>
            <a:solidFill>
              <a:srgbClr val="DADBF1"/>
            </a:solidFill>
            <a:ln w="7620">
              <a:solidFill>
                <a:srgbClr val="C0C1D7"/>
              </a:solidFill>
              <a:prstDash val="solid"/>
            </a:ln>
          </p:spPr>
        </p:sp>
        <p:sp>
          <p:nvSpPr>
            <p:cNvPr id="67" name="Text 30">
              <a:extLst>
                <a:ext uri="{FF2B5EF4-FFF2-40B4-BE49-F238E27FC236}">
                  <a16:creationId xmlns:a16="http://schemas.microsoft.com/office/drawing/2014/main" id="{DF7D6562-6712-FA42-D917-AFD6D3516FB8}"/>
                </a:ext>
              </a:extLst>
            </p:cNvPr>
            <p:cNvSpPr/>
            <p:nvPr/>
          </p:nvSpPr>
          <p:spPr>
            <a:xfrm>
              <a:off x="7227808" y="4740890"/>
              <a:ext cx="174784" cy="218480"/>
            </a:xfrm>
            <a:prstGeom prst="rect">
              <a:avLst/>
            </a:prstGeom>
            <a:noFill/>
            <a:ln/>
          </p:spPr>
          <p:txBody>
            <a:bodyPr wrap="none" lIns="0" tIns="0" rIns="0" bIns="0" rtlCol="0" anchor="t"/>
            <a:lstStyle/>
            <a:p>
              <a:pPr marL="0" indent="0" algn="ctr" rtl="1">
                <a:lnSpc>
                  <a:spcPts val="1350"/>
                </a:lnSpc>
                <a:buNone/>
              </a:pPr>
              <a:r>
                <a:rPr lang="en-US" sz="1350" b="1" dirty="0">
                  <a:solidFill>
                    <a:schemeClr val="bg2"/>
                  </a:solidFill>
                  <a:latin typeface="Inter Bold" pitchFamily="34" charset="0"/>
                  <a:ea typeface="Inter Bold" pitchFamily="34" charset="-122"/>
                  <a:cs typeface="B Nazanin" panose="00000400000000000000" pitchFamily="2" charset="-78"/>
                </a:rPr>
                <a:t>6</a:t>
              </a:r>
              <a:endParaRPr lang="en-US" sz="1350" dirty="0">
                <a:solidFill>
                  <a:schemeClr val="bg2"/>
                </a:solidFill>
                <a:cs typeface="B Nazanin" panose="00000400000000000000" pitchFamily="2" charset="-78"/>
              </a:endParaRPr>
            </a:p>
          </p:txBody>
        </p:sp>
        <p:sp>
          <p:nvSpPr>
            <p:cNvPr id="68" name="Text 31">
              <a:extLst>
                <a:ext uri="{FF2B5EF4-FFF2-40B4-BE49-F238E27FC236}">
                  <a16:creationId xmlns:a16="http://schemas.microsoft.com/office/drawing/2014/main" id="{FB63C080-C1ED-27DC-9C8A-283705FC96F0}"/>
                </a:ext>
              </a:extLst>
            </p:cNvPr>
            <p:cNvSpPr/>
            <p:nvPr/>
          </p:nvSpPr>
          <p:spPr>
            <a:xfrm>
              <a:off x="5275659" y="4759047"/>
              <a:ext cx="1456849" cy="182166"/>
            </a:xfrm>
            <a:prstGeom prst="rect">
              <a:avLst/>
            </a:prstGeom>
            <a:noFill/>
            <a:ln/>
          </p:spPr>
          <p:txBody>
            <a:bodyPr wrap="none" lIns="0" tIns="0" rIns="0" bIns="0" rtlCol="0" anchor="t"/>
            <a:lstStyle/>
            <a:p>
              <a:pPr marL="0" indent="0" algn="r" rtl="1">
                <a:lnSpc>
                  <a:spcPts val="1400"/>
                </a:lnSpc>
                <a:buNone/>
              </a:pPr>
              <a:r>
                <a:rPr lang="en-US" sz="1100" b="1" dirty="0">
                  <a:solidFill>
                    <a:schemeClr val="bg2"/>
                  </a:solidFill>
                  <a:latin typeface="Inter Bold" pitchFamily="34" charset="0"/>
                  <a:ea typeface="Inter Bold" pitchFamily="34" charset="-122"/>
                  <a:cs typeface="B Nazanin" panose="00000400000000000000" pitchFamily="2" charset="-78"/>
                </a:rPr>
                <a:t>مرداد ۱۳۶۷ (ژوئیه ۱۹۸۸)</a:t>
              </a:r>
              <a:endParaRPr lang="en-US" sz="1100" dirty="0">
                <a:solidFill>
                  <a:schemeClr val="bg2"/>
                </a:solidFill>
                <a:cs typeface="B Nazanin" panose="00000400000000000000" pitchFamily="2" charset="-78"/>
              </a:endParaRPr>
            </a:p>
          </p:txBody>
        </p:sp>
        <p:sp>
          <p:nvSpPr>
            <p:cNvPr id="70" name="Text 32">
              <a:extLst>
                <a:ext uri="{FF2B5EF4-FFF2-40B4-BE49-F238E27FC236}">
                  <a16:creationId xmlns:a16="http://schemas.microsoft.com/office/drawing/2014/main" id="{C97E706E-696B-ECEC-0D28-05C93049ED44}"/>
                </a:ext>
              </a:extLst>
            </p:cNvPr>
            <p:cNvSpPr/>
            <p:nvPr/>
          </p:nvSpPr>
          <p:spPr>
            <a:xfrm>
              <a:off x="466130" y="5011103"/>
              <a:ext cx="6266378" cy="186452"/>
            </a:xfrm>
            <a:prstGeom prst="rect">
              <a:avLst/>
            </a:prstGeom>
            <a:noFill/>
            <a:ln/>
          </p:spPr>
          <p:txBody>
            <a:bodyPr wrap="none" lIns="0" tIns="0" rIns="0" bIns="0" rtlCol="0" anchor="t"/>
            <a:lstStyle/>
            <a:p>
              <a:pPr marL="0" indent="0" algn="r" rtl="1">
                <a:lnSpc>
                  <a:spcPts val="1450"/>
                </a:lnSpc>
                <a:buNone/>
              </a:pPr>
              <a:r>
                <a:rPr lang="en-US" sz="900" dirty="0">
                  <a:solidFill>
                    <a:schemeClr val="bg2"/>
                  </a:solidFill>
                  <a:latin typeface="Inter" pitchFamily="34" charset="0"/>
                  <a:ea typeface="Inter" pitchFamily="34" charset="-122"/>
                  <a:cs typeface="B Nazanin" panose="00000400000000000000" pitchFamily="2" charset="-78"/>
                </a:rPr>
                <a:t>پذیرش قطعنامه ۵۹۸ توسط ایران و پایان جنگ پس از هشت سال تأخیر</a:t>
              </a:r>
              <a:endParaRPr lang="en-US" sz="900" dirty="0">
                <a:solidFill>
                  <a:schemeClr val="bg2"/>
                </a:solidFill>
                <a:cs typeface="B Nazanin" panose="00000400000000000000" pitchFamily="2" charset="-78"/>
              </a:endParaRPr>
            </a:p>
          </p:txBody>
        </p:sp>
        <p:sp>
          <p:nvSpPr>
            <p:cNvPr id="71" name="Text 33">
              <a:extLst>
                <a:ext uri="{FF2B5EF4-FFF2-40B4-BE49-F238E27FC236}">
                  <a16:creationId xmlns:a16="http://schemas.microsoft.com/office/drawing/2014/main" id="{C162666D-371B-1456-11CE-ED021ED72BCB}"/>
                </a:ext>
              </a:extLst>
            </p:cNvPr>
            <p:cNvSpPr/>
            <p:nvPr/>
          </p:nvSpPr>
          <p:spPr>
            <a:xfrm>
              <a:off x="7402592" y="5576081"/>
              <a:ext cx="1911906" cy="218480"/>
            </a:xfrm>
            <a:prstGeom prst="rect">
              <a:avLst/>
            </a:prstGeom>
            <a:noFill/>
            <a:ln/>
          </p:spPr>
          <p:txBody>
            <a:bodyPr wrap="none" lIns="0" tIns="0" rIns="0" bIns="0" rtlCol="0" anchor="t"/>
            <a:lstStyle/>
            <a:p>
              <a:pPr marL="0" indent="0" algn="r" rtl="1">
                <a:lnSpc>
                  <a:spcPts val="1700"/>
                </a:lnSpc>
                <a:buNone/>
              </a:pPr>
              <a:r>
                <a:rPr lang="en-US" sz="1350" b="1" dirty="0">
                  <a:solidFill>
                    <a:schemeClr val="bg2"/>
                  </a:solidFill>
                  <a:latin typeface="Inter Bold" pitchFamily="34" charset="0"/>
                  <a:ea typeface="Inter Bold" pitchFamily="34" charset="-122"/>
                  <a:cs typeface="B Nazanin" panose="00000400000000000000" pitchFamily="2" charset="-78"/>
                </a:rPr>
                <a:t>دلایل ناکارآمدی سازمان ملل</a:t>
              </a:r>
              <a:endParaRPr lang="en-US" sz="1350" dirty="0">
                <a:solidFill>
                  <a:schemeClr val="bg2"/>
                </a:solidFill>
                <a:cs typeface="B Nazanin" panose="00000400000000000000" pitchFamily="2" charset="-78"/>
              </a:endParaRPr>
            </a:p>
          </p:txBody>
        </p:sp>
        <p:sp>
          <p:nvSpPr>
            <p:cNvPr id="72" name="Text 34">
              <a:extLst>
                <a:ext uri="{FF2B5EF4-FFF2-40B4-BE49-F238E27FC236}">
                  <a16:creationId xmlns:a16="http://schemas.microsoft.com/office/drawing/2014/main" id="{4333BE1E-603E-20F9-ABAF-B5796102229A}"/>
                </a:ext>
              </a:extLst>
            </p:cNvPr>
            <p:cNvSpPr/>
            <p:nvPr/>
          </p:nvSpPr>
          <p:spPr>
            <a:xfrm>
              <a:off x="6004083" y="5909923"/>
              <a:ext cx="3871170" cy="195942"/>
            </a:xfrm>
            <a:prstGeom prst="rect">
              <a:avLst/>
            </a:prstGeom>
            <a:noFill/>
            <a:ln/>
          </p:spPr>
          <p:txBody>
            <a:bodyPr wrap="none" lIns="0" tIns="0" rIns="0" bIns="0" rtlCol="0" anchor="t"/>
            <a:lstStyle/>
            <a:p>
              <a:pPr marL="342900" indent="-342900" algn="r" rtl="1">
                <a:lnSpc>
                  <a:spcPts val="1450"/>
                </a:lnSpc>
                <a:buSzPct val="100000"/>
                <a:buFont typeface="+mj-lt"/>
                <a:buAutoNum type="arabicPeriod"/>
              </a:pPr>
              <a:r>
                <a:rPr lang="en-US" sz="900" b="1" dirty="0">
                  <a:solidFill>
                    <a:schemeClr val="bg2"/>
                  </a:solidFill>
                  <a:latin typeface="Inter" pitchFamily="34" charset="0"/>
                  <a:ea typeface="Inter" pitchFamily="34" charset="-122"/>
                  <a:cs typeface="B Nazanin" panose="00000400000000000000" pitchFamily="2" charset="-78"/>
                </a:rPr>
                <a:t>حق وتو:</a:t>
              </a:r>
              <a:r>
                <a:rPr lang="en-US" sz="900" dirty="0">
                  <a:solidFill>
                    <a:schemeClr val="bg2"/>
                  </a:solidFill>
                  <a:latin typeface="Inter" pitchFamily="34" charset="0"/>
                  <a:ea typeface="Inter" pitchFamily="34" charset="-122"/>
                  <a:cs typeface="B Nazanin" panose="00000400000000000000" pitchFamily="2" charset="-78"/>
                </a:rPr>
                <a:t> ابرقدرت‌ها با استفاده از حق وتو در شورای امنیت، از تصویب قطعنامه‌های قاطع علیه عراق جلوگیری می‌کردند.</a:t>
              </a:r>
              <a:endParaRPr lang="en-US" sz="900" dirty="0">
                <a:solidFill>
                  <a:schemeClr val="bg2"/>
                </a:solidFill>
                <a:cs typeface="B Nazanin" panose="00000400000000000000" pitchFamily="2" charset="-78"/>
              </a:endParaRPr>
            </a:p>
          </p:txBody>
        </p:sp>
        <p:sp>
          <p:nvSpPr>
            <p:cNvPr id="73" name="Text 35">
              <a:extLst>
                <a:ext uri="{FF2B5EF4-FFF2-40B4-BE49-F238E27FC236}">
                  <a16:creationId xmlns:a16="http://schemas.microsoft.com/office/drawing/2014/main" id="{9AE7E351-0D01-1A60-646C-78545E4137B2}"/>
                </a:ext>
              </a:extLst>
            </p:cNvPr>
            <p:cNvSpPr/>
            <p:nvPr/>
          </p:nvSpPr>
          <p:spPr>
            <a:xfrm>
              <a:off x="6004083" y="6117593"/>
              <a:ext cx="3871170" cy="195942"/>
            </a:xfrm>
            <a:prstGeom prst="rect">
              <a:avLst/>
            </a:prstGeom>
            <a:noFill/>
            <a:ln/>
          </p:spPr>
          <p:txBody>
            <a:bodyPr wrap="none" lIns="0" tIns="0" rIns="0" bIns="0" rtlCol="0" anchor="t"/>
            <a:lstStyle/>
            <a:p>
              <a:pPr marL="342900" indent="-342900" algn="r" rtl="1">
                <a:lnSpc>
                  <a:spcPts val="1450"/>
                </a:lnSpc>
                <a:buSzPct val="100000"/>
                <a:buFont typeface="+mj-lt"/>
                <a:buAutoNum type="arabicPeriod" startAt="2"/>
              </a:pPr>
              <a:r>
                <a:rPr lang="en-US" sz="900" b="1" dirty="0">
                  <a:solidFill>
                    <a:schemeClr val="bg2"/>
                  </a:solidFill>
                  <a:latin typeface="Inter" pitchFamily="34" charset="0"/>
                  <a:ea typeface="Inter" pitchFamily="34" charset="-122"/>
                  <a:cs typeface="B Nazanin" panose="00000400000000000000" pitchFamily="2" charset="-78"/>
                </a:rPr>
                <a:t>دوگانگی رویکرد:</a:t>
              </a:r>
              <a:r>
                <a:rPr lang="en-US" sz="900" dirty="0">
                  <a:solidFill>
                    <a:schemeClr val="bg2"/>
                  </a:solidFill>
                  <a:latin typeface="Inter" pitchFamily="34" charset="0"/>
                  <a:ea typeface="Inter" pitchFamily="34" charset="-122"/>
                  <a:cs typeface="B Nazanin" panose="00000400000000000000" pitchFamily="2" charset="-78"/>
                </a:rPr>
                <a:t> سازمان ملل در محکومیت استفاده از سلاح‌های شیمیایی توسط عراق کوتاهی کرد و هیچ تحریم جدی اعمال نکرد.</a:t>
              </a:r>
              <a:endParaRPr lang="en-US" sz="900" dirty="0">
                <a:solidFill>
                  <a:schemeClr val="bg2"/>
                </a:solidFill>
                <a:cs typeface="B Nazanin" panose="00000400000000000000" pitchFamily="2" charset="-78"/>
              </a:endParaRPr>
            </a:p>
          </p:txBody>
        </p:sp>
        <p:sp>
          <p:nvSpPr>
            <p:cNvPr id="74" name="Text 36">
              <a:extLst>
                <a:ext uri="{FF2B5EF4-FFF2-40B4-BE49-F238E27FC236}">
                  <a16:creationId xmlns:a16="http://schemas.microsoft.com/office/drawing/2014/main" id="{2FA80E73-D492-C014-9049-2F70C0583C51}"/>
                </a:ext>
              </a:extLst>
            </p:cNvPr>
            <p:cNvSpPr/>
            <p:nvPr/>
          </p:nvSpPr>
          <p:spPr>
            <a:xfrm>
              <a:off x="6066691" y="6333929"/>
              <a:ext cx="3871170" cy="195942"/>
            </a:xfrm>
            <a:prstGeom prst="rect">
              <a:avLst/>
            </a:prstGeom>
            <a:noFill/>
            <a:ln/>
          </p:spPr>
          <p:txBody>
            <a:bodyPr wrap="none" lIns="0" tIns="0" rIns="0" bIns="0" rtlCol="0" anchor="t"/>
            <a:lstStyle/>
            <a:p>
              <a:pPr marL="342900" indent="-342900" algn="r" rtl="1">
                <a:lnSpc>
                  <a:spcPts val="1450"/>
                </a:lnSpc>
                <a:buSzPct val="100000"/>
                <a:buFont typeface="+mj-lt"/>
                <a:buAutoNum type="arabicPeriod" startAt="3"/>
              </a:pPr>
              <a:r>
                <a:rPr lang="en-US" sz="900" b="1" dirty="0">
                  <a:solidFill>
                    <a:schemeClr val="bg2"/>
                  </a:solidFill>
                  <a:latin typeface="Inter" pitchFamily="34" charset="0"/>
                  <a:ea typeface="Inter" pitchFamily="34" charset="-122"/>
                  <a:cs typeface="B Nazanin" panose="00000400000000000000" pitchFamily="2" charset="-78"/>
                </a:rPr>
                <a:t>عدم تعیین متجاوز:</a:t>
              </a:r>
              <a:r>
                <a:rPr lang="en-US" sz="900" dirty="0">
                  <a:solidFill>
                    <a:schemeClr val="bg2"/>
                  </a:solidFill>
                  <a:latin typeface="Inter" pitchFamily="34" charset="0"/>
                  <a:ea typeface="Inter" pitchFamily="34" charset="-122"/>
                  <a:cs typeface="B Nazanin" panose="00000400000000000000" pitchFamily="2" charset="-78"/>
                </a:rPr>
                <a:t> سازمان ملل برای سال‌ها از تعیین عراق به عنوان متجاوز خودداری کرد که این امر باعث تشویق صدام به ادامه جنگ شد.</a:t>
              </a:r>
              <a:endParaRPr lang="en-US" sz="900" dirty="0">
                <a:solidFill>
                  <a:schemeClr val="bg2"/>
                </a:solidFill>
                <a:cs typeface="B Nazanin" panose="00000400000000000000" pitchFamily="2" charset="-78"/>
              </a:endParaRPr>
            </a:p>
          </p:txBody>
        </p:sp>
        <p:sp>
          <p:nvSpPr>
            <p:cNvPr id="80" name="Shape 42">
              <a:extLst>
                <a:ext uri="{FF2B5EF4-FFF2-40B4-BE49-F238E27FC236}">
                  <a16:creationId xmlns:a16="http://schemas.microsoft.com/office/drawing/2014/main" id="{C72E6A82-7863-1D50-0CBF-159316ECA7C2}"/>
                </a:ext>
              </a:extLst>
            </p:cNvPr>
            <p:cNvSpPr/>
            <p:nvPr/>
          </p:nvSpPr>
          <p:spPr>
            <a:xfrm>
              <a:off x="14149030" y="7086481"/>
              <a:ext cx="15240" cy="448628"/>
            </a:xfrm>
            <a:prstGeom prst="rect">
              <a:avLst/>
            </a:prstGeom>
            <a:solidFill>
              <a:srgbClr val="4950BC"/>
            </a:solidFill>
            <a:ln/>
          </p:spPr>
        </p:sp>
      </p:grpSp>
      <p:pic>
        <p:nvPicPr>
          <p:cNvPr id="81" name="Graphic 80" descr="Scales of justice with solid fill">
            <a:extLst>
              <a:ext uri="{FF2B5EF4-FFF2-40B4-BE49-F238E27FC236}">
                <a16:creationId xmlns:a16="http://schemas.microsoft.com/office/drawing/2014/main" id="{5CA7E1FD-FB1E-9B14-80C8-5C9FB35A816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363761" y="1399280"/>
            <a:ext cx="914400" cy="914400"/>
          </a:xfrm>
          <a:prstGeom prst="rect">
            <a:avLst/>
          </a:prstGeom>
        </p:spPr>
      </p:pic>
    </p:spTree>
    <p:extLst>
      <p:ext uri="{BB962C8B-B14F-4D97-AF65-F5344CB8AC3E}">
        <p14:creationId xmlns:p14="http://schemas.microsoft.com/office/powerpoint/2010/main" val="458128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9000" b="-109000"/>
          </a:stretch>
        </a:blipFill>
        <a:effectLst/>
      </p:bgPr>
    </p:bg>
    <p:spTree>
      <p:nvGrpSpPr>
        <p:cNvPr id="1" name="">
          <a:extLst>
            <a:ext uri="{FF2B5EF4-FFF2-40B4-BE49-F238E27FC236}">
              <a16:creationId xmlns:a16="http://schemas.microsoft.com/office/drawing/2014/main" id="{53F083CD-7B7B-C18D-A255-05EBB91EA789}"/>
            </a:ext>
          </a:extLst>
        </p:cNvPr>
        <p:cNvGrpSpPr/>
        <p:nvPr/>
      </p:nvGrpSpPr>
      <p:grpSpPr>
        <a:xfrm>
          <a:off x="0" y="0"/>
          <a:ext cx="0" cy="0"/>
          <a:chOff x="0" y="0"/>
          <a:chExt cx="0" cy="0"/>
        </a:xfrm>
      </p:grpSpPr>
      <p:grpSp>
        <p:nvGrpSpPr>
          <p:cNvPr id="44" name="Group 43">
            <a:extLst>
              <a:ext uri="{FF2B5EF4-FFF2-40B4-BE49-F238E27FC236}">
                <a16:creationId xmlns:a16="http://schemas.microsoft.com/office/drawing/2014/main" id="{D2720B8B-B45C-4B13-EE76-B1EF93D84550}"/>
              </a:ext>
            </a:extLst>
          </p:cNvPr>
          <p:cNvGrpSpPr/>
          <p:nvPr/>
        </p:nvGrpSpPr>
        <p:grpSpPr>
          <a:xfrm>
            <a:off x="-236626" y="-8036254"/>
            <a:ext cx="4590873" cy="15855333"/>
            <a:chOff x="-693173" y="-4054166"/>
            <a:chExt cx="4590873" cy="15855333"/>
          </a:xfrm>
        </p:grpSpPr>
        <p:sp>
          <p:nvSpPr>
            <p:cNvPr id="16" name="Hexagon 15">
              <a:extLst>
                <a:ext uri="{FF2B5EF4-FFF2-40B4-BE49-F238E27FC236}">
                  <a16:creationId xmlns:a16="http://schemas.microsoft.com/office/drawing/2014/main" id="{4B0C0F4C-BDFE-36F9-DBBC-BCB9D5F93467}"/>
                </a:ext>
              </a:extLst>
            </p:cNvPr>
            <p:cNvSpPr/>
            <p:nvPr/>
          </p:nvSpPr>
          <p:spPr>
            <a:xfrm>
              <a:off x="2620293" y="493579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grpSp>
          <p:nvGrpSpPr>
            <p:cNvPr id="43" name="Group 42">
              <a:extLst>
                <a:ext uri="{FF2B5EF4-FFF2-40B4-BE49-F238E27FC236}">
                  <a16:creationId xmlns:a16="http://schemas.microsoft.com/office/drawing/2014/main" id="{BCC5E22E-47D1-E4B5-EB51-02B6A4056A83}"/>
                </a:ext>
              </a:extLst>
            </p:cNvPr>
            <p:cNvGrpSpPr/>
            <p:nvPr/>
          </p:nvGrpSpPr>
          <p:grpSpPr>
            <a:xfrm>
              <a:off x="-693173" y="-3503559"/>
              <a:ext cx="4300821" cy="15304726"/>
              <a:chOff x="-693173" y="-3503559"/>
              <a:chExt cx="4300821" cy="15304726"/>
            </a:xfrm>
          </p:grpSpPr>
          <p:sp>
            <p:nvSpPr>
              <p:cNvPr id="4" name="Hexagon 3">
                <a:extLst>
                  <a:ext uri="{FF2B5EF4-FFF2-40B4-BE49-F238E27FC236}">
                    <a16:creationId xmlns:a16="http://schemas.microsoft.com/office/drawing/2014/main" id="{CDD786E8-2C14-4213-70C2-B5610BB59172}"/>
                  </a:ext>
                </a:extLst>
              </p:cNvPr>
              <p:cNvSpPr/>
              <p:nvPr/>
            </p:nvSpPr>
            <p:spPr>
              <a:xfrm>
                <a:off x="314632" y="218276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6" name="Hexagon 5">
                <a:extLst>
                  <a:ext uri="{FF2B5EF4-FFF2-40B4-BE49-F238E27FC236}">
                    <a16:creationId xmlns:a16="http://schemas.microsoft.com/office/drawing/2014/main" id="{A3DAEB8B-0522-4314-D624-33051210D053}"/>
                  </a:ext>
                </a:extLst>
              </p:cNvPr>
              <p:cNvSpPr/>
              <p:nvPr/>
            </p:nvSpPr>
            <p:spPr>
              <a:xfrm>
                <a:off x="1322438" y="273336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7" name="Hexagon 6">
                <a:extLst>
                  <a:ext uri="{FF2B5EF4-FFF2-40B4-BE49-F238E27FC236}">
                    <a16:creationId xmlns:a16="http://schemas.microsoft.com/office/drawing/2014/main" id="{F933A947-96E3-F594-7876-A7D3C1AC83A7}"/>
                  </a:ext>
                </a:extLst>
              </p:cNvPr>
              <p:cNvSpPr/>
              <p:nvPr/>
            </p:nvSpPr>
            <p:spPr>
              <a:xfrm>
                <a:off x="604684" y="3834580"/>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8" name="Hexagon 7">
                <a:extLst>
                  <a:ext uri="{FF2B5EF4-FFF2-40B4-BE49-F238E27FC236}">
                    <a16:creationId xmlns:a16="http://schemas.microsoft.com/office/drawing/2014/main" id="{7FC55A4C-5018-0030-720A-67B7A770AE83}"/>
                  </a:ext>
                </a:extLst>
              </p:cNvPr>
              <p:cNvSpPr/>
              <p:nvPr/>
            </p:nvSpPr>
            <p:spPr>
              <a:xfrm>
                <a:off x="1342886" y="1608240"/>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9" name="Hexagon 8">
                <a:extLst>
                  <a:ext uri="{FF2B5EF4-FFF2-40B4-BE49-F238E27FC236}">
                    <a16:creationId xmlns:a16="http://schemas.microsoft.com/office/drawing/2014/main" id="{CD8AD246-3220-3B0E-0B14-12CFD2F92B07}"/>
                  </a:ext>
                </a:extLst>
              </p:cNvPr>
              <p:cNvSpPr/>
              <p:nvPr/>
            </p:nvSpPr>
            <p:spPr>
              <a:xfrm>
                <a:off x="1366917" y="506768"/>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10" name="Hexagon 9">
                <a:extLst>
                  <a:ext uri="{FF2B5EF4-FFF2-40B4-BE49-F238E27FC236}">
                    <a16:creationId xmlns:a16="http://schemas.microsoft.com/office/drawing/2014/main" id="{6DCCD9DC-ECDF-0CFD-6C2B-07E6F635FD7D}"/>
                  </a:ext>
                </a:extLst>
              </p:cNvPr>
              <p:cNvSpPr/>
              <p:nvPr/>
            </p:nvSpPr>
            <p:spPr>
              <a:xfrm>
                <a:off x="2330241" y="10815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11" name="Hexagon 10">
                <a:extLst>
                  <a:ext uri="{FF2B5EF4-FFF2-40B4-BE49-F238E27FC236}">
                    <a16:creationId xmlns:a16="http://schemas.microsoft.com/office/drawing/2014/main" id="{0475CF5A-12F8-0632-3D8B-65629D082249}"/>
                  </a:ext>
                </a:extLst>
              </p:cNvPr>
              <p:cNvSpPr/>
              <p:nvPr/>
            </p:nvSpPr>
            <p:spPr>
              <a:xfrm>
                <a:off x="604684" y="60370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12" name="Hexagon 11">
                <a:extLst>
                  <a:ext uri="{FF2B5EF4-FFF2-40B4-BE49-F238E27FC236}">
                    <a16:creationId xmlns:a16="http://schemas.microsoft.com/office/drawing/2014/main" id="{0562FE22-8E08-73CB-F054-18F1E6F6CED1}"/>
                  </a:ext>
                </a:extLst>
              </p:cNvPr>
              <p:cNvSpPr/>
              <p:nvPr/>
            </p:nvSpPr>
            <p:spPr>
              <a:xfrm>
                <a:off x="1612490" y="65876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13" name="Hexagon 12">
                <a:extLst>
                  <a:ext uri="{FF2B5EF4-FFF2-40B4-BE49-F238E27FC236}">
                    <a16:creationId xmlns:a16="http://schemas.microsoft.com/office/drawing/2014/main" id="{2C499CEB-26C0-D088-7442-63D2057D8D9B}"/>
                  </a:ext>
                </a:extLst>
              </p:cNvPr>
              <p:cNvSpPr/>
              <p:nvPr/>
            </p:nvSpPr>
            <p:spPr>
              <a:xfrm>
                <a:off x="894736" y="768882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14" name="Hexagon 13">
                <a:extLst>
                  <a:ext uri="{FF2B5EF4-FFF2-40B4-BE49-F238E27FC236}">
                    <a16:creationId xmlns:a16="http://schemas.microsoft.com/office/drawing/2014/main" id="{E3C35D87-29BC-0CAB-F33E-687D99B65CB2}"/>
                  </a:ext>
                </a:extLst>
              </p:cNvPr>
              <p:cNvSpPr/>
              <p:nvPr/>
            </p:nvSpPr>
            <p:spPr>
              <a:xfrm>
                <a:off x="1612489" y="54863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15" name="Hexagon 14">
                <a:extLst>
                  <a:ext uri="{FF2B5EF4-FFF2-40B4-BE49-F238E27FC236}">
                    <a16:creationId xmlns:a16="http://schemas.microsoft.com/office/drawing/2014/main" id="{36DF0DF4-F7DA-DF77-83DC-89154CE7C0A6}"/>
                  </a:ext>
                </a:extLst>
              </p:cNvPr>
              <p:cNvSpPr/>
              <p:nvPr/>
            </p:nvSpPr>
            <p:spPr>
              <a:xfrm>
                <a:off x="1612488" y="438518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29" name="Hexagon 28">
                <a:extLst>
                  <a:ext uri="{FF2B5EF4-FFF2-40B4-BE49-F238E27FC236}">
                    <a16:creationId xmlns:a16="http://schemas.microsoft.com/office/drawing/2014/main" id="{9D61FB45-800B-BC74-351E-7D1D908DE776}"/>
                  </a:ext>
                </a:extLst>
              </p:cNvPr>
              <p:cNvSpPr/>
              <p:nvPr/>
            </p:nvSpPr>
            <p:spPr>
              <a:xfrm>
                <a:off x="-693173" y="45310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0" name="Hexagon 29">
                <a:extLst>
                  <a:ext uri="{FF2B5EF4-FFF2-40B4-BE49-F238E27FC236}">
                    <a16:creationId xmlns:a16="http://schemas.microsoft.com/office/drawing/2014/main" id="{6F18113A-69E1-438B-F116-95C9C69C8996}"/>
                  </a:ext>
                </a:extLst>
              </p:cNvPr>
              <p:cNvSpPr/>
              <p:nvPr/>
            </p:nvSpPr>
            <p:spPr>
              <a:xfrm>
                <a:off x="314632" y="-975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1" name="Hexagon 30">
                <a:extLst>
                  <a:ext uri="{FF2B5EF4-FFF2-40B4-BE49-F238E27FC236}">
                    <a16:creationId xmlns:a16="http://schemas.microsoft.com/office/drawing/2014/main" id="{C939977C-1066-CD68-35C9-71AA94A873BC}"/>
                  </a:ext>
                </a:extLst>
              </p:cNvPr>
              <p:cNvSpPr/>
              <p:nvPr/>
            </p:nvSpPr>
            <p:spPr>
              <a:xfrm>
                <a:off x="314631" y="-119871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2" name="Hexagon 31">
                <a:extLst>
                  <a:ext uri="{FF2B5EF4-FFF2-40B4-BE49-F238E27FC236}">
                    <a16:creationId xmlns:a16="http://schemas.microsoft.com/office/drawing/2014/main" id="{AA75E03F-109B-6BD0-CA1D-6A4F41AD3B1F}"/>
                  </a:ext>
                </a:extLst>
              </p:cNvPr>
              <p:cNvSpPr/>
              <p:nvPr/>
            </p:nvSpPr>
            <p:spPr>
              <a:xfrm>
                <a:off x="1322436" y="-648113"/>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33" name="Hexagon 32">
                <a:extLst>
                  <a:ext uri="{FF2B5EF4-FFF2-40B4-BE49-F238E27FC236}">
                    <a16:creationId xmlns:a16="http://schemas.microsoft.com/office/drawing/2014/main" id="{50D3B4F4-A653-C5CC-913C-C1D40769E343}"/>
                  </a:ext>
                </a:extLst>
              </p:cNvPr>
              <p:cNvSpPr/>
              <p:nvPr/>
            </p:nvSpPr>
            <p:spPr>
              <a:xfrm>
                <a:off x="1981590" y="1069995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4" name="Hexagon 33">
                <a:extLst>
                  <a:ext uri="{FF2B5EF4-FFF2-40B4-BE49-F238E27FC236}">
                    <a16:creationId xmlns:a16="http://schemas.microsoft.com/office/drawing/2014/main" id="{B957733A-A912-9981-7CE5-94B4DC2EA2E2}"/>
                  </a:ext>
                </a:extLst>
              </p:cNvPr>
              <p:cNvSpPr/>
              <p:nvPr/>
            </p:nvSpPr>
            <p:spPr>
              <a:xfrm>
                <a:off x="1981589" y="955039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5" name="Hexagon 34">
                <a:extLst>
                  <a:ext uri="{FF2B5EF4-FFF2-40B4-BE49-F238E27FC236}">
                    <a16:creationId xmlns:a16="http://schemas.microsoft.com/office/drawing/2014/main" id="{0B05629D-A17F-1973-373B-7DE88321F364}"/>
                  </a:ext>
                </a:extLst>
              </p:cNvPr>
              <p:cNvSpPr/>
              <p:nvPr/>
            </p:nvSpPr>
            <p:spPr>
              <a:xfrm>
                <a:off x="-252788" y="95610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6" name="Hexagon 35">
                <a:extLst>
                  <a:ext uri="{FF2B5EF4-FFF2-40B4-BE49-F238E27FC236}">
                    <a16:creationId xmlns:a16="http://schemas.microsoft.com/office/drawing/2014/main" id="{DF8458B4-C2B6-6213-96EA-1E24F77B08B1}"/>
                  </a:ext>
                </a:extLst>
              </p:cNvPr>
              <p:cNvSpPr/>
              <p:nvPr/>
            </p:nvSpPr>
            <p:spPr>
              <a:xfrm>
                <a:off x="894735" y="890515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7" name="Hexagon 36">
                <a:extLst>
                  <a:ext uri="{FF2B5EF4-FFF2-40B4-BE49-F238E27FC236}">
                    <a16:creationId xmlns:a16="http://schemas.microsoft.com/office/drawing/2014/main" id="{919567A5-1260-DBA9-F871-B2851A55AEC9}"/>
                  </a:ext>
                </a:extLst>
              </p:cNvPr>
              <p:cNvSpPr/>
              <p:nvPr/>
            </p:nvSpPr>
            <p:spPr>
              <a:xfrm>
                <a:off x="1981589" y="8354548"/>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8" name="Hexagon 37">
                <a:extLst>
                  <a:ext uri="{FF2B5EF4-FFF2-40B4-BE49-F238E27FC236}">
                    <a16:creationId xmlns:a16="http://schemas.microsoft.com/office/drawing/2014/main" id="{E6FD2452-951B-F523-0D8B-F04C00C01134}"/>
                  </a:ext>
                </a:extLst>
              </p:cNvPr>
              <p:cNvSpPr/>
              <p:nvPr/>
            </p:nvSpPr>
            <p:spPr>
              <a:xfrm>
                <a:off x="1342886" y="-17738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39" name="Hexagon 38">
                <a:extLst>
                  <a:ext uri="{FF2B5EF4-FFF2-40B4-BE49-F238E27FC236}">
                    <a16:creationId xmlns:a16="http://schemas.microsoft.com/office/drawing/2014/main" id="{4558D3D4-0E51-8E96-BBBB-06A84A16AF06}"/>
                  </a:ext>
                </a:extLst>
              </p:cNvPr>
              <p:cNvSpPr/>
              <p:nvPr/>
            </p:nvSpPr>
            <p:spPr>
              <a:xfrm>
                <a:off x="1342886" y="-28751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40" name="Hexagon 39">
                <a:extLst>
                  <a:ext uri="{FF2B5EF4-FFF2-40B4-BE49-F238E27FC236}">
                    <a16:creationId xmlns:a16="http://schemas.microsoft.com/office/drawing/2014/main" id="{FB7895EC-CF3A-66DF-38BA-1269B4F7177E}"/>
                  </a:ext>
                </a:extLst>
              </p:cNvPr>
              <p:cNvSpPr/>
              <p:nvPr/>
            </p:nvSpPr>
            <p:spPr>
              <a:xfrm>
                <a:off x="-672723" y="-295295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41" name="Hexagon 40">
                <a:extLst>
                  <a:ext uri="{FF2B5EF4-FFF2-40B4-BE49-F238E27FC236}">
                    <a16:creationId xmlns:a16="http://schemas.microsoft.com/office/drawing/2014/main" id="{414B2314-37D6-A263-9DFA-63007887C26D}"/>
                  </a:ext>
                </a:extLst>
              </p:cNvPr>
              <p:cNvSpPr/>
              <p:nvPr/>
            </p:nvSpPr>
            <p:spPr>
              <a:xfrm>
                <a:off x="335082" y="-350355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grpSp>
        <p:sp>
          <p:nvSpPr>
            <p:cNvPr id="42" name="Hexagon 41">
              <a:extLst>
                <a:ext uri="{FF2B5EF4-FFF2-40B4-BE49-F238E27FC236}">
                  <a16:creationId xmlns:a16="http://schemas.microsoft.com/office/drawing/2014/main" id="{E5846284-5925-6559-D117-7E1CC8A7FA30}"/>
                </a:ext>
              </a:extLst>
            </p:cNvPr>
            <p:cNvSpPr/>
            <p:nvPr/>
          </p:nvSpPr>
          <p:spPr>
            <a:xfrm>
              <a:off x="1342886" y="-405416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grpSp>
      <p:pic>
        <p:nvPicPr>
          <p:cNvPr id="46" name="Graphic 45" descr="Employee badge with solid fill">
            <a:extLst>
              <a:ext uri="{FF2B5EF4-FFF2-40B4-BE49-F238E27FC236}">
                <a16:creationId xmlns:a16="http://schemas.microsoft.com/office/drawing/2014/main" id="{C861A785-A21F-FDA9-59E4-91B563BC95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07598" y="-2301715"/>
            <a:ext cx="763027" cy="763027"/>
          </a:xfrm>
          <a:prstGeom prst="rect">
            <a:avLst/>
          </a:prstGeom>
        </p:spPr>
      </p:pic>
      <p:pic>
        <p:nvPicPr>
          <p:cNvPr id="52" name="Graphic 51" descr="Bullseye with solid fill">
            <a:extLst>
              <a:ext uri="{FF2B5EF4-FFF2-40B4-BE49-F238E27FC236}">
                <a16:creationId xmlns:a16="http://schemas.microsoft.com/office/drawing/2014/main" id="{D6E4CE51-ED29-A1FE-94D1-80BA8085CF9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06868" y="-2388883"/>
            <a:ext cx="914400" cy="914400"/>
          </a:xfrm>
          <a:prstGeom prst="rect">
            <a:avLst/>
          </a:prstGeom>
        </p:spPr>
      </p:pic>
      <p:pic>
        <p:nvPicPr>
          <p:cNvPr id="69" name="Graphic 68" descr="Earth globe: Americas with solid fill">
            <a:extLst>
              <a:ext uri="{FF2B5EF4-FFF2-40B4-BE49-F238E27FC236}">
                <a16:creationId xmlns:a16="http://schemas.microsoft.com/office/drawing/2014/main" id="{22716D9A-0A71-62D8-D68E-264339E97BD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325726" y="-1889976"/>
            <a:ext cx="914400" cy="914400"/>
          </a:xfrm>
          <a:prstGeom prst="rect">
            <a:avLst/>
          </a:prstGeom>
        </p:spPr>
      </p:pic>
      <p:pic>
        <p:nvPicPr>
          <p:cNvPr id="135" name="Graphic 134" descr="Dollar with solid fill">
            <a:extLst>
              <a:ext uri="{FF2B5EF4-FFF2-40B4-BE49-F238E27FC236}">
                <a16:creationId xmlns:a16="http://schemas.microsoft.com/office/drawing/2014/main" id="{77C6F989-08AB-1365-8E62-31A1FCFCC1A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30253" y="-1291584"/>
            <a:ext cx="914400" cy="914400"/>
          </a:xfrm>
          <a:prstGeom prst="rect">
            <a:avLst/>
          </a:prstGeom>
        </p:spPr>
      </p:pic>
      <p:pic>
        <p:nvPicPr>
          <p:cNvPr id="51" name="Graphic 50" descr="Atom with solid fill">
            <a:extLst>
              <a:ext uri="{FF2B5EF4-FFF2-40B4-BE49-F238E27FC236}">
                <a16:creationId xmlns:a16="http://schemas.microsoft.com/office/drawing/2014/main" id="{1A9F5DDA-60BD-5FAB-CAA3-7CF3DE4AFE7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39847" y="-1209214"/>
            <a:ext cx="914400" cy="914400"/>
          </a:xfrm>
          <a:prstGeom prst="rect">
            <a:avLst/>
          </a:prstGeom>
        </p:spPr>
      </p:pic>
      <p:pic>
        <p:nvPicPr>
          <p:cNvPr id="64" name="Graphic 63" descr="Internet with solid fill">
            <a:extLst>
              <a:ext uri="{FF2B5EF4-FFF2-40B4-BE49-F238E27FC236}">
                <a16:creationId xmlns:a16="http://schemas.microsoft.com/office/drawing/2014/main" id="{28263DD6-229E-08EC-A3D9-AC3F72B0919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977397" y="-769706"/>
            <a:ext cx="914400" cy="914400"/>
          </a:xfrm>
          <a:prstGeom prst="rect">
            <a:avLst/>
          </a:prstGeom>
        </p:spPr>
      </p:pic>
      <p:sp>
        <p:nvSpPr>
          <p:cNvPr id="92" name="Shape 37">
            <a:extLst>
              <a:ext uri="{FF2B5EF4-FFF2-40B4-BE49-F238E27FC236}">
                <a16:creationId xmlns:a16="http://schemas.microsoft.com/office/drawing/2014/main" id="{1D0FE270-D728-F113-D0F9-420242EA1A47}"/>
              </a:ext>
            </a:extLst>
          </p:cNvPr>
          <p:cNvSpPr/>
          <p:nvPr/>
        </p:nvSpPr>
        <p:spPr>
          <a:xfrm>
            <a:off x="396835" y="11510963"/>
            <a:ext cx="13836729" cy="421362"/>
          </a:xfrm>
          <a:prstGeom prst="roundRect">
            <a:avLst>
              <a:gd name="adj" fmla="val 9892"/>
            </a:avLst>
          </a:prstGeom>
          <a:solidFill>
            <a:srgbClr val="C7C9EA"/>
          </a:solidFill>
          <a:ln/>
        </p:spPr>
      </p:sp>
      <p:pic>
        <p:nvPicPr>
          <p:cNvPr id="93" name="Image 5" descr="preencoded.png">
            <a:extLst>
              <a:ext uri="{FF2B5EF4-FFF2-40B4-BE49-F238E27FC236}">
                <a16:creationId xmlns:a16="http://schemas.microsoft.com/office/drawing/2014/main" id="{E7CE1BC5-73E0-208B-1A4B-698A6B3F4917}"/>
              </a:ext>
            </a:extLst>
          </p:cNvPr>
          <p:cNvPicPr>
            <a:picLocks noChangeAspect="1"/>
          </p:cNvPicPr>
          <p:nvPr/>
        </p:nvPicPr>
        <p:blipFill>
          <a:blip r:embed="rId15"/>
          <a:stretch>
            <a:fillRect/>
          </a:stretch>
        </p:blipFill>
        <p:spPr>
          <a:xfrm>
            <a:off x="496014" y="11662410"/>
            <a:ext cx="123944" cy="99179"/>
          </a:xfrm>
          <a:prstGeom prst="rect">
            <a:avLst/>
          </a:prstGeom>
        </p:spPr>
      </p:pic>
      <p:sp>
        <p:nvSpPr>
          <p:cNvPr id="94" name="Text 38">
            <a:extLst>
              <a:ext uri="{FF2B5EF4-FFF2-40B4-BE49-F238E27FC236}">
                <a16:creationId xmlns:a16="http://schemas.microsoft.com/office/drawing/2014/main" id="{623DB4B2-B394-B126-4EF8-825F8609725C}"/>
              </a:ext>
            </a:extLst>
          </p:cNvPr>
          <p:cNvSpPr/>
          <p:nvPr/>
        </p:nvSpPr>
        <p:spPr>
          <a:xfrm>
            <a:off x="719137" y="11634907"/>
            <a:ext cx="13415248" cy="158591"/>
          </a:xfrm>
          <a:prstGeom prst="rect">
            <a:avLst/>
          </a:prstGeom>
          <a:noFill/>
          <a:ln/>
        </p:spPr>
        <p:txBody>
          <a:bodyPr wrap="none" lIns="0" tIns="0" rIns="0" bIns="0" rtlCol="0" anchor="t"/>
          <a:lstStyle/>
          <a:p>
            <a:pPr marL="0" indent="0" algn="r" rtl="1">
              <a:lnSpc>
                <a:spcPts val="1250"/>
              </a:lnSpc>
              <a:buNone/>
            </a:pPr>
            <a:r>
              <a:rPr lang="en-US" sz="1100" b="1" dirty="0">
                <a:solidFill>
                  <a:srgbClr val="000000"/>
                </a:solidFill>
                <a:latin typeface="Inter" pitchFamily="34" charset="0"/>
                <a:ea typeface="Inter" pitchFamily="34" charset="-122"/>
                <a:cs typeface="B Nazanin" panose="00000400000000000000" pitchFamily="2" charset="-78"/>
              </a:rPr>
              <a:t>ابعاد اخلاقی:</a:t>
            </a:r>
            <a:r>
              <a:rPr lang="en-US" sz="1100" dirty="0">
                <a:solidFill>
                  <a:srgbClr val="000000"/>
                </a:solidFill>
                <a:latin typeface="Inter" pitchFamily="34" charset="0"/>
                <a:ea typeface="Inter" pitchFamily="34" charset="-122"/>
                <a:cs typeface="B Nazanin" panose="00000400000000000000" pitchFamily="2" charset="-78"/>
              </a:rPr>
              <a:t> فروش سلاح و فناوری به هر دو طرف جنگ، در حالی که صدها هزار نفر کشته می‌شدند، یکی از تاریک‌ترین فصل‌های اخلاقی سیاست اروپا در قرن بیستم بود. منافع اقتصادی بر ارزش‌های انسانی غلبه کرده بود.</a:t>
            </a:r>
            <a:endParaRPr lang="en-US" sz="1100" dirty="0">
              <a:cs typeface="B Nazanin" panose="00000400000000000000" pitchFamily="2" charset="-78"/>
            </a:endParaRPr>
          </a:p>
        </p:txBody>
      </p:sp>
      <p:pic>
        <p:nvPicPr>
          <p:cNvPr id="81" name="Graphic 80" descr="Scales of justice with solid fill">
            <a:extLst>
              <a:ext uri="{FF2B5EF4-FFF2-40B4-BE49-F238E27FC236}">
                <a16:creationId xmlns:a16="http://schemas.microsoft.com/office/drawing/2014/main" id="{F76CCBEA-973E-5B54-A9E7-FA47FFB8AB3A}"/>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224831" y="465573"/>
            <a:ext cx="914400" cy="914400"/>
          </a:xfrm>
          <a:prstGeom prst="rect">
            <a:avLst/>
          </a:prstGeom>
        </p:spPr>
      </p:pic>
      <p:pic>
        <p:nvPicPr>
          <p:cNvPr id="106" name="Graphic 105" descr="Puzzle pieces with solid fill">
            <a:extLst>
              <a:ext uri="{FF2B5EF4-FFF2-40B4-BE49-F238E27FC236}">
                <a16:creationId xmlns:a16="http://schemas.microsoft.com/office/drawing/2014/main" id="{15DA5F41-BBBF-8ED0-5620-4B910A0F8CFD}"/>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290881" y="1598312"/>
            <a:ext cx="914400" cy="914400"/>
          </a:xfrm>
          <a:prstGeom prst="rect">
            <a:avLst/>
          </a:prstGeom>
        </p:spPr>
      </p:pic>
      <p:grpSp>
        <p:nvGrpSpPr>
          <p:cNvPr id="107" name="Group 106">
            <a:extLst>
              <a:ext uri="{FF2B5EF4-FFF2-40B4-BE49-F238E27FC236}">
                <a16:creationId xmlns:a16="http://schemas.microsoft.com/office/drawing/2014/main" id="{F0EEED8E-E39B-A2D4-3484-11AB0B3F8D68}"/>
              </a:ext>
            </a:extLst>
          </p:cNvPr>
          <p:cNvGrpSpPr/>
          <p:nvPr/>
        </p:nvGrpSpPr>
        <p:grpSpPr>
          <a:xfrm>
            <a:off x="4802395" y="870234"/>
            <a:ext cx="7185845" cy="5270477"/>
            <a:chOff x="511254" y="1066800"/>
            <a:chExt cx="13729931" cy="5270477"/>
          </a:xfrm>
        </p:grpSpPr>
        <p:sp>
          <p:nvSpPr>
            <p:cNvPr id="108" name="Shape 3">
              <a:extLst>
                <a:ext uri="{FF2B5EF4-FFF2-40B4-BE49-F238E27FC236}">
                  <a16:creationId xmlns:a16="http://schemas.microsoft.com/office/drawing/2014/main" id="{3E733C33-5328-A348-180E-842EC51EB158}"/>
                </a:ext>
              </a:extLst>
            </p:cNvPr>
            <p:cNvSpPr/>
            <p:nvPr/>
          </p:nvSpPr>
          <p:spPr>
            <a:xfrm>
              <a:off x="13821489" y="1066800"/>
              <a:ext cx="396835" cy="571500"/>
            </a:xfrm>
            <a:prstGeom prst="roundRect">
              <a:avLst>
                <a:gd name="adj" fmla="val 5895"/>
              </a:avLst>
            </a:prstGeom>
            <a:solidFill>
              <a:srgbClr val="DADBF1"/>
            </a:solidFill>
            <a:ln/>
          </p:spPr>
        </p:sp>
        <p:sp>
          <p:nvSpPr>
            <p:cNvPr id="109" name="Text 4">
              <a:extLst>
                <a:ext uri="{FF2B5EF4-FFF2-40B4-BE49-F238E27FC236}">
                  <a16:creationId xmlns:a16="http://schemas.microsoft.com/office/drawing/2014/main" id="{BD6130C5-8F16-85AA-7758-BB6C946678A9}"/>
                </a:ext>
              </a:extLst>
            </p:cNvPr>
            <p:cNvSpPr/>
            <p:nvPr/>
          </p:nvSpPr>
          <p:spPr>
            <a:xfrm>
              <a:off x="13941743" y="1259562"/>
              <a:ext cx="148828" cy="185976"/>
            </a:xfrm>
            <a:prstGeom prst="rect">
              <a:avLst/>
            </a:prstGeom>
            <a:noFill/>
            <a:ln/>
          </p:spPr>
          <p:txBody>
            <a:bodyPr wrap="none" lIns="0" tIns="0" rIns="0" bIns="0" rtlCol="0" anchor="t"/>
            <a:lstStyle/>
            <a:p>
              <a:pPr marL="0" indent="0" algn="r" rtl="1">
                <a:lnSpc>
                  <a:spcPts val="1150"/>
                </a:lnSpc>
                <a:buNone/>
              </a:pPr>
              <a:r>
                <a:rPr lang="en-US" sz="2000" b="1" dirty="0">
                  <a:solidFill>
                    <a:schemeClr val="bg2"/>
                  </a:solidFill>
                  <a:latin typeface="Inter Bold" pitchFamily="34" charset="0"/>
                  <a:ea typeface="Inter Bold" pitchFamily="34" charset="-122"/>
                  <a:cs typeface="B Nazanin" panose="00000400000000000000" pitchFamily="2" charset="-78"/>
                </a:rPr>
                <a:t>1</a:t>
              </a:r>
              <a:endParaRPr lang="en-US" sz="2000" dirty="0">
                <a:solidFill>
                  <a:schemeClr val="bg2"/>
                </a:solidFill>
                <a:cs typeface="B Nazanin" panose="00000400000000000000" pitchFamily="2" charset="-78"/>
              </a:endParaRPr>
            </a:p>
          </p:txBody>
        </p:sp>
        <p:sp>
          <p:nvSpPr>
            <p:cNvPr id="110" name="Text 5">
              <a:extLst>
                <a:ext uri="{FF2B5EF4-FFF2-40B4-BE49-F238E27FC236}">
                  <a16:creationId xmlns:a16="http://schemas.microsoft.com/office/drawing/2014/main" id="{A53CF61D-E525-E796-4A60-00FBD30D2264}"/>
                </a:ext>
              </a:extLst>
            </p:cNvPr>
            <p:cNvSpPr/>
            <p:nvPr/>
          </p:nvSpPr>
          <p:spPr>
            <a:xfrm>
              <a:off x="11869579" y="1165979"/>
              <a:ext cx="1852732" cy="155019"/>
            </a:xfrm>
            <a:prstGeom prst="rect">
              <a:avLst/>
            </a:prstGeom>
            <a:noFill/>
            <a:ln/>
          </p:spPr>
          <p:txBody>
            <a:bodyPr wrap="none" lIns="0" tIns="0" rIns="0" bIns="0" rtlCol="0" anchor="t"/>
            <a:lstStyle/>
            <a:p>
              <a:pPr marL="0" indent="0" algn="r" rtl="1">
                <a:lnSpc>
                  <a:spcPts val="1200"/>
                </a:lnSpc>
                <a:buNone/>
              </a:pPr>
              <a:r>
                <a:rPr lang="en-US" sz="1400" b="1" dirty="0">
                  <a:solidFill>
                    <a:schemeClr val="bg2"/>
                  </a:solidFill>
                  <a:latin typeface="Inter Bold" pitchFamily="34" charset="0"/>
                  <a:ea typeface="Inter Bold" pitchFamily="34" charset="-122"/>
                  <a:cs typeface="B Nazanin" panose="00000400000000000000" pitchFamily="2" charset="-78"/>
                </a:rPr>
                <a:t>تقویت رژیم صدام و پیامدهای فاجعه‌بار</a:t>
              </a:r>
              <a:endParaRPr lang="en-US" sz="1400" dirty="0">
                <a:solidFill>
                  <a:schemeClr val="bg2"/>
                </a:solidFill>
                <a:cs typeface="B Nazanin" panose="00000400000000000000" pitchFamily="2" charset="-78"/>
              </a:endParaRPr>
            </a:p>
          </p:txBody>
        </p:sp>
        <p:sp>
          <p:nvSpPr>
            <p:cNvPr id="111" name="Text 6">
              <a:extLst>
                <a:ext uri="{FF2B5EF4-FFF2-40B4-BE49-F238E27FC236}">
                  <a16:creationId xmlns:a16="http://schemas.microsoft.com/office/drawing/2014/main" id="{B82DB0DE-C012-8135-115A-73E8C222A164}"/>
                </a:ext>
              </a:extLst>
            </p:cNvPr>
            <p:cNvSpPr/>
            <p:nvPr/>
          </p:nvSpPr>
          <p:spPr>
            <a:xfrm>
              <a:off x="511254" y="1380530"/>
              <a:ext cx="13211056" cy="158591"/>
            </a:xfrm>
            <a:prstGeom prst="rect">
              <a:avLst/>
            </a:prstGeom>
            <a:noFill/>
            <a:ln/>
          </p:spPr>
          <p:txBody>
            <a:bodyPr wrap="none" lIns="0" tIns="0" rIns="0" bIns="0" rtlCol="0" anchor="t"/>
            <a:lstStyle/>
            <a:p>
              <a:pPr marL="0" indent="0" algn="r" rtl="1">
                <a:lnSpc>
                  <a:spcPts val="1250"/>
                </a:lnSpc>
                <a:buNone/>
              </a:pPr>
              <a:r>
                <a:rPr lang="en-US" sz="1100" dirty="0">
                  <a:solidFill>
                    <a:schemeClr val="bg2"/>
                  </a:solidFill>
                  <a:latin typeface="Inter" pitchFamily="34" charset="0"/>
                  <a:ea typeface="Inter" pitchFamily="34" charset="-122"/>
                  <a:cs typeface="B Nazanin" panose="00000400000000000000" pitchFamily="2" charset="-78"/>
                </a:rPr>
                <a:t>حمایت‌های بین‌المللی از صدام حسین باعث تقویت دیکتاتوری او شد و به او اعتماد به نفس کاذب داد. همین امر منجر به حمله عراق به کویت در </a:t>
              </a:r>
              <a:r>
                <a:rPr lang="en-US" sz="1100" dirty="0" err="1">
                  <a:solidFill>
                    <a:schemeClr val="bg2"/>
                  </a:solidFill>
                  <a:latin typeface="Inter" pitchFamily="34" charset="0"/>
                  <a:ea typeface="Inter" pitchFamily="34" charset="-122"/>
                  <a:cs typeface="B Nazanin" panose="00000400000000000000" pitchFamily="2" charset="-78"/>
                </a:rPr>
                <a:t>سال</a:t>
              </a:r>
              <a:r>
                <a:rPr lang="en-US" sz="1100" dirty="0">
                  <a:solidFill>
                    <a:schemeClr val="bg2"/>
                  </a:solidFill>
                  <a:latin typeface="Inter" pitchFamily="34" charset="0"/>
                  <a:ea typeface="Inter" pitchFamily="34" charset="-122"/>
                  <a:cs typeface="B Nazanin" panose="00000400000000000000" pitchFamily="2" charset="-78"/>
                </a:rPr>
                <a:t> </a:t>
              </a:r>
            </a:p>
            <a:p>
              <a:pPr marL="0" indent="0" algn="r" rtl="1">
                <a:lnSpc>
                  <a:spcPts val="1250"/>
                </a:lnSpc>
                <a:buNone/>
              </a:pPr>
              <a:r>
                <a:rPr lang="en-US" sz="1100" dirty="0">
                  <a:solidFill>
                    <a:schemeClr val="bg2"/>
                  </a:solidFill>
                  <a:latin typeface="Inter" pitchFamily="34" charset="0"/>
                  <a:ea typeface="Inter" pitchFamily="34" charset="-122"/>
                  <a:cs typeface="B Nazanin" panose="00000400000000000000" pitchFamily="2" charset="-78"/>
                </a:rPr>
                <a:t>۱۹۹۰ و جنگ خلیج فارس شد که پیامدهای ویرانگری برای منطقه داشت. بی‌مجازات ماندن جنایات صدام در دوران جنگ با ایران، زمینه‌ساز سرکوب‌های بعدی او شد.</a:t>
              </a:r>
              <a:endParaRPr lang="en-US" sz="1100" dirty="0">
                <a:solidFill>
                  <a:schemeClr val="bg2"/>
                </a:solidFill>
                <a:cs typeface="B Nazanin" panose="00000400000000000000" pitchFamily="2" charset="-78"/>
              </a:endParaRPr>
            </a:p>
          </p:txBody>
        </p:sp>
        <p:sp>
          <p:nvSpPr>
            <p:cNvPr id="112" name="Shape 8">
              <a:extLst>
                <a:ext uri="{FF2B5EF4-FFF2-40B4-BE49-F238E27FC236}">
                  <a16:creationId xmlns:a16="http://schemas.microsoft.com/office/drawing/2014/main" id="{744BCFFD-1656-0A7D-3ADF-95C8A2B60ED2}"/>
                </a:ext>
              </a:extLst>
            </p:cNvPr>
            <p:cNvSpPr/>
            <p:nvPr/>
          </p:nvSpPr>
          <p:spPr>
            <a:xfrm>
              <a:off x="13821489" y="1767959"/>
              <a:ext cx="396835" cy="571500"/>
            </a:xfrm>
            <a:prstGeom prst="roundRect">
              <a:avLst>
                <a:gd name="adj" fmla="val 5895"/>
              </a:avLst>
            </a:prstGeom>
            <a:solidFill>
              <a:srgbClr val="DADBF1"/>
            </a:solidFill>
            <a:ln/>
          </p:spPr>
        </p:sp>
        <p:sp>
          <p:nvSpPr>
            <p:cNvPr id="113" name="Text 9">
              <a:extLst>
                <a:ext uri="{FF2B5EF4-FFF2-40B4-BE49-F238E27FC236}">
                  <a16:creationId xmlns:a16="http://schemas.microsoft.com/office/drawing/2014/main" id="{472BB252-B0E9-DEE6-617F-1079C87F176E}"/>
                </a:ext>
              </a:extLst>
            </p:cNvPr>
            <p:cNvSpPr/>
            <p:nvPr/>
          </p:nvSpPr>
          <p:spPr>
            <a:xfrm>
              <a:off x="13941743" y="1960721"/>
              <a:ext cx="148828" cy="185976"/>
            </a:xfrm>
            <a:prstGeom prst="rect">
              <a:avLst/>
            </a:prstGeom>
            <a:noFill/>
            <a:ln/>
          </p:spPr>
          <p:txBody>
            <a:bodyPr wrap="none" lIns="0" tIns="0" rIns="0" bIns="0" rtlCol="0" anchor="t"/>
            <a:lstStyle/>
            <a:p>
              <a:pPr marL="0" indent="0" algn="r" rtl="1">
                <a:lnSpc>
                  <a:spcPts val="1150"/>
                </a:lnSpc>
                <a:buNone/>
              </a:pPr>
              <a:r>
                <a:rPr lang="en-US" sz="2000" b="1" dirty="0">
                  <a:solidFill>
                    <a:schemeClr val="bg2"/>
                  </a:solidFill>
                  <a:latin typeface="Inter Bold" pitchFamily="34" charset="0"/>
                  <a:ea typeface="Inter Bold" pitchFamily="34" charset="-122"/>
                  <a:cs typeface="B Nazanin" panose="00000400000000000000" pitchFamily="2" charset="-78"/>
                </a:rPr>
                <a:t>2</a:t>
              </a:r>
              <a:endParaRPr lang="en-US" sz="2000" dirty="0">
                <a:solidFill>
                  <a:schemeClr val="bg2"/>
                </a:solidFill>
                <a:cs typeface="B Nazanin" panose="00000400000000000000" pitchFamily="2" charset="-78"/>
              </a:endParaRPr>
            </a:p>
          </p:txBody>
        </p:sp>
        <p:sp>
          <p:nvSpPr>
            <p:cNvPr id="114" name="Text 10">
              <a:extLst>
                <a:ext uri="{FF2B5EF4-FFF2-40B4-BE49-F238E27FC236}">
                  <a16:creationId xmlns:a16="http://schemas.microsoft.com/office/drawing/2014/main" id="{941F279B-FD27-62E5-768A-313D2541A721}"/>
                </a:ext>
              </a:extLst>
            </p:cNvPr>
            <p:cNvSpPr/>
            <p:nvPr/>
          </p:nvSpPr>
          <p:spPr>
            <a:xfrm>
              <a:off x="12020788" y="1867138"/>
              <a:ext cx="1701522" cy="155019"/>
            </a:xfrm>
            <a:prstGeom prst="rect">
              <a:avLst/>
            </a:prstGeom>
            <a:noFill/>
            <a:ln/>
          </p:spPr>
          <p:txBody>
            <a:bodyPr wrap="none" lIns="0" tIns="0" rIns="0" bIns="0" rtlCol="0" anchor="t"/>
            <a:lstStyle/>
            <a:p>
              <a:pPr marL="0" indent="0" algn="r" rtl="1">
                <a:lnSpc>
                  <a:spcPts val="1200"/>
                </a:lnSpc>
                <a:buNone/>
              </a:pPr>
              <a:r>
                <a:rPr lang="en-US" sz="1400" b="1" dirty="0">
                  <a:solidFill>
                    <a:schemeClr val="bg2"/>
                  </a:solidFill>
                  <a:latin typeface="Inter Bold" pitchFamily="34" charset="0"/>
                  <a:ea typeface="Inter Bold" pitchFamily="34" charset="-122"/>
                  <a:cs typeface="B Nazanin" panose="00000400000000000000" pitchFamily="2" charset="-78"/>
                </a:rPr>
                <a:t>بی‌اعتمادی عمیق به نظام بین‌المللی</a:t>
              </a:r>
              <a:endParaRPr lang="en-US" sz="1400" dirty="0">
                <a:solidFill>
                  <a:schemeClr val="bg2"/>
                </a:solidFill>
                <a:cs typeface="B Nazanin" panose="00000400000000000000" pitchFamily="2" charset="-78"/>
              </a:endParaRPr>
            </a:p>
          </p:txBody>
        </p:sp>
        <p:sp>
          <p:nvSpPr>
            <p:cNvPr id="115" name="Text 11">
              <a:extLst>
                <a:ext uri="{FF2B5EF4-FFF2-40B4-BE49-F238E27FC236}">
                  <a16:creationId xmlns:a16="http://schemas.microsoft.com/office/drawing/2014/main" id="{5CAA8DE4-4881-57E8-880F-A43D49370E7B}"/>
                </a:ext>
              </a:extLst>
            </p:cNvPr>
            <p:cNvSpPr/>
            <p:nvPr/>
          </p:nvSpPr>
          <p:spPr>
            <a:xfrm>
              <a:off x="511254" y="2081689"/>
              <a:ext cx="13211056" cy="158591"/>
            </a:xfrm>
            <a:prstGeom prst="rect">
              <a:avLst/>
            </a:prstGeom>
            <a:noFill/>
            <a:ln/>
          </p:spPr>
          <p:txBody>
            <a:bodyPr wrap="none" lIns="0" tIns="0" rIns="0" bIns="0" rtlCol="0" anchor="t"/>
            <a:lstStyle/>
            <a:p>
              <a:pPr marL="0" indent="0" algn="r" rtl="1">
                <a:lnSpc>
                  <a:spcPts val="1250"/>
                </a:lnSpc>
                <a:buNone/>
              </a:pPr>
              <a:r>
                <a:rPr lang="en-US" sz="1100" dirty="0">
                  <a:solidFill>
                    <a:schemeClr val="bg2"/>
                  </a:solidFill>
                  <a:latin typeface="Inter" pitchFamily="34" charset="0"/>
                  <a:ea typeface="Inter" pitchFamily="34" charset="-122"/>
                  <a:cs typeface="B Nazanin" panose="00000400000000000000" pitchFamily="2" charset="-78"/>
                </a:rPr>
                <a:t>عملکرد دوگانه و غیرمنصفانه سازمان ملل و ابرقدرت‌ها در قبال جنگ، باعث از بین رفتن اعتماد کشورهای منطقه به نهادهای </a:t>
              </a:r>
              <a:r>
                <a:rPr lang="en-US" sz="1100" dirty="0" err="1">
                  <a:solidFill>
                    <a:schemeClr val="bg2"/>
                  </a:solidFill>
                  <a:latin typeface="Inter" pitchFamily="34" charset="0"/>
                  <a:ea typeface="Inter" pitchFamily="34" charset="-122"/>
                  <a:cs typeface="B Nazanin" panose="00000400000000000000" pitchFamily="2" charset="-78"/>
                </a:rPr>
                <a:t>بین‌المللی</a:t>
              </a:r>
              <a:r>
                <a:rPr lang="en-US" sz="1100" dirty="0">
                  <a:solidFill>
                    <a:schemeClr val="bg2"/>
                  </a:solidFill>
                  <a:latin typeface="Inter" pitchFamily="34" charset="0"/>
                  <a:ea typeface="Inter" pitchFamily="34" charset="-122"/>
                  <a:cs typeface="B Nazanin" panose="00000400000000000000" pitchFamily="2" charset="-78"/>
                </a:rPr>
                <a:t> </a:t>
              </a:r>
              <a:r>
                <a:rPr lang="en-US" sz="1100" dirty="0" err="1">
                  <a:solidFill>
                    <a:schemeClr val="bg2"/>
                  </a:solidFill>
                  <a:latin typeface="Inter" pitchFamily="34" charset="0"/>
                  <a:ea typeface="Inter" pitchFamily="34" charset="-122"/>
                  <a:cs typeface="B Nazanin" panose="00000400000000000000" pitchFamily="2" charset="-78"/>
                </a:rPr>
                <a:t>شد</a:t>
              </a:r>
              <a:endParaRPr lang="en-US" sz="1100" dirty="0">
                <a:solidFill>
                  <a:schemeClr val="bg2"/>
                </a:solidFill>
                <a:latin typeface="Inter" pitchFamily="34" charset="0"/>
                <a:ea typeface="Inter" pitchFamily="34" charset="-122"/>
                <a:cs typeface="B Nazanin" panose="00000400000000000000" pitchFamily="2" charset="-78"/>
              </a:endParaRPr>
            </a:p>
            <a:p>
              <a:pPr marL="0" indent="0" algn="r" rtl="1">
                <a:lnSpc>
                  <a:spcPts val="1250"/>
                </a:lnSpc>
                <a:buNone/>
              </a:pPr>
              <a:r>
                <a:rPr lang="en-US" sz="1100" dirty="0">
                  <a:solidFill>
                    <a:schemeClr val="bg2"/>
                  </a:solidFill>
                  <a:latin typeface="Inter" pitchFamily="34" charset="0"/>
                  <a:ea typeface="Inter" pitchFamily="34" charset="-122"/>
                  <a:cs typeface="B Nazanin" panose="00000400000000000000" pitchFamily="2" charset="-78"/>
                </a:rPr>
                <a:t>. این بی‌اعتمادی همچنان در روابط بین‌المللی منطقه احساس می‌شود و بر تعاملات دیپلماتیک سایه افکنده است.</a:t>
              </a:r>
              <a:endParaRPr lang="en-US" sz="1100" dirty="0">
                <a:solidFill>
                  <a:schemeClr val="bg2"/>
                </a:solidFill>
                <a:cs typeface="B Nazanin" panose="00000400000000000000" pitchFamily="2" charset="-78"/>
              </a:endParaRPr>
            </a:p>
          </p:txBody>
        </p:sp>
        <p:sp>
          <p:nvSpPr>
            <p:cNvPr id="116" name="Shape 13">
              <a:extLst>
                <a:ext uri="{FF2B5EF4-FFF2-40B4-BE49-F238E27FC236}">
                  <a16:creationId xmlns:a16="http://schemas.microsoft.com/office/drawing/2014/main" id="{8AC0A3A1-5AD9-E13E-11BF-BF261294E961}"/>
                </a:ext>
              </a:extLst>
            </p:cNvPr>
            <p:cNvSpPr/>
            <p:nvPr/>
          </p:nvSpPr>
          <p:spPr>
            <a:xfrm>
              <a:off x="13821489" y="2469118"/>
              <a:ext cx="396835" cy="571500"/>
            </a:xfrm>
            <a:prstGeom prst="roundRect">
              <a:avLst>
                <a:gd name="adj" fmla="val 5895"/>
              </a:avLst>
            </a:prstGeom>
            <a:solidFill>
              <a:srgbClr val="DADBF1"/>
            </a:solidFill>
            <a:ln/>
          </p:spPr>
        </p:sp>
        <p:sp>
          <p:nvSpPr>
            <p:cNvPr id="117" name="Text 14">
              <a:extLst>
                <a:ext uri="{FF2B5EF4-FFF2-40B4-BE49-F238E27FC236}">
                  <a16:creationId xmlns:a16="http://schemas.microsoft.com/office/drawing/2014/main" id="{7922CE8D-8EE0-24A0-5F75-DEDAD741D437}"/>
                </a:ext>
              </a:extLst>
            </p:cNvPr>
            <p:cNvSpPr/>
            <p:nvPr/>
          </p:nvSpPr>
          <p:spPr>
            <a:xfrm>
              <a:off x="13941743" y="2661880"/>
              <a:ext cx="148828" cy="185976"/>
            </a:xfrm>
            <a:prstGeom prst="rect">
              <a:avLst/>
            </a:prstGeom>
            <a:noFill/>
            <a:ln/>
          </p:spPr>
          <p:txBody>
            <a:bodyPr wrap="none" lIns="0" tIns="0" rIns="0" bIns="0" rtlCol="0" anchor="t"/>
            <a:lstStyle/>
            <a:p>
              <a:pPr marL="0" indent="0" algn="r" rtl="1">
                <a:lnSpc>
                  <a:spcPts val="1150"/>
                </a:lnSpc>
                <a:buNone/>
              </a:pPr>
              <a:r>
                <a:rPr lang="en-US" sz="2000" b="1" dirty="0">
                  <a:solidFill>
                    <a:schemeClr val="bg2"/>
                  </a:solidFill>
                  <a:latin typeface="Inter Bold" pitchFamily="34" charset="0"/>
                  <a:ea typeface="Inter Bold" pitchFamily="34" charset="-122"/>
                  <a:cs typeface="B Nazanin" panose="00000400000000000000" pitchFamily="2" charset="-78"/>
                </a:rPr>
                <a:t>3</a:t>
              </a:r>
              <a:endParaRPr lang="en-US" sz="2000" dirty="0">
                <a:solidFill>
                  <a:schemeClr val="bg2"/>
                </a:solidFill>
                <a:cs typeface="B Nazanin" panose="00000400000000000000" pitchFamily="2" charset="-78"/>
              </a:endParaRPr>
            </a:p>
          </p:txBody>
        </p:sp>
        <p:sp>
          <p:nvSpPr>
            <p:cNvPr id="118" name="Text 15">
              <a:extLst>
                <a:ext uri="{FF2B5EF4-FFF2-40B4-BE49-F238E27FC236}">
                  <a16:creationId xmlns:a16="http://schemas.microsoft.com/office/drawing/2014/main" id="{1B758817-B15E-0AC7-6CDD-3E77A2463B0B}"/>
                </a:ext>
              </a:extLst>
            </p:cNvPr>
            <p:cNvSpPr/>
            <p:nvPr/>
          </p:nvSpPr>
          <p:spPr>
            <a:xfrm>
              <a:off x="12391787" y="2568297"/>
              <a:ext cx="1330523" cy="155019"/>
            </a:xfrm>
            <a:prstGeom prst="rect">
              <a:avLst/>
            </a:prstGeom>
            <a:noFill/>
            <a:ln/>
          </p:spPr>
          <p:txBody>
            <a:bodyPr wrap="none" lIns="0" tIns="0" rIns="0" bIns="0" rtlCol="0" anchor="t"/>
            <a:lstStyle/>
            <a:p>
              <a:pPr marL="0" indent="0" algn="r" rtl="1">
                <a:lnSpc>
                  <a:spcPts val="1200"/>
                </a:lnSpc>
                <a:buNone/>
              </a:pPr>
              <a:r>
                <a:rPr lang="en-US" sz="1400" b="1" dirty="0">
                  <a:solidFill>
                    <a:schemeClr val="bg2"/>
                  </a:solidFill>
                  <a:latin typeface="Inter Bold" pitchFamily="34" charset="0"/>
                  <a:ea typeface="Inter Bold" pitchFamily="34" charset="-122"/>
                  <a:cs typeface="B Nazanin" panose="00000400000000000000" pitchFamily="2" charset="-78"/>
                </a:rPr>
                <a:t>تشدید شکاف‌های منطقه‌ای</a:t>
              </a:r>
              <a:endParaRPr lang="en-US" sz="1400" dirty="0">
                <a:solidFill>
                  <a:schemeClr val="bg2"/>
                </a:solidFill>
                <a:cs typeface="B Nazanin" panose="00000400000000000000" pitchFamily="2" charset="-78"/>
              </a:endParaRPr>
            </a:p>
          </p:txBody>
        </p:sp>
        <p:sp>
          <p:nvSpPr>
            <p:cNvPr id="119" name="Text 16">
              <a:extLst>
                <a:ext uri="{FF2B5EF4-FFF2-40B4-BE49-F238E27FC236}">
                  <a16:creationId xmlns:a16="http://schemas.microsoft.com/office/drawing/2014/main" id="{44EC5A39-DA68-DCFA-9375-CC10B386CD6A}"/>
                </a:ext>
              </a:extLst>
            </p:cNvPr>
            <p:cNvSpPr/>
            <p:nvPr/>
          </p:nvSpPr>
          <p:spPr>
            <a:xfrm>
              <a:off x="511254" y="2782848"/>
              <a:ext cx="13211056" cy="158591"/>
            </a:xfrm>
            <a:prstGeom prst="rect">
              <a:avLst/>
            </a:prstGeom>
            <a:noFill/>
            <a:ln/>
          </p:spPr>
          <p:txBody>
            <a:bodyPr wrap="none" lIns="0" tIns="0" rIns="0" bIns="0" rtlCol="0" anchor="t"/>
            <a:lstStyle/>
            <a:p>
              <a:pPr marL="0" indent="0" algn="r" rtl="1">
                <a:lnSpc>
                  <a:spcPts val="1250"/>
                </a:lnSpc>
                <a:buNone/>
              </a:pPr>
              <a:r>
                <a:rPr lang="en-US" sz="1100" dirty="0">
                  <a:solidFill>
                    <a:schemeClr val="bg2"/>
                  </a:solidFill>
                  <a:latin typeface="Inter" pitchFamily="34" charset="0"/>
                  <a:ea typeface="Inter" pitchFamily="34" charset="-122"/>
                  <a:cs typeface="B Nazanin" panose="00000400000000000000" pitchFamily="2" charset="-78"/>
                </a:rPr>
                <a:t>حمایت کشورهای عربی خلیج فارس از عراق و در مقابل ایستادگی ایران، شکاف‌های عمیقی در منطقه ایجاد کرد که با گذشت </a:t>
              </a:r>
              <a:r>
                <a:rPr lang="en-US" sz="1100" dirty="0" err="1">
                  <a:solidFill>
                    <a:schemeClr val="bg2"/>
                  </a:solidFill>
                  <a:latin typeface="Inter" pitchFamily="34" charset="0"/>
                  <a:ea typeface="Inter" pitchFamily="34" charset="-122"/>
                  <a:cs typeface="B Nazanin" panose="00000400000000000000" pitchFamily="2" charset="-78"/>
                </a:rPr>
                <a:t>زمان</a:t>
              </a:r>
              <a:r>
                <a:rPr lang="en-US" sz="1100" dirty="0">
                  <a:solidFill>
                    <a:schemeClr val="bg2"/>
                  </a:solidFill>
                  <a:latin typeface="Inter" pitchFamily="34" charset="0"/>
                  <a:ea typeface="Inter" pitchFamily="34" charset="-122"/>
                  <a:cs typeface="B Nazanin" panose="00000400000000000000" pitchFamily="2" charset="-78"/>
                </a:rPr>
                <a:t> </a:t>
              </a:r>
              <a:r>
                <a:rPr lang="en-US" sz="1100" dirty="0" err="1">
                  <a:solidFill>
                    <a:schemeClr val="bg2"/>
                  </a:solidFill>
                  <a:latin typeface="Inter" pitchFamily="34" charset="0"/>
                  <a:ea typeface="Inter" pitchFamily="34" charset="-122"/>
                  <a:cs typeface="B Nazanin" panose="00000400000000000000" pitchFamily="2" charset="-78"/>
                </a:rPr>
                <a:t>به</a:t>
              </a:r>
              <a:endParaRPr lang="en-US" sz="1100" dirty="0">
                <a:solidFill>
                  <a:schemeClr val="bg2"/>
                </a:solidFill>
                <a:latin typeface="Inter" pitchFamily="34" charset="0"/>
                <a:ea typeface="Inter" pitchFamily="34" charset="-122"/>
                <a:cs typeface="B Nazanin" panose="00000400000000000000" pitchFamily="2" charset="-78"/>
              </a:endParaRPr>
            </a:p>
            <a:p>
              <a:pPr marL="0" indent="0" algn="r" rtl="1">
                <a:lnSpc>
                  <a:spcPts val="1250"/>
                </a:lnSpc>
                <a:buNone/>
              </a:pPr>
              <a:r>
                <a:rPr lang="en-US" sz="1100" dirty="0">
                  <a:solidFill>
                    <a:schemeClr val="bg2"/>
                  </a:solidFill>
                  <a:latin typeface="Inter" pitchFamily="34" charset="0"/>
                  <a:ea typeface="Inter" pitchFamily="34" charset="-122"/>
                  <a:cs typeface="B Nazanin" panose="00000400000000000000" pitchFamily="2" charset="-78"/>
                </a:rPr>
                <a:t> اختلافات ژئوپلیتیکی پیچیده‌تری تبدیل شد. این تنش‌ها هنوز هم در روابط منطقه‌ای قابل مشاهده است.</a:t>
              </a:r>
              <a:endParaRPr lang="en-US" sz="1100" dirty="0">
                <a:solidFill>
                  <a:schemeClr val="bg2"/>
                </a:solidFill>
                <a:cs typeface="B Nazanin" panose="00000400000000000000" pitchFamily="2" charset="-78"/>
              </a:endParaRPr>
            </a:p>
          </p:txBody>
        </p:sp>
        <p:sp>
          <p:nvSpPr>
            <p:cNvPr id="120" name="Shape 18">
              <a:extLst>
                <a:ext uri="{FF2B5EF4-FFF2-40B4-BE49-F238E27FC236}">
                  <a16:creationId xmlns:a16="http://schemas.microsoft.com/office/drawing/2014/main" id="{DB697BF5-61E5-924E-D7E4-9A9CC76BE48B}"/>
                </a:ext>
              </a:extLst>
            </p:cNvPr>
            <p:cNvSpPr/>
            <p:nvPr/>
          </p:nvSpPr>
          <p:spPr>
            <a:xfrm>
              <a:off x="13821489" y="3170277"/>
              <a:ext cx="396835" cy="571500"/>
            </a:xfrm>
            <a:prstGeom prst="roundRect">
              <a:avLst>
                <a:gd name="adj" fmla="val 5895"/>
              </a:avLst>
            </a:prstGeom>
            <a:solidFill>
              <a:srgbClr val="DADBF1"/>
            </a:solidFill>
            <a:ln/>
          </p:spPr>
        </p:sp>
        <p:sp>
          <p:nvSpPr>
            <p:cNvPr id="121" name="Text 19">
              <a:extLst>
                <a:ext uri="{FF2B5EF4-FFF2-40B4-BE49-F238E27FC236}">
                  <a16:creationId xmlns:a16="http://schemas.microsoft.com/office/drawing/2014/main" id="{983CC6E2-2F76-E95B-2FD9-AA6078319226}"/>
                </a:ext>
              </a:extLst>
            </p:cNvPr>
            <p:cNvSpPr/>
            <p:nvPr/>
          </p:nvSpPr>
          <p:spPr>
            <a:xfrm>
              <a:off x="13941743" y="3363039"/>
              <a:ext cx="148828" cy="185976"/>
            </a:xfrm>
            <a:prstGeom prst="rect">
              <a:avLst/>
            </a:prstGeom>
            <a:noFill/>
            <a:ln/>
          </p:spPr>
          <p:txBody>
            <a:bodyPr wrap="none" lIns="0" tIns="0" rIns="0" bIns="0" rtlCol="0" anchor="t"/>
            <a:lstStyle/>
            <a:p>
              <a:pPr marL="0" indent="0" algn="r" rtl="1">
                <a:lnSpc>
                  <a:spcPts val="1150"/>
                </a:lnSpc>
                <a:buNone/>
              </a:pPr>
              <a:r>
                <a:rPr lang="en-US" sz="2000" b="1" dirty="0">
                  <a:solidFill>
                    <a:schemeClr val="bg2"/>
                  </a:solidFill>
                  <a:latin typeface="Inter Bold" pitchFamily="34" charset="0"/>
                  <a:ea typeface="Inter Bold" pitchFamily="34" charset="-122"/>
                  <a:cs typeface="B Nazanin" panose="00000400000000000000" pitchFamily="2" charset="-78"/>
                </a:rPr>
                <a:t>4</a:t>
              </a:r>
              <a:endParaRPr lang="en-US" sz="2000" dirty="0">
                <a:solidFill>
                  <a:schemeClr val="bg2"/>
                </a:solidFill>
                <a:cs typeface="B Nazanin" panose="00000400000000000000" pitchFamily="2" charset="-78"/>
              </a:endParaRPr>
            </a:p>
          </p:txBody>
        </p:sp>
        <p:sp>
          <p:nvSpPr>
            <p:cNvPr id="122" name="Text 20">
              <a:extLst>
                <a:ext uri="{FF2B5EF4-FFF2-40B4-BE49-F238E27FC236}">
                  <a16:creationId xmlns:a16="http://schemas.microsoft.com/office/drawing/2014/main" id="{452AD614-D3B1-D1E9-AB3F-1D67A0B42F79}"/>
                </a:ext>
              </a:extLst>
            </p:cNvPr>
            <p:cNvSpPr/>
            <p:nvPr/>
          </p:nvSpPr>
          <p:spPr>
            <a:xfrm>
              <a:off x="12481917" y="3269456"/>
              <a:ext cx="1240393" cy="155019"/>
            </a:xfrm>
            <a:prstGeom prst="rect">
              <a:avLst/>
            </a:prstGeom>
            <a:noFill/>
            <a:ln/>
          </p:spPr>
          <p:txBody>
            <a:bodyPr wrap="none" lIns="0" tIns="0" rIns="0" bIns="0" rtlCol="0" anchor="t"/>
            <a:lstStyle/>
            <a:p>
              <a:pPr marL="0" indent="0" algn="r" rtl="1">
                <a:lnSpc>
                  <a:spcPts val="1200"/>
                </a:lnSpc>
                <a:buNone/>
              </a:pPr>
              <a:r>
                <a:rPr lang="en-US" sz="1400" b="1" dirty="0">
                  <a:solidFill>
                    <a:schemeClr val="bg2"/>
                  </a:solidFill>
                  <a:latin typeface="Inter Bold" pitchFamily="34" charset="0"/>
                  <a:ea typeface="Inter Bold" pitchFamily="34" charset="-122"/>
                  <a:cs typeface="B Nazanin" panose="00000400000000000000" pitchFamily="2" charset="-78"/>
                </a:rPr>
                <a:t>رشد صنایع دفاعی ایران</a:t>
              </a:r>
              <a:endParaRPr lang="en-US" sz="1400" dirty="0">
                <a:solidFill>
                  <a:schemeClr val="bg2"/>
                </a:solidFill>
                <a:cs typeface="B Nazanin" panose="00000400000000000000" pitchFamily="2" charset="-78"/>
              </a:endParaRPr>
            </a:p>
          </p:txBody>
        </p:sp>
        <p:sp>
          <p:nvSpPr>
            <p:cNvPr id="123" name="Text 21">
              <a:extLst>
                <a:ext uri="{FF2B5EF4-FFF2-40B4-BE49-F238E27FC236}">
                  <a16:creationId xmlns:a16="http://schemas.microsoft.com/office/drawing/2014/main" id="{FEE46FD8-8FA3-8205-F242-9D0BBD00C245}"/>
                </a:ext>
              </a:extLst>
            </p:cNvPr>
            <p:cNvSpPr/>
            <p:nvPr/>
          </p:nvSpPr>
          <p:spPr>
            <a:xfrm>
              <a:off x="511254" y="3484007"/>
              <a:ext cx="13211056" cy="158591"/>
            </a:xfrm>
            <a:prstGeom prst="rect">
              <a:avLst/>
            </a:prstGeom>
            <a:noFill/>
            <a:ln/>
          </p:spPr>
          <p:txBody>
            <a:bodyPr wrap="none" lIns="0" tIns="0" rIns="0" bIns="0" rtlCol="0" anchor="t"/>
            <a:lstStyle/>
            <a:p>
              <a:pPr marL="0" indent="0" algn="r" rtl="1">
                <a:lnSpc>
                  <a:spcPts val="1250"/>
                </a:lnSpc>
                <a:buNone/>
              </a:pPr>
              <a:r>
                <a:rPr lang="en-US" sz="1100" dirty="0">
                  <a:solidFill>
                    <a:schemeClr val="bg2"/>
                  </a:solidFill>
                  <a:latin typeface="Inter" pitchFamily="34" charset="0"/>
                  <a:ea typeface="Inter" pitchFamily="34" charset="-122"/>
                  <a:cs typeface="B Nazanin" panose="00000400000000000000" pitchFamily="2" charset="-78"/>
                </a:rPr>
                <a:t>تحریم‌ها و قطع دسترسی به تسلیحات باعث شد ایران به سمت خودکفایی در صنایع دفاعی حرکت کند. این امر </a:t>
              </a:r>
              <a:r>
                <a:rPr lang="en-US" sz="1100" dirty="0" err="1">
                  <a:solidFill>
                    <a:schemeClr val="bg2"/>
                  </a:solidFill>
                  <a:latin typeface="Inter" pitchFamily="34" charset="0"/>
                  <a:ea typeface="Inter" pitchFamily="34" charset="-122"/>
                  <a:cs typeface="B Nazanin" panose="00000400000000000000" pitchFamily="2" charset="-78"/>
                </a:rPr>
                <a:t>پایه‌های</a:t>
              </a:r>
              <a:r>
                <a:rPr lang="en-US" sz="1100" dirty="0">
                  <a:solidFill>
                    <a:schemeClr val="bg2"/>
                  </a:solidFill>
                  <a:latin typeface="Inter" pitchFamily="34" charset="0"/>
                  <a:ea typeface="Inter" pitchFamily="34" charset="-122"/>
                  <a:cs typeface="B Nazanin" panose="00000400000000000000" pitchFamily="2" charset="-78"/>
                </a:rPr>
                <a:t> </a:t>
              </a:r>
              <a:r>
                <a:rPr lang="en-US" sz="1100" dirty="0" err="1">
                  <a:solidFill>
                    <a:schemeClr val="bg2"/>
                  </a:solidFill>
                  <a:latin typeface="Inter" pitchFamily="34" charset="0"/>
                  <a:ea typeface="Inter" pitchFamily="34" charset="-122"/>
                  <a:cs typeface="B Nazanin" panose="00000400000000000000" pitchFamily="2" charset="-78"/>
                </a:rPr>
                <a:t>توان</a:t>
              </a:r>
              <a:endParaRPr lang="en-US" sz="1100" dirty="0">
                <a:solidFill>
                  <a:schemeClr val="bg2"/>
                </a:solidFill>
                <a:latin typeface="Inter" pitchFamily="34" charset="0"/>
                <a:ea typeface="Inter" pitchFamily="34" charset="-122"/>
                <a:cs typeface="B Nazanin" panose="00000400000000000000" pitchFamily="2" charset="-78"/>
              </a:endParaRPr>
            </a:p>
            <a:p>
              <a:pPr marL="0" indent="0" algn="r" rtl="1">
                <a:lnSpc>
                  <a:spcPts val="1250"/>
                </a:lnSpc>
                <a:buNone/>
              </a:pPr>
              <a:r>
                <a:rPr lang="en-US" sz="1100" dirty="0">
                  <a:solidFill>
                    <a:schemeClr val="bg2"/>
                  </a:solidFill>
                  <a:latin typeface="Inter" pitchFamily="34" charset="0"/>
                  <a:ea typeface="Inter" pitchFamily="34" charset="-122"/>
                  <a:cs typeface="B Nazanin" panose="00000400000000000000" pitchFamily="2" charset="-78"/>
                </a:rPr>
                <a:t> دفاعی امروز ایران را بنا نهاد و به یکی از دستاوردهای مهم دوران جنگ تبدیل شد.</a:t>
              </a:r>
              <a:endParaRPr lang="en-US" sz="1100" dirty="0">
                <a:solidFill>
                  <a:schemeClr val="bg2"/>
                </a:solidFill>
                <a:cs typeface="B Nazanin" panose="00000400000000000000" pitchFamily="2" charset="-78"/>
              </a:endParaRPr>
            </a:p>
          </p:txBody>
        </p:sp>
        <p:sp>
          <p:nvSpPr>
            <p:cNvPr id="124" name="Shape 23">
              <a:extLst>
                <a:ext uri="{FF2B5EF4-FFF2-40B4-BE49-F238E27FC236}">
                  <a16:creationId xmlns:a16="http://schemas.microsoft.com/office/drawing/2014/main" id="{BABE0036-789F-A6C5-BE2F-DFC45F052D05}"/>
                </a:ext>
              </a:extLst>
            </p:cNvPr>
            <p:cNvSpPr/>
            <p:nvPr/>
          </p:nvSpPr>
          <p:spPr>
            <a:xfrm>
              <a:off x="13821489" y="3871436"/>
              <a:ext cx="396835" cy="571500"/>
            </a:xfrm>
            <a:prstGeom prst="roundRect">
              <a:avLst>
                <a:gd name="adj" fmla="val 5895"/>
              </a:avLst>
            </a:prstGeom>
            <a:solidFill>
              <a:srgbClr val="DADBF1"/>
            </a:solidFill>
            <a:ln/>
          </p:spPr>
        </p:sp>
        <p:sp>
          <p:nvSpPr>
            <p:cNvPr id="125" name="Text 24">
              <a:extLst>
                <a:ext uri="{FF2B5EF4-FFF2-40B4-BE49-F238E27FC236}">
                  <a16:creationId xmlns:a16="http://schemas.microsoft.com/office/drawing/2014/main" id="{447A9337-DA37-DC4A-C606-A7FBD88BB2DF}"/>
                </a:ext>
              </a:extLst>
            </p:cNvPr>
            <p:cNvSpPr/>
            <p:nvPr/>
          </p:nvSpPr>
          <p:spPr>
            <a:xfrm>
              <a:off x="13941743" y="4064198"/>
              <a:ext cx="148828" cy="185976"/>
            </a:xfrm>
            <a:prstGeom prst="rect">
              <a:avLst/>
            </a:prstGeom>
            <a:noFill/>
            <a:ln/>
          </p:spPr>
          <p:txBody>
            <a:bodyPr wrap="none" lIns="0" tIns="0" rIns="0" bIns="0" rtlCol="0" anchor="t"/>
            <a:lstStyle/>
            <a:p>
              <a:pPr marL="0" indent="0" algn="r" rtl="1">
                <a:lnSpc>
                  <a:spcPts val="1150"/>
                </a:lnSpc>
                <a:buNone/>
              </a:pPr>
              <a:r>
                <a:rPr lang="en-US" sz="2000" b="1" dirty="0">
                  <a:solidFill>
                    <a:schemeClr val="bg2"/>
                  </a:solidFill>
                  <a:latin typeface="Inter Bold" pitchFamily="34" charset="0"/>
                  <a:ea typeface="Inter Bold" pitchFamily="34" charset="-122"/>
                  <a:cs typeface="B Nazanin" panose="00000400000000000000" pitchFamily="2" charset="-78"/>
                </a:rPr>
                <a:t>5</a:t>
              </a:r>
              <a:endParaRPr lang="en-US" sz="2000" dirty="0">
                <a:solidFill>
                  <a:schemeClr val="bg2"/>
                </a:solidFill>
                <a:cs typeface="B Nazanin" panose="00000400000000000000" pitchFamily="2" charset="-78"/>
              </a:endParaRPr>
            </a:p>
          </p:txBody>
        </p:sp>
        <p:sp>
          <p:nvSpPr>
            <p:cNvPr id="126" name="Text 25">
              <a:extLst>
                <a:ext uri="{FF2B5EF4-FFF2-40B4-BE49-F238E27FC236}">
                  <a16:creationId xmlns:a16="http://schemas.microsoft.com/office/drawing/2014/main" id="{A59B52CB-CE78-24FB-4DF2-E8E9C98F4874}"/>
                </a:ext>
              </a:extLst>
            </p:cNvPr>
            <p:cNvSpPr/>
            <p:nvPr/>
          </p:nvSpPr>
          <p:spPr>
            <a:xfrm>
              <a:off x="12237839" y="3970615"/>
              <a:ext cx="1484471" cy="155019"/>
            </a:xfrm>
            <a:prstGeom prst="rect">
              <a:avLst/>
            </a:prstGeom>
            <a:noFill/>
            <a:ln/>
          </p:spPr>
          <p:txBody>
            <a:bodyPr wrap="none" lIns="0" tIns="0" rIns="0" bIns="0" rtlCol="0" anchor="t"/>
            <a:lstStyle/>
            <a:p>
              <a:pPr marL="0" indent="0" algn="r" rtl="1">
                <a:lnSpc>
                  <a:spcPts val="1200"/>
                </a:lnSpc>
                <a:buNone/>
              </a:pPr>
              <a:r>
                <a:rPr lang="en-US" sz="1400" b="1" dirty="0">
                  <a:solidFill>
                    <a:schemeClr val="bg2"/>
                  </a:solidFill>
                  <a:latin typeface="Inter Bold" pitchFamily="34" charset="0"/>
                  <a:ea typeface="Inter Bold" pitchFamily="34" charset="-122"/>
                  <a:cs typeface="B Nazanin" panose="00000400000000000000" pitchFamily="2" charset="-78"/>
                </a:rPr>
                <a:t>تغییر در موازنه قدرت منطقه‌ای</a:t>
              </a:r>
              <a:endParaRPr lang="en-US" sz="1400" dirty="0">
                <a:solidFill>
                  <a:schemeClr val="bg2"/>
                </a:solidFill>
                <a:cs typeface="B Nazanin" panose="00000400000000000000" pitchFamily="2" charset="-78"/>
              </a:endParaRPr>
            </a:p>
          </p:txBody>
        </p:sp>
        <p:sp>
          <p:nvSpPr>
            <p:cNvPr id="127" name="Text 26">
              <a:extLst>
                <a:ext uri="{FF2B5EF4-FFF2-40B4-BE49-F238E27FC236}">
                  <a16:creationId xmlns:a16="http://schemas.microsoft.com/office/drawing/2014/main" id="{202FA8DB-604B-FBF5-E7B8-2F2C6A506312}"/>
                </a:ext>
              </a:extLst>
            </p:cNvPr>
            <p:cNvSpPr/>
            <p:nvPr/>
          </p:nvSpPr>
          <p:spPr>
            <a:xfrm>
              <a:off x="511254" y="4185166"/>
              <a:ext cx="13211056" cy="158591"/>
            </a:xfrm>
            <a:prstGeom prst="rect">
              <a:avLst/>
            </a:prstGeom>
            <a:noFill/>
            <a:ln/>
          </p:spPr>
          <p:txBody>
            <a:bodyPr wrap="none" lIns="0" tIns="0" rIns="0" bIns="0" rtlCol="0" anchor="t"/>
            <a:lstStyle/>
            <a:p>
              <a:pPr marL="0" indent="0" algn="r" rtl="1">
                <a:lnSpc>
                  <a:spcPts val="1250"/>
                </a:lnSpc>
                <a:buNone/>
              </a:pPr>
              <a:r>
                <a:rPr lang="en-US" sz="1100" dirty="0">
                  <a:solidFill>
                    <a:schemeClr val="bg2"/>
                  </a:solidFill>
                  <a:latin typeface="Inter" pitchFamily="34" charset="0"/>
                  <a:ea typeface="Inter" pitchFamily="34" charset="-122"/>
                  <a:cs typeface="B Nazanin" panose="00000400000000000000" pitchFamily="2" charset="-78"/>
                </a:rPr>
                <a:t>پس از جنگ، ترکیب قدرت در خاورمیانه تغییر کرد. ایران علی‌رغم خسارات سنگین، به عنوان قدرت </a:t>
              </a:r>
              <a:r>
                <a:rPr lang="en-US" sz="1100" dirty="0" err="1">
                  <a:solidFill>
                    <a:schemeClr val="bg2"/>
                  </a:solidFill>
                  <a:latin typeface="Inter" pitchFamily="34" charset="0"/>
                  <a:ea typeface="Inter" pitchFamily="34" charset="-122"/>
                  <a:cs typeface="B Nazanin" panose="00000400000000000000" pitchFamily="2" charset="-78"/>
                </a:rPr>
                <a:t>منطقه‌ای</a:t>
              </a:r>
              <a:r>
                <a:rPr lang="en-US" sz="1100" dirty="0">
                  <a:solidFill>
                    <a:schemeClr val="bg2"/>
                  </a:solidFill>
                  <a:latin typeface="Inter" pitchFamily="34" charset="0"/>
                  <a:ea typeface="Inter" pitchFamily="34" charset="-122"/>
                  <a:cs typeface="B Nazanin" panose="00000400000000000000" pitchFamily="2" charset="-78"/>
                </a:rPr>
                <a:t> </a:t>
              </a:r>
            </a:p>
            <a:p>
              <a:pPr marL="0" indent="0" algn="r" rtl="1">
                <a:lnSpc>
                  <a:spcPts val="1250"/>
                </a:lnSpc>
                <a:buNone/>
              </a:pPr>
              <a:r>
                <a:rPr lang="en-US" sz="1100" dirty="0" err="1">
                  <a:solidFill>
                    <a:schemeClr val="bg2"/>
                  </a:solidFill>
                  <a:latin typeface="Inter" pitchFamily="34" charset="0"/>
                  <a:ea typeface="Inter" pitchFamily="34" charset="-122"/>
                  <a:cs typeface="B Nazanin" panose="00000400000000000000" pitchFamily="2" charset="-78"/>
                </a:rPr>
                <a:t>مطرح</a:t>
              </a:r>
              <a:r>
                <a:rPr lang="en-US" sz="1100" dirty="0">
                  <a:solidFill>
                    <a:schemeClr val="bg2"/>
                  </a:solidFill>
                  <a:latin typeface="Inter" pitchFamily="34" charset="0"/>
                  <a:ea typeface="Inter" pitchFamily="34" charset="-122"/>
                  <a:cs typeface="B Nazanin" panose="00000400000000000000" pitchFamily="2" charset="-78"/>
                </a:rPr>
                <a:t> شد و توانایی خود در مقاومت در برابر فشارهای بین‌المللی را اثبات کرد.</a:t>
              </a:r>
              <a:endParaRPr lang="en-US" sz="1100" dirty="0">
                <a:solidFill>
                  <a:schemeClr val="bg2"/>
                </a:solidFill>
                <a:cs typeface="B Nazanin" panose="00000400000000000000" pitchFamily="2" charset="-78"/>
              </a:endParaRPr>
            </a:p>
          </p:txBody>
        </p:sp>
        <p:sp>
          <p:nvSpPr>
            <p:cNvPr id="128" name="Shape 28">
              <a:extLst>
                <a:ext uri="{FF2B5EF4-FFF2-40B4-BE49-F238E27FC236}">
                  <a16:creationId xmlns:a16="http://schemas.microsoft.com/office/drawing/2014/main" id="{3C4D8E50-9168-BED9-7BE3-BD6A770E6C0D}"/>
                </a:ext>
              </a:extLst>
            </p:cNvPr>
            <p:cNvSpPr/>
            <p:nvPr/>
          </p:nvSpPr>
          <p:spPr>
            <a:xfrm>
              <a:off x="13821489" y="4572595"/>
              <a:ext cx="396835" cy="571500"/>
            </a:xfrm>
            <a:prstGeom prst="roundRect">
              <a:avLst>
                <a:gd name="adj" fmla="val 5895"/>
              </a:avLst>
            </a:prstGeom>
            <a:solidFill>
              <a:srgbClr val="DADBF1"/>
            </a:solidFill>
            <a:ln/>
          </p:spPr>
        </p:sp>
        <p:sp>
          <p:nvSpPr>
            <p:cNvPr id="129" name="Text 29">
              <a:extLst>
                <a:ext uri="{FF2B5EF4-FFF2-40B4-BE49-F238E27FC236}">
                  <a16:creationId xmlns:a16="http://schemas.microsoft.com/office/drawing/2014/main" id="{E33E64FE-AC06-FBB1-F2EB-182091708F2B}"/>
                </a:ext>
              </a:extLst>
            </p:cNvPr>
            <p:cNvSpPr/>
            <p:nvPr/>
          </p:nvSpPr>
          <p:spPr>
            <a:xfrm>
              <a:off x="13941743" y="4765358"/>
              <a:ext cx="148828" cy="185976"/>
            </a:xfrm>
            <a:prstGeom prst="rect">
              <a:avLst/>
            </a:prstGeom>
            <a:noFill/>
            <a:ln/>
          </p:spPr>
          <p:txBody>
            <a:bodyPr wrap="none" lIns="0" tIns="0" rIns="0" bIns="0" rtlCol="0" anchor="t"/>
            <a:lstStyle/>
            <a:p>
              <a:pPr marL="0" indent="0" algn="r" rtl="1">
                <a:lnSpc>
                  <a:spcPts val="1150"/>
                </a:lnSpc>
                <a:buNone/>
              </a:pPr>
              <a:r>
                <a:rPr lang="en-US" sz="2000" b="1" dirty="0">
                  <a:solidFill>
                    <a:schemeClr val="bg2"/>
                  </a:solidFill>
                  <a:latin typeface="Inter Bold" pitchFamily="34" charset="0"/>
                  <a:ea typeface="Inter Bold" pitchFamily="34" charset="-122"/>
                  <a:cs typeface="B Nazanin" panose="00000400000000000000" pitchFamily="2" charset="-78"/>
                </a:rPr>
                <a:t>6</a:t>
              </a:r>
              <a:endParaRPr lang="en-US" sz="2000" dirty="0">
                <a:solidFill>
                  <a:schemeClr val="bg2"/>
                </a:solidFill>
                <a:cs typeface="B Nazanin" panose="00000400000000000000" pitchFamily="2" charset="-78"/>
              </a:endParaRPr>
            </a:p>
          </p:txBody>
        </p:sp>
        <p:sp>
          <p:nvSpPr>
            <p:cNvPr id="130" name="Text 30">
              <a:extLst>
                <a:ext uri="{FF2B5EF4-FFF2-40B4-BE49-F238E27FC236}">
                  <a16:creationId xmlns:a16="http://schemas.microsoft.com/office/drawing/2014/main" id="{C2DBD3D1-4A03-BF18-2061-F98BA4902259}"/>
                </a:ext>
              </a:extLst>
            </p:cNvPr>
            <p:cNvSpPr/>
            <p:nvPr/>
          </p:nvSpPr>
          <p:spPr>
            <a:xfrm>
              <a:off x="12159734" y="4671774"/>
              <a:ext cx="1562576" cy="155019"/>
            </a:xfrm>
            <a:prstGeom prst="rect">
              <a:avLst/>
            </a:prstGeom>
            <a:noFill/>
            <a:ln/>
          </p:spPr>
          <p:txBody>
            <a:bodyPr wrap="none" lIns="0" tIns="0" rIns="0" bIns="0" rtlCol="0" anchor="t"/>
            <a:lstStyle/>
            <a:p>
              <a:pPr marL="0" indent="0" algn="r" rtl="1">
                <a:lnSpc>
                  <a:spcPts val="1200"/>
                </a:lnSpc>
                <a:buNone/>
              </a:pPr>
              <a:r>
                <a:rPr lang="en-US" sz="1400" b="1" dirty="0">
                  <a:solidFill>
                    <a:schemeClr val="bg2"/>
                  </a:solidFill>
                  <a:latin typeface="Inter Bold" pitchFamily="34" charset="0"/>
                  <a:ea typeface="Inter Bold" pitchFamily="34" charset="-122"/>
                  <a:cs typeface="B Nazanin" panose="00000400000000000000" pitchFamily="2" charset="-78"/>
                </a:rPr>
                <a:t>الگوی مداخله در بحران‌های بعدی</a:t>
              </a:r>
              <a:endParaRPr lang="en-US" sz="1400" dirty="0">
                <a:solidFill>
                  <a:schemeClr val="bg2"/>
                </a:solidFill>
                <a:cs typeface="B Nazanin" panose="00000400000000000000" pitchFamily="2" charset="-78"/>
              </a:endParaRPr>
            </a:p>
          </p:txBody>
        </p:sp>
        <p:sp>
          <p:nvSpPr>
            <p:cNvPr id="131" name="Text 31">
              <a:extLst>
                <a:ext uri="{FF2B5EF4-FFF2-40B4-BE49-F238E27FC236}">
                  <a16:creationId xmlns:a16="http://schemas.microsoft.com/office/drawing/2014/main" id="{3F135E74-66FF-D31D-5B74-828C69448C53}"/>
                </a:ext>
              </a:extLst>
            </p:cNvPr>
            <p:cNvSpPr/>
            <p:nvPr/>
          </p:nvSpPr>
          <p:spPr>
            <a:xfrm>
              <a:off x="511254" y="4886325"/>
              <a:ext cx="13211056" cy="158591"/>
            </a:xfrm>
            <a:prstGeom prst="rect">
              <a:avLst/>
            </a:prstGeom>
            <a:noFill/>
            <a:ln/>
          </p:spPr>
          <p:txBody>
            <a:bodyPr wrap="none" lIns="0" tIns="0" rIns="0" bIns="0" rtlCol="0" anchor="t"/>
            <a:lstStyle/>
            <a:p>
              <a:pPr marL="0" indent="0" algn="r" rtl="1">
                <a:lnSpc>
                  <a:spcPts val="1250"/>
                </a:lnSpc>
                <a:buNone/>
              </a:pPr>
              <a:r>
                <a:rPr lang="en-US" sz="1100" dirty="0">
                  <a:solidFill>
                    <a:schemeClr val="bg2"/>
                  </a:solidFill>
                  <a:latin typeface="Inter" pitchFamily="34" charset="0"/>
                  <a:ea typeface="Inter" pitchFamily="34" charset="-122"/>
                  <a:cs typeface="B Nazanin" panose="00000400000000000000" pitchFamily="2" charset="-78"/>
                </a:rPr>
                <a:t>شیوه دخالت ابرقدرت‌ها در جنگ ایران و عراق، الگویی شد که در بحران‌های بعدی منطقه تکرار شد. حمایت از گروه‌های </a:t>
              </a:r>
              <a:r>
                <a:rPr lang="en-US" sz="1100" dirty="0" err="1">
                  <a:solidFill>
                    <a:schemeClr val="bg2"/>
                  </a:solidFill>
                  <a:latin typeface="Inter" pitchFamily="34" charset="0"/>
                  <a:ea typeface="Inter" pitchFamily="34" charset="-122"/>
                  <a:cs typeface="B Nazanin" panose="00000400000000000000" pitchFamily="2" charset="-78"/>
                </a:rPr>
                <a:t>مختلف</a:t>
              </a:r>
              <a:r>
                <a:rPr lang="en-US" sz="1100" dirty="0">
                  <a:solidFill>
                    <a:schemeClr val="bg2"/>
                  </a:solidFill>
                  <a:latin typeface="Inter" pitchFamily="34" charset="0"/>
                  <a:ea typeface="Inter" pitchFamily="34" charset="-122"/>
                  <a:cs typeface="B Nazanin" panose="00000400000000000000" pitchFamily="2" charset="-78"/>
                </a:rPr>
                <a:t>،</a:t>
              </a:r>
            </a:p>
            <a:p>
              <a:pPr marL="0" indent="0" algn="r" rtl="1">
                <a:lnSpc>
                  <a:spcPts val="1250"/>
                </a:lnSpc>
                <a:buNone/>
              </a:pPr>
              <a:r>
                <a:rPr lang="en-US" sz="1100" dirty="0">
                  <a:solidFill>
                    <a:schemeClr val="bg2"/>
                  </a:solidFill>
                  <a:latin typeface="Inter" pitchFamily="34" charset="0"/>
                  <a:ea typeface="Inter" pitchFamily="34" charset="-122"/>
                  <a:cs typeface="B Nazanin" panose="00000400000000000000" pitchFamily="2" charset="-78"/>
                </a:rPr>
                <a:t> فروش سلاح به طرفین درگیر و استفاده از بحران‌ها برای پیشبرد منافع استراتژیک، روشی شد که در بسیاری از درگیری‌های منطقه به کار رفت.</a:t>
              </a:r>
              <a:endParaRPr lang="en-US" sz="1100" dirty="0">
                <a:solidFill>
                  <a:schemeClr val="bg2"/>
                </a:solidFill>
                <a:cs typeface="B Nazanin" panose="00000400000000000000" pitchFamily="2" charset="-78"/>
              </a:endParaRPr>
            </a:p>
          </p:txBody>
        </p:sp>
        <p:sp>
          <p:nvSpPr>
            <p:cNvPr id="132" name="Text 32">
              <a:extLst>
                <a:ext uri="{FF2B5EF4-FFF2-40B4-BE49-F238E27FC236}">
                  <a16:creationId xmlns:a16="http://schemas.microsoft.com/office/drawing/2014/main" id="{389BB5F6-D0A0-648F-3A2D-006407887A10}"/>
                </a:ext>
              </a:extLst>
            </p:cNvPr>
            <p:cNvSpPr/>
            <p:nvPr/>
          </p:nvSpPr>
          <p:spPr>
            <a:xfrm>
              <a:off x="12752665" y="5370076"/>
              <a:ext cx="1488519" cy="185976"/>
            </a:xfrm>
            <a:prstGeom prst="rect">
              <a:avLst/>
            </a:prstGeom>
            <a:noFill/>
            <a:ln/>
          </p:spPr>
          <p:txBody>
            <a:bodyPr wrap="none" lIns="0" tIns="0" rIns="0" bIns="0" rtlCol="0" anchor="t"/>
            <a:lstStyle/>
            <a:p>
              <a:pPr marL="0" indent="0" algn="r" rtl="1">
                <a:lnSpc>
                  <a:spcPts val="1450"/>
                </a:lnSpc>
                <a:buNone/>
              </a:pPr>
              <a:r>
                <a:rPr lang="en-US" sz="2000" b="1" dirty="0">
                  <a:solidFill>
                    <a:schemeClr val="bg2"/>
                  </a:solidFill>
                  <a:latin typeface="Inter Bold" pitchFamily="34" charset="0"/>
                  <a:ea typeface="Inter Bold" pitchFamily="34" charset="-122"/>
                  <a:cs typeface="B Nazanin" panose="00000400000000000000" pitchFamily="2" charset="-78"/>
                </a:rPr>
                <a:t>درس‌های استراتژیک</a:t>
              </a:r>
              <a:endParaRPr lang="en-US" sz="2000" dirty="0">
                <a:solidFill>
                  <a:schemeClr val="bg2"/>
                </a:solidFill>
                <a:cs typeface="B Nazanin" panose="00000400000000000000" pitchFamily="2" charset="-78"/>
              </a:endParaRPr>
            </a:p>
          </p:txBody>
        </p:sp>
        <p:sp>
          <p:nvSpPr>
            <p:cNvPr id="133" name="Text 33">
              <a:extLst>
                <a:ext uri="{FF2B5EF4-FFF2-40B4-BE49-F238E27FC236}">
                  <a16:creationId xmlns:a16="http://schemas.microsoft.com/office/drawing/2014/main" id="{476CA1C0-A93F-6FCA-3FB6-C82D1E88B42A}"/>
                </a:ext>
              </a:extLst>
            </p:cNvPr>
            <p:cNvSpPr/>
            <p:nvPr/>
          </p:nvSpPr>
          <p:spPr>
            <a:xfrm>
              <a:off x="7443788" y="5655231"/>
              <a:ext cx="6797397" cy="317183"/>
            </a:xfrm>
            <a:prstGeom prst="rect">
              <a:avLst/>
            </a:prstGeom>
            <a:noFill/>
            <a:ln/>
          </p:spPr>
          <p:txBody>
            <a:bodyPr wrap="square" lIns="0" tIns="0" rIns="0" bIns="0" rtlCol="0" anchor="t"/>
            <a:lstStyle/>
            <a:p>
              <a:pPr marL="0" indent="0" algn="r" rtl="1">
                <a:lnSpc>
                  <a:spcPts val="1250"/>
                </a:lnSpc>
                <a:buNone/>
              </a:pPr>
              <a:r>
                <a:rPr lang="en-US" sz="1100" dirty="0">
                  <a:solidFill>
                    <a:schemeClr val="bg2"/>
                  </a:solidFill>
                  <a:latin typeface="Inter" pitchFamily="34" charset="0"/>
                  <a:ea typeface="Inter" pitchFamily="34" charset="-122"/>
                  <a:cs typeface="B Nazanin" panose="00000400000000000000" pitchFamily="2" charset="-78"/>
                </a:rPr>
                <a:t>یکی از مهم‌ترین دستاوردهای ایران از این جنگ، درک عمیق اهمیت خودکفایی و استقلال بود. تجربه محاصره و تحریم نشان داد که تکیه بر قدرت‌های خارجی می‌تواند در مواقع بحرانی فاجعه‌بار </a:t>
              </a:r>
              <a:r>
                <a:rPr lang="en-US" sz="1100" dirty="0" err="1">
                  <a:solidFill>
                    <a:schemeClr val="bg2"/>
                  </a:solidFill>
                  <a:latin typeface="Inter" pitchFamily="34" charset="0"/>
                  <a:ea typeface="Inter" pitchFamily="34" charset="-122"/>
                  <a:cs typeface="B Nazanin" panose="00000400000000000000" pitchFamily="2" charset="-78"/>
                </a:rPr>
                <a:t>باشد</a:t>
              </a:r>
              <a:r>
                <a:rPr lang="en-US" sz="1100" dirty="0">
                  <a:solidFill>
                    <a:schemeClr val="bg2"/>
                  </a:solidFill>
                  <a:latin typeface="Inter" pitchFamily="34" charset="0"/>
                  <a:ea typeface="Inter" pitchFamily="34" charset="-122"/>
                  <a:cs typeface="B Nazanin" panose="00000400000000000000" pitchFamily="2" charset="-78"/>
                </a:rPr>
                <a:t>.</a:t>
              </a:r>
            </a:p>
            <a:p>
              <a:pPr marL="0" indent="0" algn="r" rtl="1">
                <a:lnSpc>
                  <a:spcPts val="1250"/>
                </a:lnSpc>
                <a:buNone/>
              </a:pPr>
              <a:endParaRPr lang="en-US" sz="1100" dirty="0">
                <a:solidFill>
                  <a:schemeClr val="bg2"/>
                </a:solidFill>
                <a:cs typeface="B Nazanin" panose="00000400000000000000" pitchFamily="2" charset="-78"/>
              </a:endParaRPr>
            </a:p>
          </p:txBody>
        </p:sp>
        <p:sp>
          <p:nvSpPr>
            <p:cNvPr id="134" name="Text 34">
              <a:extLst>
                <a:ext uri="{FF2B5EF4-FFF2-40B4-BE49-F238E27FC236}">
                  <a16:creationId xmlns:a16="http://schemas.microsoft.com/office/drawing/2014/main" id="{E27F4A9E-56C2-F991-718E-69325BA42179}"/>
                </a:ext>
              </a:extLst>
            </p:cNvPr>
            <p:cNvSpPr/>
            <p:nvPr/>
          </p:nvSpPr>
          <p:spPr>
            <a:xfrm>
              <a:off x="7443788" y="6178686"/>
              <a:ext cx="6797397" cy="158591"/>
            </a:xfrm>
            <a:prstGeom prst="rect">
              <a:avLst/>
            </a:prstGeom>
            <a:noFill/>
            <a:ln/>
          </p:spPr>
          <p:txBody>
            <a:bodyPr wrap="none" lIns="0" tIns="0" rIns="0" bIns="0" rtlCol="0" anchor="t"/>
            <a:lstStyle/>
            <a:p>
              <a:pPr marL="0" indent="0" algn="r" rtl="1">
                <a:lnSpc>
                  <a:spcPts val="1250"/>
                </a:lnSpc>
                <a:buNone/>
              </a:pPr>
              <a:r>
                <a:rPr lang="en-US" sz="1100" dirty="0">
                  <a:solidFill>
                    <a:schemeClr val="bg2"/>
                  </a:solidFill>
                  <a:latin typeface="Inter" pitchFamily="34" charset="0"/>
                  <a:ea typeface="Inter" pitchFamily="34" charset="-122"/>
                  <a:cs typeface="B Nazanin" panose="00000400000000000000" pitchFamily="2" charset="-78"/>
                </a:rPr>
                <a:t>همچنین اهمیت قدرت نرم و </a:t>
              </a:r>
              <a:r>
                <a:rPr lang="en-US" sz="1100" dirty="0" err="1">
                  <a:solidFill>
                    <a:schemeClr val="bg2"/>
                  </a:solidFill>
                  <a:latin typeface="Inter" pitchFamily="34" charset="0"/>
                  <a:ea typeface="Inter" pitchFamily="34" charset="-122"/>
                  <a:cs typeface="B Nazanin" panose="00000400000000000000" pitchFamily="2" charset="-78"/>
                </a:rPr>
                <a:t>دیپلماسی</a:t>
              </a:r>
              <a:r>
                <a:rPr lang="en-US" sz="1100" dirty="0">
                  <a:solidFill>
                    <a:schemeClr val="bg2"/>
                  </a:solidFill>
                  <a:latin typeface="Inter" pitchFamily="34" charset="0"/>
                  <a:ea typeface="Inter" pitchFamily="34" charset="-122"/>
                  <a:cs typeface="B Nazanin" panose="00000400000000000000" pitchFamily="2" charset="-78"/>
                </a:rPr>
                <a:t> </a:t>
              </a:r>
              <a:r>
                <a:rPr lang="en-US" sz="1100" dirty="0" err="1">
                  <a:solidFill>
                    <a:schemeClr val="bg2"/>
                  </a:solidFill>
                  <a:latin typeface="Inter" pitchFamily="34" charset="0"/>
                  <a:ea typeface="Inter" pitchFamily="34" charset="-122"/>
                  <a:cs typeface="B Nazanin" panose="00000400000000000000" pitchFamily="2" charset="-78"/>
                </a:rPr>
                <a:t>عمومی</a:t>
              </a:r>
              <a:r>
                <a:rPr lang="en-US" sz="1100" dirty="0">
                  <a:solidFill>
                    <a:schemeClr val="bg2"/>
                  </a:solidFill>
                  <a:latin typeface="Inter" pitchFamily="34" charset="0"/>
                  <a:ea typeface="Inter" pitchFamily="34" charset="-122"/>
                  <a:cs typeface="B Nazanin" panose="00000400000000000000" pitchFamily="2" charset="-78"/>
                </a:rPr>
                <a:t> روشن شد. افشای جنایات و مستندسازی رویدادها می‌توانست در بلندمدت تأثیرگذار باشد.</a:t>
              </a:r>
              <a:endParaRPr lang="en-US" sz="1100" dirty="0">
                <a:solidFill>
                  <a:schemeClr val="bg2"/>
                </a:solidFill>
                <a:cs typeface="B Nazanin" panose="00000400000000000000" pitchFamily="2" charset="-78"/>
              </a:endParaRPr>
            </a:p>
          </p:txBody>
        </p:sp>
      </p:grpSp>
      <p:sp>
        <p:nvSpPr>
          <p:cNvPr id="136" name="Text 0">
            <a:extLst>
              <a:ext uri="{FF2B5EF4-FFF2-40B4-BE49-F238E27FC236}">
                <a16:creationId xmlns:a16="http://schemas.microsoft.com/office/drawing/2014/main" id="{215CFBD4-CAF3-5C12-9EF3-57849732403B}"/>
              </a:ext>
            </a:extLst>
          </p:cNvPr>
          <p:cNvSpPr/>
          <p:nvPr/>
        </p:nvSpPr>
        <p:spPr>
          <a:xfrm>
            <a:off x="8086697" y="123663"/>
            <a:ext cx="3629978" cy="310158"/>
          </a:xfrm>
          <a:prstGeom prst="rect">
            <a:avLst/>
          </a:prstGeom>
          <a:noFill/>
          <a:ln/>
        </p:spPr>
        <p:txBody>
          <a:bodyPr wrap="none" lIns="0" tIns="0" rIns="0" bIns="0" rtlCol="0" anchor="t"/>
          <a:lstStyle/>
          <a:p>
            <a:pPr marL="0" indent="0" algn="r" rtl="1">
              <a:lnSpc>
                <a:spcPts val="2400"/>
              </a:lnSpc>
              <a:buNone/>
            </a:pPr>
            <a:r>
              <a:rPr lang="en-US" sz="1950" b="1" dirty="0">
                <a:solidFill>
                  <a:schemeClr val="bg2"/>
                </a:solidFill>
                <a:latin typeface="Inter Bold" pitchFamily="34" charset="0"/>
                <a:ea typeface="Inter Bold" pitchFamily="34" charset="-122"/>
                <a:cs typeface="B Nazanin" panose="00000400000000000000" pitchFamily="2" charset="-78"/>
              </a:rPr>
              <a:t>پیامدهای بلندمدت دخالت ابرقدرت‌ها</a:t>
            </a:r>
            <a:endParaRPr lang="en-US" sz="1950" dirty="0">
              <a:solidFill>
                <a:schemeClr val="bg2"/>
              </a:solidFill>
              <a:cs typeface="B Nazanin" panose="00000400000000000000" pitchFamily="2" charset="-78"/>
            </a:endParaRPr>
          </a:p>
        </p:txBody>
      </p:sp>
      <p:sp>
        <p:nvSpPr>
          <p:cNvPr id="137" name="Text 1">
            <a:extLst>
              <a:ext uri="{FF2B5EF4-FFF2-40B4-BE49-F238E27FC236}">
                <a16:creationId xmlns:a16="http://schemas.microsoft.com/office/drawing/2014/main" id="{F1E63BD6-7CC3-58E1-7613-83DD32D23CF0}"/>
              </a:ext>
            </a:extLst>
          </p:cNvPr>
          <p:cNvSpPr/>
          <p:nvPr/>
        </p:nvSpPr>
        <p:spPr>
          <a:xfrm>
            <a:off x="-2120055" y="632179"/>
            <a:ext cx="13836729" cy="158591"/>
          </a:xfrm>
          <a:prstGeom prst="rect">
            <a:avLst/>
          </a:prstGeom>
          <a:noFill/>
          <a:ln/>
        </p:spPr>
        <p:txBody>
          <a:bodyPr wrap="none" lIns="0" tIns="0" rIns="0" bIns="0" rtlCol="0" anchor="t"/>
          <a:lstStyle/>
          <a:p>
            <a:pPr marL="0" indent="0" algn="r" rtl="1">
              <a:lnSpc>
                <a:spcPts val="1250"/>
              </a:lnSpc>
              <a:buNone/>
            </a:pPr>
            <a:r>
              <a:rPr lang="en-US" sz="750" dirty="0">
                <a:solidFill>
                  <a:schemeClr val="bg2"/>
                </a:solidFill>
                <a:latin typeface="Inter" pitchFamily="34" charset="0"/>
                <a:ea typeface="Inter" pitchFamily="34" charset="-122"/>
                <a:cs typeface="B Nazanin" panose="00000400000000000000" pitchFamily="2" charset="-78"/>
              </a:rPr>
              <a:t>دخالت ابرقدرت‌ها در جنگ ایران و عراق پیامدهای عمیق و بلندمدتی برای منطقه خاورمیانه و نظام بین‌المللی داشت که بسیاری از آن‌ها تا امروز ادامه دارند. این پیامدها نه تنها دو کشور درگیر بلکه کل منطقه را تحت تأثیر قرار داد.</a:t>
            </a:r>
            <a:endParaRPr lang="en-US" sz="750" dirty="0">
              <a:solidFill>
                <a:schemeClr val="bg2"/>
              </a:solidFill>
              <a:cs typeface="B Nazanin" panose="00000400000000000000" pitchFamily="2" charset="-78"/>
            </a:endParaRPr>
          </a:p>
        </p:txBody>
      </p:sp>
    </p:spTree>
    <p:extLst>
      <p:ext uri="{BB962C8B-B14F-4D97-AF65-F5344CB8AC3E}">
        <p14:creationId xmlns:p14="http://schemas.microsoft.com/office/powerpoint/2010/main" val="22927086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9000" b="-109000"/>
          </a:stretch>
        </a:blipFill>
        <a:effectLst/>
      </p:bgPr>
    </p:bg>
    <p:spTree>
      <p:nvGrpSpPr>
        <p:cNvPr id="1" name="">
          <a:extLst>
            <a:ext uri="{FF2B5EF4-FFF2-40B4-BE49-F238E27FC236}">
              <a16:creationId xmlns:a16="http://schemas.microsoft.com/office/drawing/2014/main" id="{44FED57D-8E1D-1BD0-1BFD-2D59B2003401}"/>
            </a:ext>
          </a:extLst>
        </p:cNvPr>
        <p:cNvGrpSpPr/>
        <p:nvPr/>
      </p:nvGrpSpPr>
      <p:grpSpPr>
        <a:xfrm>
          <a:off x="0" y="0"/>
          <a:ext cx="0" cy="0"/>
          <a:chOff x="0" y="0"/>
          <a:chExt cx="0" cy="0"/>
        </a:xfrm>
      </p:grpSpPr>
      <p:grpSp>
        <p:nvGrpSpPr>
          <p:cNvPr id="44" name="Group 43">
            <a:extLst>
              <a:ext uri="{FF2B5EF4-FFF2-40B4-BE49-F238E27FC236}">
                <a16:creationId xmlns:a16="http://schemas.microsoft.com/office/drawing/2014/main" id="{E588302D-D71A-0867-CC73-BE0664736714}"/>
              </a:ext>
            </a:extLst>
          </p:cNvPr>
          <p:cNvGrpSpPr/>
          <p:nvPr/>
        </p:nvGrpSpPr>
        <p:grpSpPr>
          <a:xfrm>
            <a:off x="-265184" y="-9065912"/>
            <a:ext cx="4590873" cy="15855333"/>
            <a:chOff x="-693173" y="-4054166"/>
            <a:chExt cx="4590873" cy="15855333"/>
          </a:xfrm>
        </p:grpSpPr>
        <p:sp>
          <p:nvSpPr>
            <p:cNvPr id="16" name="Hexagon 15">
              <a:extLst>
                <a:ext uri="{FF2B5EF4-FFF2-40B4-BE49-F238E27FC236}">
                  <a16:creationId xmlns:a16="http://schemas.microsoft.com/office/drawing/2014/main" id="{91BD109C-3562-63F6-A274-5B9DF9024F7F}"/>
                </a:ext>
              </a:extLst>
            </p:cNvPr>
            <p:cNvSpPr/>
            <p:nvPr/>
          </p:nvSpPr>
          <p:spPr>
            <a:xfrm>
              <a:off x="2620293" y="493579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grpSp>
          <p:nvGrpSpPr>
            <p:cNvPr id="43" name="Group 42">
              <a:extLst>
                <a:ext uri="{FF2B5EF4-FFF2-40B4-BE49-F238E27FC236}">
                  <a16:creationId xmlns:a16="http://schemas.microsoft.com/office/drawing/2014/main" id="{B23410A4-CCC4-1A42-9DD8-0DD9F26615C8}"/>
                </a:ext>
              </a:extLst>
            </p:cNvPr>
            <p:cNvGrpSpPr/>
            <p:nvPr/>
          </p:nvGrpSpPr>
          <p:grpSpPr>
            <a:xfrm>
              <a:off x="-693173" y="-3503559"/>
              <a:ext cx="4300821" cy="15304726"/>
              <a:chOff x="-693173" y="-3503559"/>
              <a:chExt cx="4300821" cy="15304726"/>
            </a:xfrm>
          </p:grpSpPr>
          <p:sp>
            <p:nvSpPr>
              <p:cNvPr id="4" name="Hexagon 3">
                <a:extLst>
                  <a:ext uri="{FF2B5EF4-FFF2-40B4-BE49-F238E27FC236}">
                    <a16:creationId xmlns:a16="http://schemas.microsoft.com/office/drawing/2014/main" id="{3E4F4602-7823-FF7A-3C78-47C05C0A0B74}"/>
                  </a:ext>
                </a:extLst>
              </p:cNvPr>
              <p:cNvSpPr/>
              <p:nvPr/>
            </p:nvSpPr>
            <p:spPr>
              <a:xfrm>
                <a:off x="314632" y="218276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6" name="Hexagon 5">
                <a:extLst>
                  <a:ext uri="{FF2B5EF4-FFF2-40B4-BE49-F238E27FC236}">
                    <a16:creationId xmlns:a16="http://schemas.microsoft.com/office/drawing/2014/main" id="{B113F66C-ACD9-3A4D-089E-94C0D07C5A3C}"/>
                  </a:ext>
                </a:extLst>
              </p:cNvPr>
              <p:cNvSpPr/>
              <p:nvPr/>
            </p:nvSpPr>
            <p:spPr>
              <a:xfrm>
                <a:off x="1322438" y="273336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7" name="Hexagon 6">
                <a:extLst>
                  <a:ext uri="{FF2B5EF4-FFF2-40B4-BE49-F238E27FC236}">
                    <a16:creationId xmlns:a16="http://schemas.microsoft.com/office/drawing/2014/main" id="{5FA3F4E2-E03A-7098-408C-D69971B7F0E8}"/>
                  </a:ext>
                </a:extLst>
              </p:cNvPr>
              <p:cNvSpPr/>
              <p:nvPr/>
            </p:nvSpPr>
            <p:spPr>
              <a:xfrm>
                <a:off x="604684" y="3834580"/>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8" name="Hexagon 7">
                <a:extLst>
                  <a:ext uri="{FF2B5EF4-FFF2-40B4-BE49-F238E27FC236}">
                    <a16:creationId xmlns:a16="http://schemas.microsoft.com/office/drawing/2014/main" id="{A0D3E788-D06C-F461-3702-27365FED2FD4}"/>
                  </a:ext>
                </a:extLst>
              </p:cNvPr>
              <p:cNvSpPr/>
              <p:nvPr/>
            </p:nvSpPr>
            <p:spPr>
              <a:xfrm>
                <a:off x="1342886" y="1608240"/>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9" name="Hexagon 8">
                <a:extLst>
                  <a:ext uri="{FF2B5EF4-FFF2-40B4-BE49-F238E27FC236}">
                    <a16:creationId xmlns:a16="http://schemas.microsoft.com/office/drawing/2014/main" id="{F1264692-479B-CEE2-B333-554156EAC5C9}"/>
                  </a:ext>
                </a:extLst>
              </p:cNvPr>
              <p:cNvSpPr/>
              <p:nvPr/>
            </p:nvSpPr>
            <p:spPr>
              <a:xfrm>
                <a:off x="1366917" y="506768"/>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10" name="Hexagon 9">
                <a:extLst>
                  <a:ext uri="{FF2B5EF4-FFF2-40B4-BE49-F238E27FC236}">
                    <a16:creationId xmlns:a16="http://schemas.microsoft.com/office/drawing/2014/main" id="{6B2F79B4-8328-9B88-7A01-93691CCC3F8B}"/>
                  </a:ext>
                </a:extLst>
              </p:cNvPr>
              <p:cNvSpPr/>
              <p:nvPr/>
            </p:nvSpPr>
            <p:spPr>
              <a:xfrm>
                <a:off x="2330241" y="10815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11" name="Hexagon 10">
                <a:extLst>
                  <a:ext uri="{FF2B5EF4-FFF2-40B4-BE49-F238E27FC236}">
                    <a16:creationId xmlns:a16="http://schemas.microsoft.com/office/drawing/2014/main" id="{E856C099-28ED-3FCF-2F0D-0D25AF96FB1A}"/>
                  </a:ext>
                </a:extLst>
              </p:cNvPr>
              <p:cNvSpPr/>
              <p:nvPr/>
            </p:nvSpPr>
            <p:spPr>
              <a:xfrm>
                <a:off x="604684" y="60370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12" name="Hexagon 11">
                <a:extLst>
                  <a:ext uri="{FF2B5EF4-FFF2-40B4-BE49-F238E27FC236}">
                    <a16:creationId xmlns:a16="http://schemas.microsoft.com/office/drawing/2014/main" id="{B085ADD8-0E3C-798E-43D9-12BF5C67BE6B}"/>
                  </a:ext>
                </a:extLst>
              </p:cNvPr>
              <p:cNvSpPr/>
              <p:nvPr/>
            </p:nvSpPr>
            <p:spPr>
              <a:xfrm>
                <a:off x="1612490" y="65876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13" name="Hexagon 12">
                <a:extLst>
                  <a:ext uri="{FF2B5EF4-FFF2-40B4-BE49-F238E27FC236}">
                    <a16:creationId xmlns:a16="http://schemas.microsoft.com/office/drawing/2014/main" id="{F9338CB4-BE8E-17EE-9A5D-CBA6EC2736A4}"/>
                  </a:ext>
                </a:extLst>
              </p:cNvPr>
              <p:cNvSpPr/>
              <p:nvPr/>
            </p:nvSpPr>
            <p:spPr>
              <a:xfrm>
                <a:off x="894736" y="768882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14" name="Hexagon 13">
                <a:extLst>
                  <a:ext uri="{FF2B5EF4-FFF2-40B4-BE49-F238E27FC236}">
                    <a16:creationId xmlns:a16="http://schemas.microsoft.com/office/drawing/2014/main" id="{FA8EA23B-AAD9-12DE-D8E3-0F893BE7A983}"/>
                  </a:ext>
                </a:extLst>
              </p:cNvPr>
              <p:cNvSpPr/>
              <p:nvPr/>
            </p:nvSpPr>
            <p:spPr>
              <a:xfrm>
                <a:off x="1612489" y="54863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15" name="Hexagon 14">
                <a:extLst>
                  <a:ext uri="{FF2B5EF4-FFF2-40B4-BE49-F238E27FC236}">
                    <a16:creationId xmlns:a16="http://schemas.microsoft.com/office/drawing/2014/main" id="{BD6A17BB-8FB7-ED47-39FC-B86135F40ABF}"/>
                  </a:ext>
                </a:extLst>
              </p:cNvPr>
              <p:cNvSpPr/>
              <p:nvPr/>
            </p:nvSpPr>
            <p:spPr>
              <a:xfrm>
                <a:off x="1612488" y="438518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29" name="Hexagon 28">
                <a:extLst>
                  <a:ext uri="{FF2B5EF4-FFF2-40B4-BE49-F238E27FC236}">
                    <a16:creationId xmlns:a16="http://schemas.microsoft.com/office/drawing/2014/main" id="{5EE2B667-5830-D180-896C-B17E558D4CC4}"/>
                  </a:ext>
                </a:extLst>
              </p:cNvPr>
              <p:cNvSpPr/>
              <p:nvPr/>
            </p:nvSpPr>
            <p:spPr>
              <a:xfrm>
                <a:off x="-693173" y="45310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0" name="Hexagon 29">
                <a:extLst>
                  <a:ext uri="{FF2B5EF4-FFF2-40B4-BE49-F238E27FC236}">
                    <a16:creationId xmlns:a16="http://schemas.microsoft.com/office/drawing/2014/main" id="{4140B190-6535-BF94-966E-2966D23164D5}"/>
                  </a:ext>
                </a:extLst>
              </p:cNvPr>
              <p:cNvSpPr/>
              <p:nvPr/>
            </p:nvSpPr>
            <p:spPr>
              <a:xfrm>
                <a:off x="314632" y="-975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1" name="Hexagon 30">
                <a:extLst>
                  <a:ext uri="{FF2B5EF4-FFF2-40B4-BE49-F238E27FC236}">
                    <a16:creationId xmlns:a16="http://schemas.microsoft.com/office/drawing/2014/main" id="{B47E31FE-273A-EE89-6B26-11013E976D22}"/>
                  </a:ext>
                </a:extLst>
              </p:cNvPr>
              <p:cNvSpPr/>
              <p:nvPr/>
            </p:nvSpPr>
            <p:spPr>
              <a:xfrm>
                <a:off x="314631" y="-119871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2" name="Hexagon 31">
                <a:extLst>
                  <a:ext uri="{FF2B5EF4-FFF2-40B4-BE49-F238E27FC236}">
                    <a16:creationId xmlns:a16="http://schemas.microsoft.com/office/drawing/2014/main" id="{58F5E0A9-A48C-41AF-EC6B-80C0CF59C562}"/>
                  </a:ext>
                </a:extLst>
              </p:cNvPr>
              <p:cNvSpPr/>
              <p:nvPr/>
            </p:nvSpPr>
            <p:spPr>
              <a:xfrm>
                <a:off x="1322436" y="-648113"/>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33" name="Hexagon 32">
                <a:extLst>
                  <a:ext uri="{FF2B5EF4-FFF2-40B4-BE49-F238E27FC236}">
                    <a16:creationId xmlns:a16="http://schemas.microsoft.com/office/drawing/2014/main" id="{06DE1B38-DBC0-2FCE-8AD7-4E0C447A2FB1}"/>
                  </a:ext>
                </a:extLst>
              </p:cNvPr>
              <p:cNvSpPr/>
              <p:nvPr/>
            </p:nvSpPr>
            <p:spPr>
              <a:xfrm>
                <a:off x="1981590" y="1069995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4" name="Hexagon 33">
                <a:extLst>
                  <a:ext uri="{FF2B5EF4-FFF2-40B4-BE49-F238E27FC236}">
                    <a16:creationId xmlns:a16="http://schemas.microsoft.com/office/drawing/2014/main" id="{D371A0A8-D8DF-2B96-0BDC-2BEEDB01A8D2}"/>
                  </a:ext>
                </a:extLst>
              </p:cNvPr>
              <p:cNvSpPr/>
              <p:nvPr/>
            </p:nvSpPr>
            <p:spPr>
              <a:xfrm>
                <a:off x="1981589" y="955039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5" name="Hexagon 34">
                <a:extLst>
                  <a:ext uri="{FF2B5EF4-FFF2-40B4-BE49-F238E27FC236}">
                    <a16:creationId xmlns:a16="http://schemas.microsoft.com/office/drawing/2014/main" id="{4C06627A-45E5-0835-F652-180EA93D6E3E}"/>
                  </a:ext>
                </a:extLst>
              </p:cNvPr>
              <p:cNvSpPr/>
              <p:nvPr/>
            </p:nvSpPr>
            <p:spPr>
              <a:xfrm>
                <a:off x="-252788" y="95610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6" name="Hexagon 35">
                <a:extLst>
                  <a:ext uri="{FF2B5EF4-FFF2-40B4-BE49-F238E27FC236}">
                    <a16:creationId xmlns:a16="http://schemas.microsoft.com/office/drawing/2014/main" id="{06C1B9F0-441D-0EAB-84D7-CE452419E2FE}"/>
                  </a:ext>
                </a:extLst>
              </p:cNvPr>
              <p:cNvSpPr/>
              <p:nvPr/>
            </p:nvSpPr>
            <p:spPr>
              <a:xfrm>
                <a:off x="894735" y="890515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7" name="Hexagon 36">
                <a:extLst>
                  <a:ext uri="{FF2B5EF4-FFF2-40B4-BE49-F238E27FC236}">
                    <a16:creationId xmlns:a16="http://schemas.microsoft.com/office/drawing/2014/main" id="{1EE51F35-3AD7-3D01-2122-52EFE4863D0F}"/>
                  </a:ext>
                </a:extLst>
              </p:cNvPr>
              <p:cNvSpPr/>
              <p:nvPr/>
            </p:nvSpPr>
            <p:spPr>
              <a:xfrm>
                <a:off x="1981589" y="8354548"/>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38" name="Hexagon 37">
                <a:extLst>
                  <a:ext uri="{FF2B5EF4-FFF2-40B4-BE49-F238E27FC236}">
                    <a16:creationId xmlns:a16="http://schemas.microsoft.com/office/drawing/2014/main" id="{43383D3C-501D-AA5D-F6F0-BD73652EC14B}"/>
                  </a:ext>
                </a:extLst>
              </p:cNvPr>
              <p:cNvSpPr/>
              <p:nvPr/>
            </p:nvSpPr>
            <p:spPr>
              <a:xfrm>
                <a:off x="1342886" y="-17738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39" name="Hexagon 38">
                <a:extLst>
                  <a:ext uri="{FF2B5EF4-FFF2-40B4-BE49-F238E27FC236}">
                    <a16:creationId xmlns:a16="http://schemas.microsoft.com/office/drawing/2014/main" id="{07B87528-AECD-D08D-6B69-11B9DEFC5F9A}"/>
                  </a:ext>
                </a:extLst>
              </p:cNvPr>
              <p:cNvSpPr/>
              <p:nvPr/>
            </p:nvSpPr>
            <p:spPr>
              <a:xfrm>
                <a:off x="1342886" y="-28751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40" name="Hexagon 39">
                <a:extLst>
                  <a:ext uri="{FF2B5EF4-FFF2-40B4-BE49-F238E27FC236}">
                    <a16:creationId xmlns:a16="http://schemas.microsoft.com/office/drawing/2014/main" id="{CD22507B-1858-49A2-25D1-C425ED1EA303}"/>
                  </a:ext>
                </a:extLst>
              </p:cNvPr>
              <p:cNvSpPr/>
              <p:nvPr/>
            </p:nvSpPr>
            <p:spPr>
              <a:xfrm>
                <a:off x="-672723" y="-295295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41" name="Hexagon 40">
                <a:extLst>
                  <a:ext uri="{FF2B5EF4-FFF2-40B4-BE49-F238E27FC236}">
                    <a16:creationId xmlns:a16="http://schemas.microsoft.com/office/drawing/2014/main" id="{533E319B-DF4E-9EC9-0C0B-74BDC8BB9D10}"/>
                  </a:ext>
                </a:extLst>
              </p:cNvPr>
              <p:cNvSpPr/>
              <p:nvPr/>
            </p:nvSpPr>
            <p:spPr>
              <a:xfrm>
                <a:off x="335082" y="-350355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grpSp>
        <p:sp>
          <p:nvSpPr>
            <p:cNvPr id="42" name="Hexagon 41">
              <a:extLst>
                <a:ext uri="{FF2B5EF4-FFF2-40B4-BE49-F238E27FC236}">
                  <a16:creationId xmlns:a16="http://schemas.microsoft.com/office/drawing/2014/main" id="{4FB5EF84-349D-3243-8FD5-17F796ACB197}"/>
                </a:ext>
              </a:extLst>
            </p:cNvPr>
            <p:cNvSpPr/>
            <p:nvPr/>
          </p:nvSpPr>
          <p:spPr>
            <a:xfrm>
              <a:off x="1342886" y="-405416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grpSp>
      <p:pic>
        <p:nvPicPr>
          <p:cNvPr id="46" name="Graphic 45" descr="Employee badge with solid fill">
            <a:extLst>
              <a:ext uri="{FF2B5EF4-FFF2-40B4-BE49-F238E27FC236}">
                <a16:creationId xmlns:a16="http://schemas.microsoft.com/office/drawing/2014/main" id="{7A82921C-9A0B-C479-3936-F65E9AF1F8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07598" y="-2301715"/>
            <a:ext cx="763027" cy="763027"/>
          </a:xfrm>
          <a:prstGeom prst="rect">
            <a:avLst/>
          </a:prstGeom>
        </p:spPr>
      </p:pic>
      <p:pic>
        <p:nvPicPr>
          <p:cNvPr id="52" name="Graphic 51" descr="Bullseye with solid fill">
            <a:extLst>
              <a:ext uri="{FF2B5EF4-FFF2-40B4-BE49-F238E27FC236}">
                <a16:creationId xmlns:a16="http://schemas.microsoft.com/office/drawing/2014/main" id="{372E4878-E5BD-4596-CFA1-3456945A9F1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06868" y="-2388883"/>
            <a:ext cx="914400" cy="914400"/>
          </a:xfrm>
          <a:prstGeom prst="rect">
            <a:avLst/>
          </a:prstGeom>
        </p:spPr>
      </p:pic>
      <p:pic>
        <p:nvPicPr>
          <p:cNvPr id="69" name="Graphic 68" descr="Earth globe: Americas with solid fill">
            <a:extLst>
              <a:ext uri="{FF2B5EF4-FFF2-40B4-BE49-F238E27FC236}">
                <a16:creationId xmlns:a16="http://schemas.microsoft.com/office/drawing/2014/main" id="{CAC65A13-6002-DA99-821F-BBEF955BAD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325726" y="-1889976"/>
            <a:ext cx="914400" cy="914400"/>
          </a:xfrm>
          <a:prstGeom prst="rect">
            <a:avLst/>
          </a:prstGeom>
        </p:spPr>
      </p:pic>
      <p:pic>
        <p:nvPicPr>
          <p:cNvPr id="135" name="Graphic 134" descr="Dollar with solid fill">
            <a:extLst>
              <a:ext uri="{FF2B5EF4-FFF2-40B4-BE49-F238E27FC236}">
                <a16:creationId xmlns:a16="http://schemas.microsoft.com/office/drawing/2014/main" id="{5312629B-85AD-5F96-36EC-8CD5368F6BE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30253" y="-1291584"/>
            <a:ext cx="914400" cy="914400"/>
          </a:xfrm>
          <a:prstGeom prst="rect">
            <a:avLst/>
          </a:prstGeom>
        </p:spPr>
      </p:pic>
      <p:pic>
        <p:nvPicPr>
          <p:cNvPr id="51" name="Graphic 50" descr="Atom with solid fill">
            <a:extLst>
              <a:ext uri="{FF2B5EF4-FFF2-40B4-BE49-F238E27FC236}">
                <a16:creationId xmlns:a16="http://schemas.microsoft.com/office/drawing/2014/main" id="{D20D6A58-96E4-C0E7-F918-6AABA3C3FFE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39847" y="-1209214"/>
            <a:ext cx="914400" cy="914400"/>
          </a:xfrm>
          <a:prstGeom prst="rect">
            <a:avLst/>
          </a:prstGeom>
        </p:spPr>
      </p:pic>
      <p:pic>
        <p:nvPicPr>
          <p:cNvPr id="64" name="Graphic 63" descr="Internet with solid fill">
            <a:extLst>
              <a:ext uri="{FF2B5EF4-FFF2-40B4-BE49-F238E27FC236}">
                <a16:creationId xmlns:a16="http://schemas.microsoft.com/office/drawing/2014/main" id="{7BAA7CFD-27EC-7B90-6B3D-FCAD2C9A7DB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019010" y="-1453572"/>
            <a:ext cx="914400" cy="914400"/>
          </a:xfrm>
          <a:prstGeom prst="rect">
            <a:avLst/>
          </a:prstGeom>
        </p:spPr>
      </p:pic>
      <p:sp>
        <p:nvSpPr>
          <p:cNvPr id="92" name="Shape 37">
            <a:extLst>
              <a:ext uri="{FF2B5EF4-FFF2-40B4-BE49-F238E27FC236}">
                <a16:creationId xmlns:a16="http://schemas.microsoft.com/office/drawing/2014/main" id="{4F1E9284-FA69-A281-CE4E-6F5AE9FE71AA}"/>
              </a:ext>
            </a:extLst>
          </p:cNvPr>
          <p:cNvSpPr/>
          <p:nvPr/>
        </p:nvSpPr>
        <p:spPr>
          <a:xfrm>
            <a:off x="396835" y="11510963"/>
            <a:ext cx="13836729" cy="421362"/>
          </a:xfrm>
          <a:prstGeom prst="roundRect">
            <a:avLst>
              <a:gd name="adj" fmla="val 9892"/>
            </a:avLst>
          </a:prstGeom>
          <a:solidFill>
            <a:srgbClr val="C7C9EA"/>
          </a:solidFill>
          <a:ln/>
        </p:spPr>
      </p:sp>
      <p:pic>
        <p:nvPicPr>
          <p:cNvPr id="93" name="Image 5" descr="preencoded.png">
            <a:extLst>
              <a:ext uri="{FF2B5EF4-FFF2-40B4-BE49-F238E27FC236}">
                <a16:creationId xmlns:a16="http://schemas.microsoft.com/office/drawing/2014/main" id="{25BA6B9D-48E0-3B88-2F7A-42C2C35DFCF0}"/>
              </a:ext>
            </a:extLst>
          </p:cNvPr>
          <p:cNvPicPr>
            <a:picLocks noChangeAspect="1"/>
          </p:cNvPicPr>
          <p:nvPr/>
        </p:nvPicPr>
        <p:blipFill>
          <a:blip r:embed="rId15"/>
          <a:stretch>
            <a:fillRect/>
          </a:stretch>
        </p:blipFill>
        <p:spPr>
          <a:xfrm>
            <a:off x="496014" y="11662410"/>
            <a:ext cx="123944" cy="99179"/>
          </a:xfrm>
          <a:prstGeom prst="rect">
            <a:avLst/>
          </a:prstGeom>
        </p:spPr>
      </p:pic>
      <p:sp>
        <p:nvSpPr>
          <p:cNvPr id="94" name="Text 38">
            <a:extLst>
              <a:ext uri="{FF2B5EF4-FFF2-40B4-BE49-F238E27FC236}">
                <a16:creationId xmlns:a16="http://schemas.microsoft.com/office/drawing/2014/main" id="{E4FC5AF9-639A-06E1-9627-6FB287FFBF15}"/>
              </a:ext>
            </a:extLst>
          </p:cNvPr>
          <p:cNvSpPr/>
          <p:nvPr/>
        </p:nvSpPr>
        <p:spPr>
          <a:xfrm>
            <a:off x="719137" y="11634907"/>
            <a:ext cx="13415248" cy="158591"/>
          </a:xfrm>
          <a:prstGeom prst="rect">
            <a:avLst/>
          </a:prstGeom>
          <a:noFill/>
          <a:ln/>
        </p:spPr>
        <p:txBody>
          <a:bodyPr wrap="none" lIns="0" tIns="0" rIns="0" bIns="0" rtlCol="0" anchor="t"/>
          <a:lstStyle/>
          <a:p>
            <a:pPr marL="0" indent="0" algn="r" rtl="1">
              <a:lnSpc>
                <a:spcPts val="1250"/>
              </a:lnSpc>
              <a:buNone/>
            </a:pPr>
            <a:r>
              <a:rPr lang="en-US" sz="1100" b="1" dirty="0">
                <a:solidFill>
                  <a:srgbClr val="000000"/>
                </a:solidFill>
                <a:latin typeface="Inter" pitchFamily="34" charset="0"/>
                <a:ea typeface="Inter" pitchFamily="34" charset="-122"/>
                <a:cs typeface="B Nazanin" panose="00000400000000000000" pitchFamily="2" charset="-78"/>
              </a:rPr>
              <a:t>ابعاد اخلاقی:</a:t>
            </a:r>
            <a:r>
              <a:rPr lang="en-US" sz="1100" dirty="0">
                <a:solidFill>
                  <a:srgbClr val="000000"/>
                </a:solidFill>
                <a:latin typeface="Inter" pitchFamily="34" charset="0"/>
                <a:ea typeface="Inter" pitchFamily="34" charset="-122"/>
                <a:cs typeface="B Nazanin" panose="00000400000000000000" pitchFamily="2" charset="-78"/>
              </a:rPr>
              <a:t> فروش سلاح و فناوری به هر دو طرف جنگ، در حالی که صدها هزار نفر کشته می‌شدند، یکی از تاریک‌ترین فصل‌های اخلاقی سیاست اروپا در قرن بیستم بود. منافع اقتصادی بر ارزش‌های انسانی غلبه کرده بود.</a:t>
            </a:r>
            <a:endParaRPr lang="en-US" sz="1100" dirty="0">
              <a:cs typeface="B Nazanin" panose="00000400000000000000" pitchFamily="2" charset="-78"/>
            </a:endParaRPr>
          </a:p>
        </p:txBody>
      </p:sp>
      <p:pic>
        <p:nvPicPr>
          <p:cNvPr id="81" name="Graphic 80" descr="Scales of justice with solid fill">
            <a:extLst>
              <a:ext uri="{FF2B5EF4-FFF2-40B4-BE49-F238E27FC236}">
                <a16:creationId xmlns:a16="http://schemas.microsoft.com/office/drawing/2014/main" id="{E293FBEA-FC33-5531-728C-091107D7B86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235866" y="-767053"/>
            <a:ext cx="914400" cy="914400"/>
          </a:xfrm>
          <a:prstGeom prst="rect">
            <a:avLst/>
          </a:prstGeom>
        </p:spPr>
      </p:pic>
      <p:pic>
        <p:nvPicPr>
          <p:cNvPr id="106" name="Graphic 105" descr="Puzzle pieces with solid fill">
            <a:extLst>
              <a:ext uri="{FF2B5EF4-FFF2-40B4-BE49-F238E27FC236}">
                <a16:creationId xmlns:a16="http://schemas.microsoft.com/office/drawing/2014/main" id="{88A60CEA-4FAA-8BD2-4681-1838CCBB44A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235866" y="506279"/>
            <a:ext cx="914400" cy="914400"/>
          </a:xfrm>
          <a:prstGeom prst="rect">
            <a:avLst/>
          </a:prstGeom>
        </p:spPr>
      </p:pic>
      <p:grpSp>
        <p:nvGrpSpPr>
          <p:cNvPr id="2" name="Group 1">
            <a:extLst>
              <a:ext uri="{FF2B5EF4-FFF2-40B4-BE49-F238E27FC236}">
                <a16:creationId xmlns:a16="http://schemas.microsoft.com/office/drawing/2014/main" id="{12089D90-3F0D-80BC-B359-3A308347DCDE}"/>
              </a:ext>
            </a:extLst>
          </p:cNvPr>
          <p:cNvGrpSpPr/>
          <p:nvPr/>
        </p:nvGrpSpPr>
        <p:grpSpPr>
          <a:xfrm>
            <a:off x="3607935" y="403684"/>
            <a:ext cx="8400152" cy="5888812"/>
            <a:chOff x="519708" y="357307"/>
            <a:chExt cx="13598604" cy="7516534"/>
          </a:xfrm>
        </p:grpSpPr>
        <p:sp>
          <p:nvSpPr>
            <p:cNvPr id="3" name="Text 0">
              <a:extLst>
                <a:ext uri="{FF2B5EF4-FFF2-40B4-BE49-F238E27FC236}">
                  <a16:creationId xmlns:a16="http://schemas.microsoft.com/office/drawing/2014/main" id="{2BF905B2-2B0B-CC0E-4081-647D9A44CEA8}"/>
                </a:ext>
              </a:extLst>
            </p:cNvPr>
            <p:cNvSpPr/>
            <p:nvPr/>
          </p:nvSpPr>
          <p:spPr>
            <a:xfrm>
              <a:off x="8478917" y="357307"/>
              <a:ext cx="5631775" cy="406003"/>
            </a:xfrm>
            <a:prstGeom prst="rect">
              <a:avLst/>
            </a:prstGeom>
            <a:noFill/>
            <a:ln/>
          </p:spPr>
          <p:txBody>
            <a:bodyPr wrap="none" lIns="0" tIns="0" rIns="0" bIns="0" rtlCol="0" anchor="t"/>
            <a:lstStyle/>
            <a:p>
              <a:pPr marL="0" indent="0" algn="r" rtl="1">
                <a:lnSpc>
                  <a:spcPts val="3150"/>
                </a:lnSpc>
                <a:buNone/>
              </a:pPr>
              <a:r>
                <a:rPr lang="en-US" sz="2550" b="1" dirty="0">
                  <a:solidFill>
                    <a:schemeClr val="bg2"/>
                  </a:solidFill>
                  <a:latin typeface="Inter Bold" pitchFamily="34" charset="0"/>
                  <a:ea typeface="Inter Bold" pitchFamily="34" charset="-122"/>
                  <a:cs typeface="B Nazanin" panose="00000400000000000000" pitchFamily="2" charset="-78"/>
                </a:rPr>
                <a:t>درس‌آموزی: استقلال و اتکا به نیروهای داخلی</a:t>
              </a:r>
              <a:endParaRPr lang="en-US" sz="2550" dirty="0">
                <a:solidFill>
                  <a:schemeClr val="bg2"/>
                </a:solidFill>
                <a:cs typeface="B Nazanin" panose="00000400000000000000" pitchFamily="2" charset="-78"/>
              </a:endParaRPr>
            </a:p>
          </p:txBody>
        </p:sp>
        <p:sp>
          <p:nvSpPr>
            <p:cNvPr id="5" name="Text 1">
              <a:extLst>
                <a:ext uri="{FF2B5EF4-FFF2-40B4-BE49-F238E27FC236}">
                  <a16:creationId xmlns:a16="http://schemas.microsoft.com/office/drawing/2014/main" id="{273D8C5F-4125-24AB-8B31-352E68AAFFF4}"/>
                </a:ext>
              </a:extLst>
            </p:cNvPr>
            <p:cNvSpPr/>
            <p:nvPr/>
          </p:nvSpPr>
          <p:spPr>
            <a:xfrm>
              <a:off x="7613690" y="958215"/>
              <a:ext cx="6497003" cy="812125"/>
            </a:xfrm>
            <a:prstGeom prst="rect">
              <a:avLst/>
            </a:prstGeom>
            <a:noFill/>
            <a:ln/>
          </p:spPr>
          <p:txBody>
            <a:bodyPr wrap="none" lIns="0" tIns="0" rIns="0" bIns="0" rtlCol="0" anchor="t"/>
            <a:lstStyle/>
            <a:p>
              <a:pPr marL="0" indent="0" algn="r" rtl="1">
                <a:lnSpc>
                  <a:spcPts val="6350"/>
                </a:lnSpc>
                <a:buNone/>
              </a:pPr>
              <a:r>
                <a:rPr lang="en-US" sz="5100" b="1" dirty="0">
                  <a:solidFill>
                    <a:schemeClr val="bg2"/>
                  </a:solidFill>
                  <a:latin typeface="Inter Bold" pitchFamily="34" charset="0"/>
                  <a:ea typeface="Inter Bold" pitchFamily="34" charset="-122"/>
                  <a:cs typeface="B Nazanin" panose="00000400000000000000" pitchFamily="2" charset="-78"/>
                </a:rPr>
                <a:t>استقلال، کلید بقا</a:t>
              </a:r>
              <a:endParaRPr lang="en-US" sz="5100" dirty="0">
                <a:solidFill>
                  <a:schemeClr val="bg2"/>
                </a:solidFill>
                <a:cs typeface="B Nazanin" panose="00000400000000000000" pitchFamily="2" charset="-78"/>
              </a:endParaRPr>
            </a:p>
          </p:txBody>
        </p:sp>
        <p:sp>
          <p:nvSpPr>
            <p:cNvPr id="17" name="Text 2">
              <a:extLst>
                <a:ext uri="{FF2B5EF4-FFF2-40B4-BE49-F238E27FC236}">
                  <a16:creationId xmlns:a16="http://schemas.microsoft.com/office/drawing/2014/main" id="{088B2D35-1083-B92A-DD5F-F03F560BD1DB}"/>
                </a:ext>
              </a:extLst>
            </p:cNvPr>
            <p:cNvSpPr/>
            <p:nvPr/>
          </p:nvSpPr>
          <p:spPr>
            <a:xfrm>
              <a:off x="519708" y="1965246"/>
              <a:ext cx="13590984" cy="207764"/>
            </a:xfrm>
            <a:prstGeom prst="rect">
              <a:avLst/>
            </a:prstGeom>
            <a:noFill/>
            <a:ln/>
          </p:spPr>
          <p:txBody>
            <a:bodyPr wrap="none" lIns="0" tIns="0" rIns="0" bIns="0" rtlCol="0" anchor="t"/>
            <a:lstStyle/>
            <a:p>
              <a:pPr marL="0" indent="0" algn="r" rtl="1">
                <a:lnSpc>
                  <a:spcPts val="1600"/>
                </a:lnSpc>
                <a:buNone/>
              </a:pPr>
              <a:r>
                <a:rPr lang="en-US" sz="1000" dirty="0">
                  <a:solidFill>
                    <a:schemeClr val="bg2"/>
                  </a:solidFill>
                  <a:latin typeface="Inter" pitchFamily="34" charset="0"/>
                  <a:ea typeface="Inter" pitchFamily="34" charset="-122"/>
                  <a:cs typeface="B Nazanin" panose="00000400000000000000" pitchFamily="2" charset="-78"/>
                </a:rPr>
                <a:t>تجربه هشت سال دفاع مقدس و نقش ابرقدرت‌ها در آن، درس‌های ارزشمندی برای ایران و کشورهای منطقه به جای گذاشت. این درس‌ها نه تنها در حوزه دفاعی و امنیتی بلکه در تمام ابعاد توسعه ملی کاربرد دارند.</a:t>
              </a:r>
              <a:endParaRPr lang="en-US" sz="1000" dirty="0">
                <a:solidFill>
                  <a:schemeClr val="bg2"/>
                </a:solidFill>
                <a:cs typeface="B Nazanin" panose="00000400000000000000" pitchFamily="2" charset="-78"/>
              </a:endParaRPr>
            </a:p>
          </p:txBody>
        </p:sp>
        <p:sp>
          <p:nvSpPr>
            <p:cNvPr id="18" name="Text 3">
              <a:extLst>
                <a:ext uri="{FF2B5EF4-FFF2-40B4-BE49-F238E27FC236}">
                  <a16:creationId xmlns:a16="http://schemas.microsoft.com/office/drawing/2014/main" id="{9A3CF21B-1BA6-1929-9583-CCCD7576DAFB}"/>
                </a:ext>
              </a:extLst>
            </p:cNvPr>
            <p:cNvSpPr/>
            <p:nvPr/>
          </p:nvSpPr>
          <p:spPr>
            <a:xfrm>
              <a:off x="13980795" y="2319099"/>
              <a:ext cx="129897" cy="162401"/>
            </a:xfrm>
            <a:prstGeom prst="rect">
              <a:avLst/>
            </a:prstGeom>
            <a:noFill/>
            <a:ln/>
          </p:spPr>
          <p:txBody>
            <a:bodyPr wrap="none" lIns="0" tIns="0" rIns="0" bIns="0" rtlCol="0" anchor="t"/>
            <a:lstStyle/>
            <a:p>
              <a:pPr marL="0" indent="0" algn="l" rtl="1">
                <a:lnSpc>
                  <a:spcPts val="1600"/>
                </a:lnSpc>
                <a:buNone/>
              </a:pPr>
              <a:r>
                <a:rPr lang="en-US" sz="1000" dirty="0">
                  <a:solidFill>
                    <a:schemeClr val="bg2"/>
                  </a:solidFill>
                  <a:latin typeface="Inter Light" pitchFamily="34" charset="0"/>
                  <a:ea typeface="Inter Light" pitchFamily="34" charset="-122"/>
                  <a:cs typeface="B Nazanin" panose="00000400000000000000" pitchFamily="2" charset="-78"/>
                </a:rPr>
                <a:t>01</a:t>
              </a:r>
              <a:endParaRPr lang="en-US" sz="1000" dirty="0">
                <a:solidFill>
                  <a:schemeClr val="bg2"/>
                </a:solidFill>
                <a:cs typeface="B Nazanin" panose="00000400000000000000" pitchFamily="2" charset="-78"/>
              </a:endParaRPr>
            </a:p>
          </p:txBody>
        </p:sp>
        <p:sp>
          <p:nvSpPr>
            <p:cNvPr id="19" name="Shape 4">
              <a:extLst>
                <a:ext uri="{FF2B5EF4-FFF2-40B4-BE49-F238E27FC236}">
                  <a16:creationId xmlns:a16="http://schemas.microsoft.com/office/drawing/2014/main" id="{48713A7D-A3D9-FD8C-3CBC-174C05599B37}"/>
                </a:ext>
              </a:extLst>
            </p:cNvPr>
            <p:cNvSpPr/>
            <p:nvPr/>
          </p:nvSpPr>
          <p:spPr>
            <a:xfrm>
              <a:off x="9667042" y="2524601"/>
              <a:ext cx="4443651" cy="15240"/>
            </a:xfrm>
            <a:prstGeom prst="rect">
              <a:avLst/>
            </a:prstGeom>
            <a:solidFill>
              <a:srgbClr val="4950BC"/>
            </a:solidFill>
            <a:ln/>
          </p:spPr>
        </p:sp>
        <p:sp>
          <p:nvSpPr>
            <p:cNvPr id="20" name="Text 5">
              <a:extLst>
                <a:ext uri="{FF2B5EF4-FFF2-40B4-BE49-F238E27FC236}">
                  <a16:creationId xmlns:a16="http://schemas.microsoft.com/office/drawing/2014/main" id="{2D264E18-A47C-9845-D30F-F9E356C2D264}"/>
                </a:ext>
              </a:extLst>
            </p:cNvPr>
            <p:cNvSpPr/>
            <p:nvPr/>
          </p:nvSpPr>
          <p:spPr>
            <a:xfrm>
              <a:off x="12486442" y="2619970"/>
              <a:ext cx="1624251" cy="203002"/>
            </a:xfrm>
            <a:prstGeom prst="rect">
              <a:avLst/>
            </a:prstGeom>
            <a:noFill/>
            <a:ln/>
          </p:spPr>
          <p:txBody>
            <a:bodyPr wrap="none" lIns="0" tIns="0" rIns="0" bIns="0" rtlCol="0" anchor="t"/>
            <a:lstStyle/>
            <a:p>
              <a:pPr marL="0" indent="0" algn="r" rtl="1">
                <a:lnSpc>
                  <a:spcPts val="1550"/>
                </a:lnSpc>
                <a:buNone/>
              </a:pPr>
              <a:r>
                <a:rPr lang="en-US" sz="1250" b="1" dirty="0">
                  <a:solidFill>
                    <a:schemeClr val="bg2"/>
                  </a:solidFill>
                  <a:latin typeface="Inter Bold" pitchFamily="34" charset="0"/>
                  <a:ea typeface="Inter Bold" pitchFamily="34" charset="-122"/>
                  <a:cs typeface="B Nazanin" panose="00000400000000000000" pitchFamily="2" charset="-78"/>
                </a:rPr>
                <a:t>خودکفایی تکنولوژیک</a:t>
              </a:r>
              <a:endParaRPr lang="en-US" sz="1250" dirty="0">
                <a:solidFill>
                  <a:schemeClr val="bg2"/>
                </a:solidFill>
                <a:cs typeface="B Nazanin" panose="00000400000000000000" pitchFamily="2" charset="-78"/>
              </a:endParaRPr>
            </a:p>
          </p:txBody>
        </p:sp>
        <p:sp>
          <p:nvSpPr>
            <p:cNvPr id="21" name="Text 6">
              <a:extLst>
                <a:ext uri="{FF2B5EF4-FFF2-40B4-BE49-F238E27FC236}">
                  <a16:creationId xmlns:a16="http://schemas.microsoft.com/office/drawing/2014/main" id="{3339FF12-5165-5863-6082-E6FE43956692}"/>
                </a:ext>
              </a:extLst>
            </p:cNvPr>
            <p:cNvSpPr/>
            <p:nvPr/>
          </p:nvSpPr>
          <p:spPr>
            <a:xfrm>
              <a:off x="9667042" y="2900839"/>
              <a:ext cx="4443651" cy="207764"/>
            </a:xfrm>
            <a:prstGeom prst="rect">
              <a:avLst/>
            </a:prstGeom>
            <a:noFill/>
            <a:ln/>
          </p:spPr>
          <p:txBody>
            <a:bodyPr wrap="none" lIns="0" tIns="0" rIns="0" bIns="0" rtlCol="0" anchor="t"/>
            <a:lstStyle/>
            <a:p>
              <a:pPr marL="0" indent="0" algn="r" rtl="1">
                <a:lnSpc>
                  <a:spcPts val="1600"/>
                </a:lnSpc>
                <a:buNone/>
              </a:pPr>
              <a:r>
                <a:rPr lang="en-US" sz="1000" dirty="0">
                  <a:solidFill>
                    <a:schemeClr val="bg2"/>
                  </a:solidFill>
                  <a:latin typeface="Inter" pitchFamily="34" charset="0"/>
                  <a:ea typeface="Inter" pitchFamily="34" charset="-122"/>
                  <a:cs typeface="B Nazanin" panose="00000400000000000000" pitchFamily="2" charset="-78"/>
                </a:rPr>
                <a:t>توسعه صنایع داخلی، پژوهش و نوآوری</a:t>
              </a:r>
              <a:endParaRPr lang="en-US" sz="1000" dirty="0">
                <a:solidFill>
                  <a:schemeClr val="bg2"/>
                </a:solidFill>
                <a:cs typeface="B Nazanin" panose="00000400000000000000" pitchFamily="2" charset="-78"/>
              </a:endParaRPr>
            </a:p>
          </p:txBody>
        </p:sp>
        <p:sp>
          <p:nvSpPr>
            <p:cNvPr id="22" name="Text 7">
              <a:extLst>
                <a:ext uri="{FF2B5EF4-FFF2-40B4-BE49-F238E27FC236}">
                  <a16:creationId xmlns:a16="http://schemas.microsoft.com/office/drawing/2014/main" id="{6D84D28C-4B21-88EA-BEDC-7552074E8A83}"/>
                </a:ext>
              </a:extLst>
            </p:cNvPr>
            <p:cNvSpPr/>
            <p:nvPr/>
          </p:nvSpPr>
          <p:spPr>
            <a:xfrm>
              <a:off x="9407247" y="2319099"/>
              <a:ext cx="129897" cy="162401"/>
            </a:xfrm>
            <a:prstGeom prst="rect">
              <a:avLst/>
            </a:prstGeom>
            <a:noFill/>
            <a:ln/>
          </p:spPr>
          <p:txBody>
            <a:bodyPr wrap="none" lIns="0" tIns="0" rIns="0" bIns="0" rtlCol="0" anchor="t"/>
            <a:lstStyle/>
            <a:p>
              <a:pPr marL="0" indent="0" algn="l" rtl="1">
                <a:lnSpc>
                  <a:spcPts val="1600"/>
                </a:lnSpc>
                <a:buNone/>
              </a:pPr>
              <a:r>
                <a:rPr lang="en-US" sz="1000" dirty="0">
                  <a:solidFill>
                    <a:schemeClr val="bg2"/>
                  </a:solidFill>
                  <a:latin typeface="Inter Light" pitchFamily="34" charset="0"/>
                  <a:ea typeface="Inter Light" pitchFamily="34" charset="-122"/>
                  <a:cs typeface="B Nazanin" panose="00000400000000000000" pitchFamily="2" charset="-78"/>
                </a:rPr>
                <a:t>02</a:t>
              </a:r>
              <a:endParaRPr lang="en-US" sz="1000" dirty="0">
                <a:solidFill>
                  <a:schemeClr val="bg2"/>
                </a:solidFill>
                <a:cs typeface="B Nazanin" panose="00000400000000000000" pitchFamily="2" charset="-78"/>
              </a:endParaRPr>
            </a:p>
          </p:txBody>
        </p:sp>
        <p:sp>
          <p:nvSpPr>
            <p:cNvPr id="23" name="Shape 8">
              <a:extLst>
                <a:ext uri="{FF2B5EF4-FFF2-40B4-BE49-F238E27FC236}">
                  <a16:creationId xmlns:a16="http://schemas.microsoft.com/office/drawing/2014/main" id="{6D804226-E757-E3A2-E3FE-2EEF5F862A24}"/>
                </a:ext>
              </a:extLst>
            </p:cNvPr>
            <p:cNvSpPr/>
            <p:nvPr/>
          </p:nvSpPr>
          <p:spPr>
            <a:xfrm>
              <a:off x="5093375" y="2524601"/>
              <a:ext cx="4443770" cy="15240"/>
            </a:xfrm>
            <a:prstGeom prst="rect">
              <a:avLst/>
            </a:prstGeom>
            <a:solidFill>
              <a:srgbClr val="4950BC"/>
            </a:solidFill>
            <a:ln/>
          </p:spPr>
        </p:sp>
        <p:sp>
          <p:nvSpPr>
            <p:cNvPr id="24" name="Text 9">
              <a:extLst>
                <a:ext uri="{FF2B5EF4-FFF2-40B4-BE49-F238E27FC236}">
                  <a16:creationId xmlns:a16="http://schemas.microsoft.com/office/drawing/2014/main" id="{EC9AC3D9-76D3-A2AE-47CD-844BBAE2C882}"/>
                </a:ext>
              </a:extLst>
            </p:cNvPr>
            <p:cNvSpPr/>
            <p:nvPr/>
          </p:nvSpPr>
          <p:spPr>
            <a:xfrm>
              <a:off x="7912894" y="2619970"/>
              <a:ext cx="1624251" cy="203002"/>
            </a:xfrm>
            <a:prstGeom prst="rect">
              <a:avLst/>
            </a:prstGeom>
            <a:noFill/>
            <a:ln/>
          </p:spPr>
          <p:txBody>
            <a:bodyPr wrap="none" lIns="0" tIns="0" rIns="0" bIns="0" rtlCol="0" anchor="t"/>
            <a:lstStyle/>
            <a:p>
              <a:pPr marL="0" indent="0" algn="r" rtl="1">
                <a:lnSpc>
                  <a:spcPts val="1550"/>
                </a:lnSpc>
                <a:buNone/>
              </a:pPr>
              <a:r>
                <a:rPr lang="en-US" sz="1250" b="1" dirty="0">
                  <a:solidFill>
                    <a:schemeClr val="bg2"/>
                  </a:solidFill>
                  <a:latin typeface="Inter Bold" pitchFamily="34" charset="0"/>
                  <a:ea typeface="Inter Bold" pitchFamily="34" charset="-122"/>
                  <a:cs typeface="B Nazanin" panose="00000400000000000000" pitchFamily="2" charset="-78"/>
                </a:rPr>
                <a:t>استقلال سیاسی</a:t>
              </a:r>
              <a:endParaRPr lang="en-US" sz="1250" dirty="0">
                <a:solidFill>
                  <a:schemeClr val="bg2"/>
                </a:solidFill>
                <a:cs typeface="B Nazanin" panose="00000400000000000000" pitchFamily="2" charset="-78"/>
              </a:endParaRPr>
            </a:p>
          </p:txBody>
        </p:sp>
        <p:sp>
          <p:nvSpPr>
            <p:cNvPr id="25" name="Text 10">
              <a:extLst>
                <a:ext uri="{FF2B5EF4-FFF2-40B4-BE49-F238E27FC236}">
                  <a16:creationId xmlns:a16="http://schemas.microsoft.com/office/drawing/2014/main" id="{0314A8DA-F07E-1626-5E9D-34B67BB84D1D}"/>
                </a:ext>
              </a:extLst>
            </p:cNvPr>
            <p:cNvSpPr/>
            <p:nvPr/>
          </p:nvSpPr>
          <p:spPr>
            <a:xfrm>
              <a:off x="5093375" y="2900839"/>
              <a:ext cx="4443770" cy="207764"/>
            </a:xfrm>
            <a:prstGeom prst="rect">
              <a:avLst/>
            </a:prstGeom>
            <a:noFill/>
            <a:ln/>
          </p:spPr>
          <p:txBody>
            <a:bodyPr wrap="none" lIns="0" tIns="0" rIns="0" bIns="0" rtlCol="0" anchor="t"/>
            <a:lstStyle/>
            <a:p>
              <a:pPr marL="0" indent="0" algn="r" rtl="1">
                <a:lnSpc>
                  <a:spcPts val="1600"/>
                </a:lnSpc>
                <a:buNone/>
              </a:pPr>
              <a:r>
                <a:rPr lang="en-US" sz="1000" dirty="0">
                  <a:solidFill>
                    <a:schemeClr val="bg2"/>
                  </a:solidFill>
                  <a:latin typeface="Inter" pitchFamily="34" charset="0"/>
                  <a:ea typeface="Inter" pitchFamily="34" charset="-122"/>
                  <a:cs typeface="B Nazanin" panose="00000400000000000000" pitchFamily="2" charset="-78"/>
                </a:rPr>
                <a:t>تصمیم‌گیری مستقل و عدم وابستگی</a:t>
              </a:r>
              <a:endParaRPr lang="en-US" sz="1000" dirty="0">
                <a:solidFill>
                  <a:schemeClr val="bg2"/>
                </a:solidFill>
                <a:cs typeface="B Nazanin" panose="00000400000000000000" pitchFamily="2" charset="-78"/>
              </a:endParaRPr>
            </a:p>
          </p:txBody>
        </p:sp>
        <p:sp>
          <p:nvSpPr>
            <p:cNvPr id="26" name="Text 11">
              <a:extLst>
                <a:ext uri="{FF2B5EF4-FFF2-40B4-BE49-F238E27FC236}">
                  <a16:creationId xmlns:a16="http://schemas.microsoft.com/office/drawing/2014/main" id="{2C4D5A27-72B1-4095-8A56-79452362CEE8}"/>
                </a:ext>
              </a:extLst>
            </p:cNvPr>
            <p:cNvSpPr/>
            <p:nvPr/>
          </p:nvSpPr>
          <p:spPr>
            <a:xfrm>
              <a:off x="4833580" y="2319099"/>
              <a:ext cx="129897" cy="162401"/>
            </a:xfrm>
            <a:prstGeom prst="rect">
              <a:avLst/>
            </a:prstGeom>
            <a:noFill/>
            <a:ln/>
          </p:spPr>
          <p:txBody>
            <a:bodyPr wrap="none" lIns="0" tIns="0" rIns="0" bIns="0" rtlCol="0" anchor="t"/>
            <a:lstStyle/>
            <a:p>
              <a:pPr marL="0" indent="0" algn="l" rtl="1">
                <a:lnSpc>
                  <a:spcPts val="1600"/>
                </a:lnSpc>
                <a:buNone/>
              </a:pPr>
              <a:r>
                <a:rPr lang="en-US" sz="1000" dirty="0">
                  <a:solidFill>
                    <a:schemeClr val="bg2"/>
                  </a:solidFill>
                  <a:latin typeface="Inter Light" pitchFamily="34" charset="0"/>
                  <a:ea typeface="Inter Light" pitchFamily="34" charset="-122"/>
                  <a:cs typeface="B Nazanin" panose="00000400000000000000" pitchFamily="2" charset="-78"/>
                </a:rPr>
                <a:t>03</a:t>
              </a:r>
              <a:endParaRPr lang="en-US" sz="1000" dirty="0">
                <a:solidFill>
                  <a:schemeClr val="bg2"/>
                </a:solidFill>
                <a:cs typeface="B Nazanin" panose="00000400000000000000" pitchFamily="2" charset="-78"/>
              </a:endParaRPr>
            </a:p>
          </p:txBody>
        </p:sp>
        <p:sp>
          <p:nvSpPr>
            <p:cNvPr id="27" name="Shape 12">
              <a:extLst>
                <a:ext uri="{FF2B5EF4-FFF2-40B4-BE49-F238E27FC236}">
                  <a16:creationId xmlns:a16="http://schemas.microsoft.com/office/drawing/2014/main" id="{9E06A4F3-1E93-7E67-2322-2A002E4C1B76}"/>
                </a:ext>
              </a:extLst>
            </p:cNvPr>
            <p:cNvSpPr/>
            <p:nvPr/>
          </p:nvSpPr>
          <p:spPr>
            <a:xfrm>
              <a:off x="519708" y="2524601"/>
              <a:ext cx="4443770" cy="15240"/>
            </a:xfrm>
            <a:prstGeom prst="rect">
              <a:avLst/>
            </a:prstGeom>
            <a:solidFill>
              <a:srgbClr val="4950BC"/>
            </a:solidFill>
            <a:ln/>
          </p:spPr>
        </p:sp>
        <p:sp>
          <p:nvSpPr>
            <p:cNvPr id="28" name="Text 13">
              <a:extLst>
                <a:ext uri="{FF2B5EF4-FFF2-40B4-BE49-F238E27FC236}">
                  <a16:creationId xmlns:a16="http://schemas.microsoft.com/office/drawing/2014/main" id="{D87A0C73-2298-15F3-CA0B-201EC7168A47}"/>
                </a:ext>
              </a:extLst>
            </p:cNvPr>
            <p:cNvSpPr/>
            <p:nvPr/>
          </p:nvSpPr>
          <p:spPr>
            <a:xfrm>
              <a:off x="3339227" y="2619970"/>
              <a:ext cx="1624251" cy="203002"/>
            </a:xfrm>
            <a:prstGeom prst="rect">
              <a:avLst/>
            </a:prstGeom>
            <a:noFill/>
            <a:ln/>
          </p:spPr>
          <p:txBody>
            <a:bodyPr wrap="none" lIns="0" tIns="0" rIns="0" bIns="0" rtlCol="0" anchor="t"/>
            <a:lstStyle/>
            <a:p>
              <a:pPr marL="0" indent="0" algn="r" rtl="1">
                <a:lnSpc>
                  <a:spcPts val="1550"/>
                </a:lnSpc>
                <a:buNone/>
              </a:pPr>
              <a:r>
                <a:rPr lang="en-US" sz="1250" b="1" dirty="0">
                  <a:solidFill>
                    <a:schemeClr val="bg2"/>
                  </a:solidFill>
                  <a:latin typeface="Inter Bold" pitchFamily="34" charset="0"/>
                  <a:ea typeface="Inter Bold" pitchFamily="34" charset="-122"/>
                  <a:cs typeface="B Nazanin" panose="00000400000000000000" pitchFamily="2" charset="-78"/>
                </a:rPr>
                <a:t>اقتصاد مقاومتی</a:t>
              </a:r>
              <a:endParaRPr lang="en-US" sz="1250" dirty="0">
                <a:solidFill>
                  <a:schemeClr val="bg2"/>
                </a:solidFill>
                <a:cs typeface="B Nazanin" panose="00000400000000000000" pitchFamily="2" charset="-78"/>
              </a:endParaRPr>
            </a:p>
          </p:txBody>
        </p:sp>
        <p:sp>
          <p:nvSpPr>
            <p:cNvPr id="45" name="Text 14">
              <a:extLst>
                <a:ext uri="{FF2B5EF4-FFF2-40B4-BE49-F238E27FC236}">
                  <a16:creationId xmlns:a16="http://schemas.microsoft.com/office/drawing/2014/main" id="{5A2DFDED-05DB-B7EA-7C35-C50D70175FF6}"/>
                </a:ext>
              </a:extLst>
            </p:cNvPr>
            <p:cNvSpPr/>
            <p:nvPr/>
          </p:nvSpPr>
          <p:spPr>
            <a:xfrm>
              <a:off x="519708" y="2900839"/>
              <a:ext cx="4443770" cy="207764"/>
            </a:xfrm>
            <a:prstGeom prst="rect">
              <a:avLst/>
            </a:prstGeom>
            <a:noFill/>
            <a:ln/>
          </p:spPr>
          <p:txBody>
            <a:bodyPr wrap="none" lIns="0" tIns="0" rIns="0" bIns="0" rtlCol="0" anchor="t"/>
            <a:lstStyle/>
            <a:p>
              <a:pPr marL="0" indent="0" algn="r" rtl="1">
                <a:lnSpc>
                  <a:spcPts val="1600"/>
                </a:lnSpc>
                <a:buNone/>
              </a:pPr>
              <a:r>
                <a:rPr lang="en-US" sz="1000" dirty="0">
                  <a:solidFill>
                    <a:schemeClr val="bg2"/>
                  </a:solidFill>
                  <a:latin typeface="Inter" pitchFamily="34" charset="0"/>
                  <a:ea typeface="Inter" pitchFamily="34" charset="-122"/>
                  <a:cs typeface="B Nazanin" panose="00000400000000000000" pitchFamily="2" charset="-78"/>
                </a:rPr>
                <a:t>تنوع درآمد و کاهش آسیب‌پذیری</a:t>
              </a:r>
              <a:endParaRPr lang="en-US" sz="1000" dirty="0">
                <a:solidFill>
                  <a:schemeClr val="bg2"/>
                </a:solidFill>
                <a:cs typeface="B Nazanin" panose="00000400000000000000" pitchFamily="2" charset="-78"/>
              </a:endParaRPr>
            </a:p>
          </p:txBody>
        </p:sp>
        <p:sp>
          <p:nvSpPr>
            <p:cNvPr id="47" name="Text 15">
              <a:extLst>
                <a:ext uri="{FF2B5EF4-FFF2-40B4-BE49-F238E27FC236}">
                  <a16:creationId xmlns:a16="http://schemas.microsoft.com/office/drawing/2014/main" id="{0C8203B6-9FAB-F621-9206-F5C2547B073E}"/>
                </a:ext>
              </a:extLst>
            </p:cNvPr>
            <p:cNvSpPr/>
            <p:nvPr/>
          </p:nvSpPr>
          <p:spPr>
            <a:xfrm>
              <a:off x="13980795" y="3335893"/>
              <a:ext cx="129897" cy="162401"/>
            </a:xfrm>
            <a:prstGeom prst="rect">
              <a:avLst/>
            </a:prstGeom>
            <a:noFill/>
            <a:ln/>
          </p:spPr>
          <p:txBody>
            <a:bodyPr wrap="none" lIns="0" tIns="0" rIns="0" bIns="0" rtlCol="0" anchor="t"/>
            <a:lstStyle/>
            <a:p>
              <a:pPr marL="0" indent="0" algn="l" rtl="1">
                <a:lnSpc>
                  <a:spcPts val="1600"/>
                </a:lnSpc>
                <a:buNone/>
              </a:pPr>
              <a:r>
                <a:rPr lang="en-US" sz="1000" dirty="0">
                  <a:solidFill>
                    <a:schemeClr val="bg2"/>
                  </a:solidFill>
                  <a:latin typeface="Inter Light" pitchFamily="34" charset="0"/>
                  <a:ea typeface="Inter Light" pitchFamily="34" charset="-122"/>
                  <a:cs typeface="B Nazanin" panose="00000400000000000000" pitchFamily="2" charset="-78"/>
                </a:rPr>
                <a:t>04</a:t>
              </a:r>
              <a:endParaRPr lang="en-US" sz="1000" dirty="0">
                <a:solidFill>
                  <a:schemeClr val="bg2"/>
                </a:solidFill>
                <a:cs typeface="B Nazanin" panose="00000400000000000000" pitchFamily="2" charset="-78"/>
              </a:endParaRPr>
            </a:p>
          </p:txBody>
        </p:sp>
        <p:sp>
          <p:nvSpPr>
            <p:cNvPr id="48" name="Shape 16">
              <a:extLst>
                <a:ext uri="{FF2B5EF4-FFF2-40B4-BE49-F238E27FC236}">
                  <a16:creationId xmlns:a16="http://schemas.microsoft.com/office/drawing/2014/main" id="{8C401B5F-8CC4-0364-5585-13C66A8C863C}"/>
                </a:ext>
              </a:extLst>
            </p:cNvPr>
            <p:cNvSpPr/>
            <p:nvPr/>
          </p:nvSpPr>
          <p:spPr>
            <a:xfrm>
              <a:off x="7380208" y="3541395"/>
              <a:ext cx="6730484" cy="15240"/>
            </a:xfrm>
            <a:prstGeom prst="rect">
              <a:avLst/>
            </a:prstGeom>
            <a:solidFill>
              <a:srgbClr val="4950BC"/>
            </a:solidFill>
            <a:ln/>
          </p:spPr>
        </p:sp>
        <p:sp>
          <p:nvSpPr>
            <p:cNvPr id="49" name="Text 17">
              <a:extLst>
                <a:ext uri="{FF2B5EF4-FFF2-40B4-BE49-F238E27FC236}">
                  <a16:creationId xmlns:a16="http://schemas.microsoft.com/office/drawing/2014/main" id="{A4B05258-0BC5-6E06-ECFA-3AA0C2DBDEB3}"/>
                </a:ext>
              </a:extLst>
            </p:cNvPr>
            <p:cNvSpPr/>
            <p:nvPr/>
          </p:nvSpPr>
          <p:spPr>
            <a:xfrm>
              <a:off x="12486442" y="3636764"/>
              <a:ext cx="1624251" cy="203002"/>
            </a:xfrm>
            <a:prstGeom prst="rect">
              <a:avLst/>
            </a:prstGeom>
            <a:noFill/>
            <a:ln/>
          </p:spPr>
          <p:txBody>
            <a:bodyPr wrap="none" lIns="0" tIns="0" rIns="0" bIns="0" rtlCol="0" anchor="t"/>
            <a:lstStyle/>
            <a:p>
              <a:pPr marL="0" indent="0" algn="r" rtl="1">
                <a:lnSpc>
                  <a:spcPts val="1550"/>
                </a:lnSpc>
                <a:buNone/>
              </a:pPr>
              <a:r>
                <a:rPr lang="en-US" sz="1250" b="1" dirty="0">
                  <a:solidFill>
                    <a:schemeClr val="bg2"/>
                  </a:solidFill>
                  <a:latin typeface="Inter Bold" pitchFamily="34" charset="0"/>
                  <a:ea typeface="Inter Bold" pitchFamily="34" charset="-122"/>
                  <a:cs typeface="B Nazanin" panose="00000400000000000000" pitchFamily="2" charset="-78"/>
                </a:rPr>
                <a:t>اتحاد ملی</a:t>
              </a:r>
              <a:endParaRPr lang="en-US" sz="1250" dirty="0">
                <a:solidFill>
                  <a:schemeClr val="bg2"/>
                </a:solidFill>
                <a:cs typeface="B Nazanin" panose="00000400000000000000" pitchFamily="2" charset="-78"/>
              </a:endParaRPr>
            </a:p>
          </p:txBody>
        </p:sp>
        <p:sp>
          <p:nvSpPr>
            <p:cNvPr id="50" name="Text 18">
              <a:extLst>
                <a:ext uri="{FF2B5EF4-FFF2-40B4-BE49-F238E27FC236}">
                  <a16:creationId xmlns:a16="http://schemas.microsoft.com/office/drawing/2014/main" id="{DDC1EFBC-4936-1CA3-5DCD-AA9E93B0BE2E}"/>
                </a:ext>
              </a:extLst>
            </p:cNvPr>
            <p:cNvSpPr/>
            <p:nvPr/>
          </p:nvSpPr>
          <p:spPr>
            <a:xfrm>
              <a:off x="7380208" y="3917633"/>
              <a:ext cx="6730484" cy="207764"/>
            </a:xfrm>
            <a:prstGeom prst="rect">
              <a:avLst/>
            </a:prstGeom>
            <a:noFill/>
            <a:ln/>
          </p:spPr>
          <p:txBody>
            <a:bodyPr wrap="none" lIns="0" tIns="0" rIns="0" bIns="0" rtlCol="0" anchor="t"/>
            <a:lstStyle/>
            <a:p>
              <a:pPr marL="0" indent="0" algn="r" rtl="1">
                <a:lnSpc>
                  <a:spcPts val="1600"/>
                </a:lnSpc>
                <a:buNone/>
              </a:pPr>
              <a:r>
                <a:rPr lang="en-US" sz="1000" dirty="0">
                  <a:solidFill>
                    <a:schemeClr val="bg2"/>
                  </a:solidFill>
                  <a:latin typeface="Inter" pitchFamily="34" charset="0"/>
                  <a:ea typeface="Inter" pitchFamily="34" charset="-122"/>
                  <a:cs typeface="B Nazanin" panose="00000400000000000000" pitchFamily="2" charset="-78"/>
                </a:rPr>
                <a:t>همبستگی در برابر چالش‌های خارجی</a:t>
              </a:r>
              <a:endParaRPr lang="en-US" sz="1000" dirty="0">
                <a:solidFill>
                  <a:schemeClr val="bg2"/>
                </a:solidFill>
                <a:cs typeface="B Nazanin" panose="00000400000000000000" pitchFamily="2" charset="-78"/>
              </a:endParaRPr>
            </a:p>
          </p:txBody>
        </p:sp>
        <p:sp>
          <p:nvSpPr>
            <p:cNvPr id="53" name="Text 19">
              <a:extLst>
                <a:ext uri="{FF2B5EF4-FFF2-40B4-BE49-F238E27FC236}">
                  <a16:creationId xmlns:a16="http://schemas.microsoft.com/office/drawing/2014/main" id="{C3A20306-A778-36E0-C15D-48FEE0C3B59A}"/>
                </a:ext>
              </a:extLst>
            </p:cNvPr>
            <p:cNvSpPr/>
            <p:nvPr/>
          </p:nvSpPr>
          <p:spPr>
            <a:xfrm>
              <a:off x="7120414" y="3335893"/>
              <a:ext cx="129897" cy="162401"/>
            </a:xfrm>
            <a:prstGeom prst="rect">
              <a:avLst/>
            </a:prstGeom>
            <a:noFill/>
            <a:ln/>
          </p:spPr>
          <p:txBody>
            <a:bodyPr wrap="none" lIns="0" tIns="0" rIns="0" bIns="0" rtlCol="0" anchor="t"/>
            <a:lstStyle/>
            <a:p>
              <a:pPr marL="0" indent="0" algn="l" rtl="1">
                <a:lnSpc>
                  <a:spcPts val="1600"/>
                </a:lnSpc>
                <a:buNone/>
              </a:pPr>
              <a:r>
                <a:rPr lang="en-US" sz="1000" dirty="0">
                  <a:solidFill>
                    <a:schemeClr val="bg2"/>
                  </a:solidFill>
                  <a:latin typeface="Inter Light" pitchFamily="34" charset="0"/>
                  <a:ea typeface="Inter Light" pitchFamily="34" charset="-122"/>
                  <a:cs typeface="B Nazanin" panose="00000400000000000000" pitchFamily="2" charset="-78"/>
                </a:rPr>
                <a:t>05</a:t>
              </a:r>
              <a:endParaRPr lang="en-US" sz="1000" dirty="0">
                <a:solidFill>
                  <a:schemeClr val="bg2"/>
                </a:solidFill>
                <a:cs typeface="B Nazanin" panose="00000400000000000000" pitchFamily="2" charset="-78"/>
              </a:endParaRPr>
            </a:p>
          </p:txBody>
        </p:sp>
        <p:sp>
          <p:nvSpPr>
            <p:cNvPr id="54" name="Shape 20">
              <a:extLst>
                <a:ext uri="{FF2B5EF4-FFF2-40B4-BE49-F238E27FC236}">
                  <a16:creationId xmlns:a16="http://schemas.microsoft.com/office/drawing/2014/main" id="{1C1B0699-05B2-3228-A5D6-CE06264A278E}"/>
                </a:ext>
              </a:extLst>
            </p:cNvPr>
            <p:cNvSpPr/>
            <p:nvPr/>
          </p:nvSpPr>
          <p:spPr>
            <a:xfrm>
              <a:off x="519708" y="3541395"/>
              <a:ext cx="6730603" cy="15240"/>
            </a:xfrm>
            <a:prstGeom prst="rect">
              <a:avLst/>
            </a:prstGeom>
            <a:solidFill>
              <a:srgbClr val="4950BC"/>
            </a:solidFill>
            <a:ln/>
          </p:spPr>
        </p:sp>
        <p:sp>
          <p:nvSpPr>
            <p:cNvPr id="55" name="Text 21">
              <a:extLst>
                <a:ext uri="{FF2B5EF4-FFF2-40B4-BE49-F238E27FC236}">
                  <a16:creationId xmlns:a16="http://schemas.microsoft.com/office/drawing/2014/main" id="{C6A1C944-3D0A-183D-6A6A-33BCDAB3A3D0}"/>
                </a:ext>
              </a:extLst>
            </p:cNvPr>
            <p:cNvSpPr/>
            <p:nvPr/>
          </p:nvSpPr>
          <p:spPr>
            <a:xfrm>
              <a:off x="5626060" y="3636764"/>
              <a:ext cx="1624251" cy="203002"/>
            </a:xfrm>
            <a:prstGeom prst="rect">
              <a:avLst/>
            </a:prstGeom>
            <a:noFill/>
            <a:ln/>
          </p:spPr>
          <p:txBody>
            <a:bodyPr wrap="none" lIns="0" tIns="0" rIns="0" bIns="0" rtlCol="0" anchor="t"/>
            <a:lstStyle/>
            <a:p>
              <a:pPr marL="0" indent="0" algn="r" rtl="1">
                <a:lnSpc>
                  <a:spcPts val="1550"/>
                </a:lnSpc>
                <a:buNone/>
              </a:pPr>
              <a:r>
                <a:rPr lang="en-US" sz="1250" b="1" dirty="0">
                  <a:solidFill>
                    <a:schemeClr val="bg2"/>
                  </a:solidFill>
                  <a:latin typeface="Inter Bold" pitchFamily="34" charset="0"/>
                  <a:ea typeface="Inter Bold" pitchFamily="34" charset="-122"/>
                  <a:cs typeface="B Nazanin" panose="00000400000000000000" pitchFamily="2" charset="-78"/>
                </a:rPr>
                <a:t>دیپلماسی فعال</a:t>
              </a:r>
              <a:endParaRPr lang="en-US" sz="1250" dirty="0">
                <a:solidFill>
                  <a:schemeClr val="bg2"/>
                </a:solidFill>
                <a:cs typeface="B Nazanin" panose="00000400000000000000" pitchFamily="2" charset="-78"/>
              </a:endParaRPr>
            </a:p>
          </p:txBody>
        </p:sp>
        <p:sp>
          <p:nvSpPr>
            <p:cNvPr id="56" name="Text 22">
              <a:extLst>
                <a:ext uri="{FF2B5EF4-FFF2-40B4-BE49-F238E27FC236}">
                  <a16:creationId xmlns:a16="http://schemas.microsoft.com/office/drawing/2014/main" id="{6776B61A-BDA2-998E-DD0D-55D30DB89A78}"/>
                </a:ext>
              </a:extLst>
            </p:cNvPr>
            <p:cNvSpPr/>
            <p:nvPr/>
          </p:nvSpPr>
          <p:spPr>
            <a:xfrm>
              <a:off x="519708" y="3917633"/>
              <a:ext cx="6730603" cy="207764"/>
            </a:xfrm>
            <a:prstGeom prst="rect">
              <a:avLst/>
            </a:prstGeom>
            <a:noFill/>
            <a:ln/>
          </p:spPr>
          <p:txBody>
            <a:bodyPr wrap="none" lIns="0" tIns="0" rIns="0" bIns="0" rtlCol="0" anchor="t"/>
            <a:lstStyle/>
            <a:p>
              <a:pPr marL="0" indent="0" algn="r" rtl="1">
                <a:lnSpc>
                  <a:spcPts val="1600"/>
                </a:lnSpc>
                <a:buNone/>
              </a:pPr>
              <a:r>
                <a:rPr lang="en-US" sz="1000" dirty="0">
                  <a:solidFill>
                    <a:schemeClr val="bg2"/>
                  </a:solidFill>
                  <a:latin typeface="Inter" pitchFamily="34" charset="0"/>
                  <a:ea typeface="Inter" pitchFamily="34" charset="-122"/>
                  <a:cs typeface="B Nazanin" panose="00000400000000000000" pitchFamily="2" charset="-78"/>
                </a:rPr>
                <a:t>ایجاد تعامل سازنده با همسایگان</a:t>
              </a:r>
              <a:endParaRPr lang="en-US" sz="1000" dirty="0">
                <a:solidFill>
                  <a:schemeClr val="bg2"/>
                </a:solidFill>
                <a:cs typeface="B Nazanin" panose="00000400000000000000" pitchFamily="2" charset="-78"/>
              </a:endParaRPr>
            </a:p>
          </p:txBody>
        </p:sp>
        <p:sp>
          <p:nvSpPr>
            <p:cNvPr id="57" name="Text 23">
              <a:extLst>
                <a:ext uri="{FF2B5EF4-FFF2-40B4-BE49-F238E27FC236}">
                  <a16:creationId xmlns:a16="http://schemas.microsoft.com/office/drawing/2014/main" id="{D67B8CA5-3E31-7E6F-5D0E-59974D4D39E3}"/>
                </a:ext>
              </a:extLst>
            </p:cNvPr>
            <p:cNvSpPr/>
            <p:nvPr/>
          </p:nvSpPr>
          <p:spPr>
            <a:xfrm>
              <a:off x="5207675" y="4498777"/>
              <a:ext cx="1949053" cy="243602"/>
            </a:xfrm>
            <a:prstGeom prst="rect">
              <a:avLst/>
            </a:prstGeom>
            <a:noFill/>
            <a:ln/>
          </p:spPr>
          <p:txBody>
            <a:bodyPr wrap="none" lIns="0" tIns="0" rIns="0" bIns="0" rtlCol="0" anchor="t"/>
            <a:lstStyle/>
            <a:p>
              <a:pPr marL="0" indent="0" algn="r" rtl="1">
                <a:lnSpc>
                  <a:spcPts val="1900"/>
                </a:lnSpc>
                <a:buNone/>
              </a:pPr>
              <a:r>
                <a:rPr lang="en-US" sz="1500" b="1" dirty="0">
                  <a:solidFill>
                    <a:schemeClr val="bg2"/>
                  </a:solidFill>
                  <a:latin typeface="Inter Bold" pitchFamily="34" charset="0"/>
                  <a:ea typeface="Inter Bold" pitchFamily="34" charset="-122"/>
                  <a:cs typeface="B Nazanin" panose="00000400000000000000" pitchFamily="2" charset="-78"/>
                </a:rPr>
                <a:t>یادگیری از تاریخ</a:t>
              </a:r>
              <a:endParaRPr lang="en-US" sz="1500" dirty="0">
                <a:solidFill>
                  <a:schemeClr val="bg2"/>
                </a:solidFill>
                <a:cs typeface="B Nazanin" panose="00000400000000000000" pitchFamily="2" charset="-78"/>
              </a:endParaRPr>
            </a:p>
          </p:txBody>
        </p:sp>
        <p:sp>
          <p:nvSpPr>
            <p:cNvPr id="58" name="Text 24">
              <a:extLst>
                <a:ext uri="{FF2B5EF4-FFF2-40B4-BE49-F238E27FC236}">
                  <a16:creationId xmlns:a16="http://schemas.microsoft.com/office/drawing/2014/main" id="{2072943E-D9D7-EA7A-F986-A77608D94A35}"/>
                </a:ext>
              </a:extLst>
            </p:cNvPr>
            <p:cNvSpPr/>
            <p:nvPr/>
          </p:nvSpPr>
          <p:spPr>
            <a:xfrm>
              <a:off x="519708" y="4872276"/>
              <a:ext cx="6637020" cy="415528"/>
            </a:xfrm>
            <a:prstGeom prst="rect">
              <a:avLst/>
            </a:prstGeom>
            <a:noFill/>
            <a:ln/>
          </p:spPr>
          <p:txBody>
            <a:bodyPr wrap="square" lIns="0" tIns="0" rIns="0" bIns="0" rtlCol="0" anchor="t"/>
            <a:lstStyle/>
            <a:p>
              <a:pPr marL="0" indent="0" algn="r" rtl="1">
                <a:lnSpc>
                  <a:spcPts val="1600"/>
                </a:lnSpc>
                <a:buNone/>
              </a:pPr>
              <a:r>
                <a:rPr lang="en-US" sz="1000" dirty="0">
                  <a:solidFill>
                    <a:schemeClr val="bg2"/>
                  </a:solidFill>
                  <a:latin typeface="Inter" pitchFamily="34" charset="0"/>
                  <a:ea typeface="Inter" pitchFamily="34" charset="-122"/>
                  <a:cs typeface="B Nazanin" panose="00000400000000000000" pitchFamily="2" charset="-78"/>
                </a:rPr>
                <a:t>جنگ تحمیلی نشان داد که در نظام بین‌المللی، منافع ملی ابرقدرت‌ها بر ارزش‌های انسانی و عدالت اولویت دارد. استقلال واقعی تنها از طریق اتکا به توان داخلی و استفاده هوشمندانه از منابع ملی حاصل می‌شود.</a:t>
              </a:r>
              <a:endParaRPr lang="en-US" sz="1000" dirty="0">
                <a:solidFill>
                  <a:schemeClr val="bg2"/>
                </a:solidFill>
                <a:cs typeface="B Nazanin" panose="00000400000000000000" pitchFamily="2" charset="-78"/>
              </a:endParaRPr>
            </a:p>
          </p:txBody>
        </p:sp>
        <p:sp>
          <p:nvSpPr>
            <p:cNvPr id="59" name="Text 25">
              <a:extLst>
                <a:ext uri="{FF2B5EF4-FFF2-40B4-BE49-F238E27FC236}">
                  <a16:creationId xmlns:a16="http://schemas.microsoft.com/office/drawing/2014/main" id="{3EF86A97-71D8-0054-1D58-67D2083CADEF}"/>
                </a:ext>
              </a:extLst>
            </p:cNvPr>
            <p:cNvSpPr/>
            <p:nvPr/>
          </p:nvSpPr>
          <p:spPr>
            <a:xfrm>
              <a:off x="519708" y="5404723"/>
              <a:ext cx="6637020" cy="415528"/>
            </a:xfrm>
            <a:prstGeom prst="rect">
              <a:avLst/>
            </a:prstGeom>
            <a:noFill/>
            <a:ln/>
          </p:spPr>
          <p:txBody>
            <a:bodyPr wrap="square" lIns="0" tIns="0" rIns="0" bIns="0" rtlCol="0" anchor="t"/>
            <a:lstStyle/>
            <a:p>
              <a:pPr marL="0" indent="0" algn="r" rtl="1">
                <a:lnSpc>
                  <a:spcPts val="1600"/>
                </a:lnSpc>
                <a:buNone/>
              </a:pPr>
              <a:r>
                <a:rPr lang="en-US" sz="1000" dirty="0">
                  <a:solidFill>
                    <a:schemeClr val="bg2"/>
                  </a:solidFill>
                  <a:latin typeface="Inter" pitchFamily="34" charset="0"/>
                  <a:ea typeface="Inter" pitchFamily="34" charset="-122"/>
                  <a:cs typeface="B Nazanin" panose="00000400000000000000" pitchFamily="2" charset="-78"/>
                </a:rPr>
                <a:t>همچنین اهمیت حفظ اتحاد ملی و همبستگی اجتماعی در برابر تهدیدات خارجی روشن شد. مردمی که در دفاع از میهن خود متحد باشند، می‌توانند در برابر بزرگ‌ترین چالش‌ها ایستادگی کنند.</a:t>
              </a:r>
              <a:endParaRPr lang="en-US" sz="1000" dirty="0">
                <a:solidFill>
                  <a:schemeClr val="bg2"/>
                </a:solidFill>
                <a:cs typeface="B Nazanin" panose="00000400000000000000" pitchFamily="2" charset="-78"/>
              </a:endParaRPr>
            </a:p>
          </p:txBody>
        </p:sp>
        <p:sp>
          <p:nvSpPr>
            <p:cNvPr id="60" name="Text 26">
              <a:extLst>
                <a:ext uri="{FF2B5EF4-FFF2-40B4-BE49-F238E27FC236}">
                  <a16:creationId xmlns:a16="http://schemas.microsoft.com/office/drawing/2014/main" id="{67561E7A-866A-3732-5647-379F92C74968}"/>
                </a:ext>
              </a:extLst>
            </p:cNvPr>
            <p:cNvSpPr/>
            <p:nvPr/>
          </p:nvSpPr>
          <p:spPr>
            <a:xfrm>
              <a:off x="12169259" y="4498777"/>
              <a:ext cx="1949053" cy="243602"/>
            </a:xfrm>
            <a:prstGeom prst="rect">
              <a:avLst/>
            </a:prstGeom>
            <a:noFill/>
            <a:ln/>
          </p:spPr>
          <p:txBody>
            <a:bodyPr wrap="none" lIns="0" tIns="0" rIns="0" bIns="0" rtlCol="0" anchor="t"/>
            <a:lstStyle/>
            <a:p>
              <a:pPr marL="0" indent="0" algn="r" rtl="1">
                <a:lnSpc>
                  <a:spcPts val="1900"/>
                </a:lnSpc>
                <a:buNone/>
              </a:pPr>
              <a:r>
                <a:rPr lang="en-US" sz="1500" b="1" dirty="0">
                  <a:solidFill>
                    <a:schemeClr val="bg2"/>
                  </a:solidFill>
                  <a:latin typeface="Inter Bold" pitchFamily="34" charset="0"/>
                  <a:ea typeface="Inter Bold" pitchFamily="34" charset="-122"/>
                  <a:cs typeface="B Nazanin" panose="00000400000000000000" pitchFamily="2" charset="-78"/>
                </a:rPr>
                <a:t>چشم‌انداز آینده</a:t>
              </a:r>
              <a:endParaRPr lang="en-US" sz="1500" dirty="0">
                <a:solidFill>
                  <a:schemeClr val="bg2"/>
                </a:solidFill>
                <a:cs typeface="B Nazanin" panose="00000400000000000000" pitchFamily="2" charset="-78"/>
              </a:endParaRPr>
            </a:p>
          </p:txBody>
        </p:sp>
        <p:sp>
          <p:nvSpPr>
            <p:cNvPr id="61" name="Text 27">
              <a:extLst>
                <a:ext uri="{FF2B5EF4-FFF2-40B4-BE49-F238E27FC236}">
                  <a16:creationId xmlns:a16="http://schemas.microsoft.com/office/drawing/2014/main" id="{58658389-9392-86F6-D59D-83123BEE9B5B}"/>
                </a:ext>
              </a:extLst>
            </p:cNvPr>
            <p:cNvSpPr/>
            <p:nvPr/>
          </p:nvSpPr>
          <p:spPr>
            <a:xfrm>
              <a:off x="7481292" y="4872276"/>
              <a:ext cx="6637020" cy="415528"/>
            </a:xfrm>
            <a:prstGeom prst="rect">
              <a:avLst/>
            </a:prstGeom>
            <a:noFill/>
            <a:ln/>
          </p:spPr>
          <p:txBody>
            <a:bodyPr wrap="square" lIns="0" tIns="0" rIns="0" bIns="0" rtlCol="0" anchor="t"/>
            <a:lstStyle/>
            <a:p>
              <a:pPr marL="0" indent="0" algn="r" rtl="1">
                <a:lnSpc>
                  <a:spcPts val="1600"/>
                </a:lnSpc>
                <a:buNone/>
              </a:pPr>
              <a:r>
                <a:rPr lang="en-US" sz="1000" dirty="0">
                  <a:solidFill>
                    <a:schemeClr val="bg2"/>
                  </a:solidFill>
                  <a:latin typeface="Inter" pitchFamily="34" charset="0"/>
                  <a:ea typeface="Inter" pitchFamily="34" charset="-122"/>
                  <a:cs typeface="B Nazanin" panose="00000400000000000000" pitchFamily="2" charset="-78"/>
                </a:rPr>
                <a:t>با عبرت از تجربیات گذشته، لازم است ایران در مسیر توسعه همه‌جانبه قرار گیرد. این توسعه باید شامل تقویت صنایع دفاعی، رشد اقتصادی پایدار، ارتقای سطح علمی و فناوری و بهبود جایگاه بین‌المللی باشد.</a:t>
              </a:r>
              <a:endParaRPr lang="en-US" sz="1000" dirty="0">
                <a:solidFill>
                  <a:schemeClr val="bg2"/>
                </a:solidFill>
                <a:cs typeface="B Nazanin" panose="00000400000000000000" pitchFamily="2" charset="-78"/>
              </a:endParaRPr>
            </a:p>
          </p:txBody>
        </p:sp>
        <p:sp>
          <p:nvSpPr>
            <p:cNvPr id="62" name="Text 28">
              <a:extLst>
                <a:ext uri="{FF2B5EF4-FFF2-40B4-BE49-F238E27FC236}">
                  <a16:creationId xmlns:a16="http://schemas.microsoft.com/office/drawing/2014/main" id="{723EB3D1-D1DF-8B24-C767-8F9DDB930EEC}"/>
                </a:ext>
              </a:extLst>
            </p:cNvPr>
            <p:cNvSpPr/>
            <p:nvPr/>
          </p:nvSpPr>
          <p:spPr>
            <a:xfrm>
              <a:off x="7481292" y="5404723"/>
              <a:ext cx="6637020" cy="415528"/>
            </a:xfrm>
            <a:prstGeom prst="rect">
              <a:avLst/>
            </a:prstGeom>
            <a:noFill/>
            <a:ln/>
          </p:spPr>
          <p:txBody>
            <a:bodyPr wrap="square" lIns="0" tIns="0" rIns="0" bIns="0" rtlCol="0" anchor="t"/>
            <a:lstStyle/>
            <a:p>
              <a:pPr marL="0" indent="0" algn="r" rtl="1">
                <a:lnSpc>
                  <a:spcPts val="1600"/>
                </a:lnSpc>
                <a:buNone/>
              </a:pPr>
              <a:r>
                <a:rPr lang="en-US" sz="1000" dirty="0">
                  <a:solidFill>
                    <a:schemeClr val="bg2"/>
                  </a:solidFill>
                  <a:latin typeface="Inter" pitchFamily="34" charset="0"/>
                  <a:ea typeface="Inter" pitchFamily="34" charset="-122"/>
                  <a:cs typeface="B Nazanin" panose="00000400000000000000" pitchFamily="2" charset="-78"/>
                </a:rPr>
                <a:t>در عین حال، حفظ استقلال و عدم وابستگی به قدرت‌های خارجی باید همچنان اصل اساسی سیاست خارجی باقی بماند، همراه با تعامل سازنده و دیپلماسی هوشمندانه.</a:t>
              </a:r>
              <a:endParaRPr lang="en-US" sz="1000" dirty="0">
                <a:solidFill>
                  <a:schemeClr val="bg2"/>
                </a:solidFill>
                <a:cs typeface="B Nazanin" panose="00000400000000000000" pitchFamily="2" charset="-78"/>
              </a:endParaRPr>
            </a:p>
          </p:txBody>
        </p:sp>
        <p:sp>
          <p:nvSpPr>
            <p:cNvPr id="63" name="Text 29">
              <a:extLst>
                <a:ext uri="{FF2B5EF4-FFF2-40B4-BE49-F238E27FC236}">
                  <a16:creationId xmlns:a16="http://schemas.microsoft.com/office/drawing/2014/main" id="{37C2A549-6F8F-CB5E-7A5E-4D6CF3F3F350}"/>
                </a:ext>
              </a:extLst>
            </p:cNvPr>
            <p:cNvSpPr/>
            <p:nvPr/>
          </p:nvSpPr>
          <p:spPr>
            <a:xfrm>
              <a:off x="519708" y="6229350"/>
              <a:ext cx="13396079" cy="207764"/>
            </a:xfrm>
            <a:prstGeom prst="rect">
              <a:avLst/>
            </a:prstGeom>
            <a:noFill/>
            <a:ln/>
          </p:spPr>
          <p:txBody>
            <a:bodyPr wrap="none" lIns="0" tIns="0" rIns="0" bIns="0" rtlCol="0" anchor="t"/>
            <a:lstStyle/>
            <a:p>
              <a:pPr marL="0" indent="0" algn="r" rtl="1">
                <a:lnSpc>
                  <a:spcPts val="1600"/>
                </a:lnSpc>
                <a:buNone/>
              </a:pPr>
              <a:r>
                <a:rPr lang="en-US" sz="1000" dirty="0">
                  <a:solidFill>
                    <a:schemeClr val="bg2"/>
                  </a:solidFill>
                  <a:latin typeface="Inter" pitchFamily="34" charset="0"/>
                  <a:ea typeface="Inter" pitchFamily="34" charset="-122"/>
                  <a:cs typeface="B Nazanin" panose="00000400000000000000" pitchFamily="2" charset="-78"/>
                </a:rPr>
                <a:t>"از خون شهدا و ایثار جانبازان درس بگیریم و از تجربه دفاع مقدس الگو بسازیم. استقلال و عزت ملی ثمره ایستادگی و اتکا به توان خویش است، نه تکیه بر بیگانگان."</a:t>
              </a:r>
              <a:endParaRPr lang="en-US" sz="1000" dirty="0">
                <a:solidFill>
                  <a:schemeClr val="bg2"/>
                </a:solidFill>
                <a:cs typeface="B Nazanin" panose="00000400000000000000" pitchFamily="2" charset="-78"/>
              </a:endParaRPr>
            </a:p>
          </p:txBody>
        </p:sp>
        <p:sp>
          <p:nvSpPr>
            <p:cNvPr id="65" name="Shape 30">
              <a:extLst>
                <a:ext uri="{FF2B5EF4-FFF2-40B4-BE49-F238E27FC236}">
                  <a16:creationId xmlns:a16="http://schemas.microsoft.com/office/drawing/2014/main" id="{D971B702-011F-E382-6A61-1902E6287D84}"/>
                </a:ext>
              </a:extLst>
            </p:cNvPr>
            <p:cNvSpPr/>
            <p:nvPr/>
          </p:nvSpPr>
          <p:spPr>
            <a:xfrm>
              <a:off x="14095452" y="6083260"/>
              <a:ext cx="15240" cy="499943"/>
            </a:xfrm>
            <a:prstGeom prst="rect">
              <a:avLst/>
            </a:prstGeom>
            <a:solidFill>
              <a:srgbClr val="4950BC"/>
            </a:solidFill>
            <a:ln/>
          </p:spPr>
        </p:sp>
        <p:sp>
          <p:nvSpPr>
            <p:cNvPr id="66" name="Text 31">
              <a:extLst>
                <a:ext uri="{FF2B5EF4-FFF2-40B4-BE49-F238E27FC236}">
                  <a16:creationId xmlns:a16="http://schemas.microsoft.com/office/drawing/2014/main" id="{FAC55678-4CF7-FD33-1183-1450109F4894}"/>
                </a:ext>
              </a:extLst>
            </p:cNvPr>
            <p:cNvSpPr/>
            <p:nvPr/>
          </p:nvSpPr>
          <p:spPr>
            <a:xfrm>
              <a:off x="9688711" y="6794183"/>
              <a:ext cx="4421981" cy="428744"/>
            </a:xfrm>
            <a:prstGeom prst="rect">
              <a:avLst/>
            </a:prstGeom>
            <a:noFill/>
            <a:ln/>
          </p:spPr>
          <p:txBody>
            <a:bodyPr wrap="none" lIns="0" tIns="0" rIns="0" bIns="0" rtlCol="0" anchor="t"/>
            <a:lstStyle/>
            <a:p>
              <a:pPr marL="0" indent="0" algn="ctr" rtl="1">
                <a:lnSpc>
                  <a:spcPts val="3350"/>
                </a:lnSpc>
                <a:buNone/>
              </a:pPr>
              <a:r>
                <a:rPr lang="en-US" sz="3350" b="1" dirty="0">
                  <a:solidFill>
                    <a:schemeClr val="bg2"/>
                  </a:solidFill>
                  <a:latin typeface="Inter Bold" pitchFamily="34" charset="0"/>
                  <a:ea typeface="Inter Bold" pitchFamily="34" charset="-122"/>
                  <a:cs typeface="B Nazanin" panose="00000400000000000000" pitchFamily="2" charset="-78"/>
                </a:rPr>
                <a:t>8</a:t>
              </a:r>
              <a:endParaRPr lang="en-US" sz="3350" dirty="0">
                <a:solidFill>
                  <a:schemeClr val="bg2"/>
                </a:solidFill>
                <a:cs typeface="B Nazanin" panose="00000400000000000000" pitchFamily="2" charset="-78"/>
              </a:endParaRPr>
            </a:p>
          </p:txBody>
        </p:sp>
        <p:sp>
          <p:nvSpPr>
            <p:cNvPr id="67" name="Text 32">
              <a:extLst>
                <a:ext uri="{FF2B5EF4-FFF2-40B4-BE49-F238E27FC236}">
                  <a16:creationId xmlns:a16="http://schemas.microsoft.com/office/drawing/2014/main" id="{0F12BB9C-74CE-7089-70B2-338A715D1265}"/>
                </a:ext>
              </a:extLst>
            </p:cNvPr>
            <p:cNvSpPr/>
            <p:nvPr/>
          </p:nvSpPr>
          <p:spPr>
            <a:xfrm>
              <a:off x="11087576" y="7385209"/>
              <a:ext cx="1624251" cy="203002"/>
            </a:xfrm>
            <a:prstGeom prst="rect">
              <a:avLst/>
            </a:prstGeom>
            <a:noFill/>
            <a:ln/>
          </p:spPr>
          <p:txBody>
            <a:bodyPr wrap="none" lIns="0" tIns="0" rIns="0" bIns="0" rtlCol="0" anchor="t"/>
            <a:lstStyle/>
            <a:p>
              <a:pPr marL="0" indent="0" algn="ctr" rtl="1">
                <a:lnSpc>
                  <a:spcPts val="1550"/>
                </a:lnSpc>
                <a:buNone/>
              </a:pPr>
              <a:r>
                <a:rPr lang="en-US" sz="1250" b="1" dirty="0">
                  <a:solidFill>
                    <a:schemeClr val="bg2"/>
                  </a:solidFill>
                  <a:latin typeface="Inter Bold" pitchFamily="34" charset="0"/>
                  <a:ea typeface="Inter Bold" pitchFamily="34" charset="-122"/>
                  <a:cs typeface="B Nazanin" panose="00000400000000000000" pitchFamily="2" charset="-78"/>
                </a:rPr>
                <a:t>سال مقاومت</a:t>
              </a:r>
              <a:endParaRPr lang="en-US" sz="1250" dirty="0">
                <a:solidFill>
                  <a:schemeClr val="bg2"/>
                </a:solidFill>
                <a:cs typeface="B Nazanin" panose="00000400000000000000" pitchFamily="2" charset="-78"/>
              </a:endParaRPr>
            </a:p>
          </p:txBody>
        </p:sp>
        <p:sp>
          <p:nvSpPr>
            <p:cNvPr id="68" name="Text 33">
              <a:extLst>
                <a:ext uri="{FF2B5EF4-FFF2-40B4-BE49-F238E27FC236}">
                  <a16:creationId xmlns:a16="http://schemas.microsoft.com/office/drawing/2014/main" id="{6B08F8E5-3589-76AD-8301-D2616956584A}"/>
                </a:ext>
              </a:extLst>
            </p:cNvPr>
            <p:cNvSpPr/>
            <p:nvPr/>
          </p:nvSpPr>
          <p:spPr>
            <a:xfrm>
              <a:off x="9688711" y="7666077"/>
              <a:ext cx="4421981" cy="207764"/>
            </a:xfrm>
            <a:prstGeom prst="rect">
              <a:avLst/>
            </a:prstGeom>
            <a:noFill/>
            <a:ln/>
          </p:spPr>
          <p:txBody>
            <a:bodyPr wrap="none" lIns="0" tIns="0" rIns="0" bIns="0" rtlCol="0" anchor="t"/>
            <a:lstStyle/>
            <a:p>
              <a:pPr marL="0" indent="0" algn="ctr" rtl="1">
                <a:lnSpc>
                  <a:spcPts val="1600"/>
                </a:lnSpc>
                <a:buNone/>
              </a:pPr>
              <a:r>
                <a:rPr lang="en-US" sz="1000" dirty="0">
                  <a:solidFill>
                    <a:schemeClr val="bg2"/>
                  </a:solidFill>
                  <a:latin typeface="Inter" pitchFamily="34" charset="0"/>
                  <a:ea typeface="Inter" pitchFamily="34" charset="-122"/>
                  <a:cs typeface="B Nazanin" panose="00000400000000000000" pitchFamily="2" charset="-78"/>
                </a:rPr>
                <a:t>دوران دفاع مقدس و ایستادگی</a:t>
              </a:r>
              <a:endParaRPr lang="en-US" sz="1000" dirty="0">
                <a:solidFill>
                  <a:schemeClr val="bg2"/>
                </a:solidFill>
                <a:cs typeface="B Nazanin" panose="00000400000000000000" pitchFamily="2" charset="-78"/>
              </a:endParaRPr>
            </a:p>
          </p:txBody>
        </p:sp>
        <p:sp>
          <p:nvSpPr>
            <p:cNvPr id="70" name="Text 34">
              <a:extLst>
                <a:ext uri="{FF2B5EF4-FFF2-40B4-BE49-F238E27FC236}">
                  <a16:creationId xmlns:a16="http://schemas.microsoft.com/office/drawing/2014/main" id="{B508C117-501D-8EBC-3E69-77423B7D6F54}"/>
                </a:ext>
              </a:extLst>
            </p:cNvPr>
            <p:cNvSpPr/>
            <p:nvPr/>
          </p:nvSpPr>
          <p:spPr>
            <a:xfrm>
              <a:off x="5104209" y="6794183"/>
              <a:ext cx="4422100" cy="428744"/>
            </a:xfrm>
            <a:prstGeom prst="rect">
              <a:avLst/>
            </a:prstGeom>
            <a:noFill/>
            <a:ln/>
          </p:spPr>
          <p:txBody>
            <a:bodyPr wrap="none" lIns="0" tIns="0" rIns="0" bIns="0" rtlCol="0" anchor="t"/>
            <a:lstStyle/>
            <a:p>
              <a:pPr marL="0" indent="0" algn="ctr" rtl="1">
                <a:lnSpc>
                  <a:spcPts val="3350"/>
                </a:lnSpc>
                <a:buNone/>
              </a:pPr>
              <a:r>
                <a:rPr lang="en-US" sz="3350" b="1" dirty="0">
                  <a:solidFill>
                    <a:schemeClr val="bg2"/>
                  </a:solidFill>
                  <a:latin typeface="Inter Bold" pitchFamily="34" charset="0"/>
                  <a:ea typeface="Inter Bold" pitchFamily="34" charset="-122"/>
                  <a:cs typeface="B Nazanin" panose="00000400000000000000" pitchFamily="2" charset="-78"/>
                </a:rPr>
                <a:t>40+</a:t>
              </a:r>
              <a:endParaRPr lang="en-US" sz="3350" dirty="0">
                <a:solidFill>
                  <a:schemeClr val="bg2"/>
                </a:solidFill>
                <a:cs typeface="B Nazanin" panose="00000400000000000000" pitchFamily="2" charset="-78"/>
              </a:endParaRPr>
            </a:p>
          </p:txBody>
        </p:sp>
        <p:sp>
          <p:nvSpPr>
            <p:cNvPr id="71" name="Text 35">
              <a:extLst>
                <a:ext uri="{FF2B5EF4-FFF2-40B4-BE49-F238E27FC236}">
                  <a16:creationId xmlns:a16="http://schemas.microsoft.com/office/drawing/2014/main" id="{69412C5A-C40F-8B35-9AC7-893050F3C135}"/>
                </a:ext>
              </a:extLst>
            </p:cNvPr>
            <p:cNvSpPr/>
            <p:nvPr/>
          </p:nvSpPr>
          <p:spPr>
            <a:xfrm>
              <a:off x="6503194" y="7385209"/>
              <a:ext cx="1624251" cy="203002"/>
            </a:xfrm>
            <a:prstGeom prst="rect">
              <a:avLst/>
            </a:prstGeom>
            <a:noFill/>
            <a:ln/>
          </p:spPr>
          <p:txBody>
            <a:bodyPr wrap="none" lIns="0" tIns="0" rIns="0" bIns="0" rtlCol="0" anchor="t"/>
            <a:lstStyle/>
            <a:p>
              <a:pPr marL="0" indent="0" algn="ctr" rtl="1">
                <a:lnSpc>
                  <a:spcPts val="1550"/>
                </a:lnSpc>
                <a:buNone/>
              </a:pPr>
              <a:r>
                <a:rPr lang="en-US" sz="1250" b="1" dirty="0">
                  <a:solidFill>
                    <a:schemeClr val="bg2"/>
                  </a:solidFill>
                  <a:latin typeface="Inter Bold" pitchFamily="34" charset="0"/>
                  <a:ea typeface="Inter Bold" pitchFamily="34" charset="-122"/>
                  <a:cs typeface="B Nazanin" panose="00000400000000000000" pitchFamily="2" charset="-78"/>
                </a:rPr>
                <a:t>کشور حامی عراق</a:t>
              </a:r>
              <a:endParaRPr lang="en-US" sz="1250" dirty="0">
                <a:solidFill>
                  <a:schemeClr val="bg2"/>
                </a:solidFill>
                <a:cs typeface="B Nazanin" panose="00000400000000000000" pitchFamily="2" charset="-78"/>
              </a:endParaRPr>
            </a:p>
          </p:txBody>
        </p:sp>
        <p:sp>
          <p:nvSpPr>
            <p:cNvPr id="72" name="Text 36">
              <a:extLst>
                <a:ext uri="{FF2B5EF4-FFF2-40B4-BE49-F238E27FC236}">
                  <a16:creationId xmlns:a16="http://schemas.microsoft.com/office/drawing/2014/main" id="{6C6E9250-683D-778D-5168-17B25AF3037A}"/>
                </a:ext>
              </a:extLst>
            </p:cNvPr>
            <p:cNvSpPr/>
            <p:nvPr/>
          </p:nvSpPr>
          <p:spPr>
            <a:xfrm>
              <a:off x="5104209" y="7666077"/>
              <a:ext cx="4422100" cy="207764"/>
            </a:xfrm>
            <a:prstGeom prst="rect">
              <a:avLst/>
            </a:prstGeom>
            <a:noFill/>
            <a:ln/>
          </p:spPr>
          <p:txBody>
            <a:bodyPr wrap="none" lIns="0" tIns="0" rIns="0" bIns="0" rtlCol="0" anchor="t"/>
            <a:lstStyle/>
            <a:p>
              <a:pPr marL="0" indent="0" algn="ctr" rtl="1">
                <a:lnSpc>
                  <a:spcPts val="1600"/>
                </a:lnSpc>
                <a:buNone/>
              </a:pPr>
              <a:r>
                <a:rPr lang="en-US" sz="1000" dirty="0">
                  <a:solidFill>
                    <a:schemeClr val="bg2"/>
                  </a:solidFill>
                  <a:latin typeface="Inter" pitchFamily="34" charset="0"/>
                  <a:ea typeface="Inter" pitchFamily="34" charset="-122"/>
                  <a:cs typeface="B Nazanin" panose="00000400000000000000" pitchFamily="2" charset="-78"/>
                </a:rPr>
                <a:t>ائتلاف بین‌المللی علیه ایران</a:t>
              </a:r>
              <a:endParaRPr lang="en-US" sz="1000" dirty="0">
                <a:solidFill>
                  <a:schemeClr val="bg2"/>
                </a:solidFill>
                <a:cs typeface="B Nazanin" panose="00000400000000000000" pitchFamily="2" charset="-78"/>
              </a:endParaRPr>
            </a:p>
          </p:txBody>
        </p:sp>
        <p:sp>
          <p:nvSpPr>
            <p:cNvPr id="73" name="Text 37">
              <a:extLst>
                <a:ext uri="{FF2B5EF4-FFF2-40B4-BE49-F238E27FC236}">
                  <a16:creationId xmlns:a16="http://schemas.microsoft.com/office/drawing/2014/main" id="{B71186D3-27A7-72B1-F657-6186A843DC51}"/>
                </a:ext>
              </a:extLst>
            </p:cNvPr>
            <p:cNvSpPr/>
            <p:nvPr/>
          </p:nvSpPr>
          <p:spPr>
            <a:xfrm>
              <a:off x="519827" y="6794183"/>
              <a:ext cx="4421981" cy="428744"/>
            </a:xfrm>
            <a:prstGeom prst="rect">
              <a:avLst/>
            </a:prstGeom>
            <a:noFill/>
            <a:ln/>
          </p:spPr>
          <p:txBody>
            <a:bodyPr wrap="none" lIns="0" tIns="0" rIns="0" bIns="0" rtlCol="0" anchor="t"/>
            <a:lstStyle/>
            <a:p>
              <a:pPr marL="0" indent="0" algn="ctr" rtl="1">
                <a:lnSpc>
                  <a:spcPts val="3350"/>
                </a:lnSpc>
                <a:buNone/>
              </a:pPr>
              <a:r>
                <a:rPr lang="en-US" sz="3350" b="1" dirty="0">
                  <a:solidFill>
                    <a:schemeClr val="bg2"/>
                  </a:solidFill>
                  <a:latin typeface="Inter Bold" pitchFamily="34" charset="0"/>
                  <a:ea typeface="Inter Bold" pitchFamily="34" charset="-122"/>
                  <a:cs typeface="B Nazanin" panose="00000400000000000000" pitchFamily="2" charset="-78"/>
                </a:rPr>
                <a:t>1</a:t>
              </a:r>
              <a:endParaRPr lang="en-US" sz="3350" dirty="0">
                <a:solidFill>
                  <a:schemeClr val="bg2"/>
                </a:solidFill>
                <a:cs typeface="B Nazanin" panose="00000400000000000000" pitchFamily="2" charset="-78"/>
              </a:endParaRPr>
            </a:p>
          </p:txBody>
        </p:sp>
        <p:sp>
          <p:nvSpPr>
            <p:cNvPr id="74" name="Text 38">
              <a:extLst>
                <a:ext uri="{FF2B5EF4-FFF2-40B4-BE49-F238E27FC236}">
                  <a16:creationId xmlns:a16="http://schemas.microsoft.com/office/drawing/2014/main" id="{09AAA6AA-4979-F35A-6F05-4689A2D801C5}"/>
                </a:ext>
              </a:extLst>
            </p:cNvPr>
            <p:cNvSpPr/>
            <p:nvPr/>
          </p:nvSpPr>
          <p:spPr>
            <a:xfrm>
              <a:off x="1918692" y="7385209"/>
              <a:ext cx="1624251" cy="203002"/>
            </a:xfrm>
            <a:prstGeom prst="rect">
              <a:avLst/>
            </a:prstGeom>
            <a:noFill/>
            <a:ln/>
          </p:spPr>
          <p:txBody>
            <a:bodyPr wrap="none" lIns="0" tIns="0" rIns="0" bIns="0" rtlCol="0" anchor="t"/>
            <a:lstStyle/>
            <a:p>
              <a:pPr marL="0" indent="0" algn="ctr" rtl="1">
                <a:lnSpc>
                  <a:spcPts val="1550"/>
                </a:lnSpc>
                <a:buNone/>
              </a:pPr>
              <a:r>
                <a:rPr lang="en-US" sz="1250" b="1" dirty="0">
                  <a:solidFill>
                    <a:schemeClr val="bg2"/>
                  </a:solidFill>
                  <a:latin typeface="Inter Bold" pitchFamily="34" charset="0"/>
                  <a:ea typeface="Inter Bold" pitchFamily="34" charset="-122"/>
                  <a:cs typeface="B Nazanin" panose="00000400000000000000" pitchFamily="2" charset="-78"/>
                </a:rPr>
                <a:t>ملت سرافراز</a:t>
              </a:r>
              <a:endParaRPr lang="en-US" sz="1250" dirty="0">
                <a:solidFill>
                  <a:schemeClr val="bg2"/>
                </a:solidFill>
                <a:cs typeface="B Nazanin" panose="00000400000000000000" pitchFamily="2" charset="-78"/>
              </a:endParaRPr>
            </a:p>
          </p:txBody>
        </p:sp>
        <p:sp>
          <p:nvSpPr>
            <p:cNvPr id="75" name="Text 39">
              <a:extLst>
                <a:ext uri="{FF2B5EF4-FFF2-40B4-BE49-F238E27FC236}">
                  <a16:creationId xmlns:a16="http://schemas.microsoft.com/office/drawing/2014/main" id="{8A9317D1-64D6-F569-18F9-FB9447A6BA3E}"/>
                </a:ext>
              </a:extLst>
            </p:cNvPr>
            <p:cNvSpPr/>
            <p:nvPr/>
          </p:nvSpPr>
          <p:spPr>
            <a:xfrm>
              <a:off x="519827" y="7666077"/>
              <a:ext cx="4421981" cy="207764"/>
            </a:xfrm>
            <a:prstGeom prst="rect">
              <a:avLst/>
            </a:prstGeom>
            <a:noFill/>
            <a:ln/>
          </p:spPr>
          <p:txBody>
            <a:bodyPr wrap="none" lIns="0" tIns="0" rIns="0" bIns="0" rtlCol="0" anchor="t"/>
            <a:lstStyle/>
            <a:p>
              <a:pPr marL="0" indent="0" algn="ctr" rtl="1">
                <a:lnSpc>
                  <a:spcPts val="1600"/>
                </a:lnSpc>
                <a:buNone/>
              </a:pPr>
              <a:r>
                <a:rPr lang="en-US" sz="1000" dirty="0">
                  <a:solidFill>
                    <a:schemeClr val="bg2"/>
                  </a:solidFill>
                  <a:latin typeface="Inter" pitchFamily="34" charset="0"/>
                  <a:ea typeface="Inter" pitchFamily="34" charset="-122"/>
                  <a:cs typeface="B Nazanin" panose="00000400000000000000" pitchFamily="2" charset="-78"/>
                </a:rPr>
                <a:t>پیروزی در برابر توطئه جهانی</a:t>
              </a:r>
              <a:endParaRPr lang="en-US" sz="1000" dirty="0">
                <a:solidFill>
                  <a:schemeClr val="bg2"/>
                </a:solidFill>
                <a:cs typeface="B Nazanin" panose="00000400000000000000" pitchFamily="2" charset="-78"/>
              </a:endParaRPr>
            </a:p>
          </p:txBody>
        </p:sp>
      </p:grpSp>
      <p:pic>
        <p:nvPicPr>
          <p:cNvPr id="76" name="Graphic 75" descr="Meeting with solid fill">
            <a:extLst>
              <a:ext uri="{FF2B5EF4-FFF2-40B4-BE49-F238E27FC236}">
                <a16:creationId xmlns:a16="http://schemas.microsoft.com/office/drawing/2014/main" id="{9825BF97-A037-4F7B-006C-6A942EB851A8}"/>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2251206" y="1645621"/>
            <a:ext cx="914400" cy="914400"/>
          </a:xfrm>
          <a:prstGeom prst="rect">
            <a:avLst/>
          </a:prstGeom>
        </p:spPr>
      </p:pic>
    </p:spTree>
    <p:extLst>
      <p:ext uri="{BB962C8B-B14F-4D97-AF65-F5344CB8AC3E}">
        <p14:creationId xmlns:p14="http://schemas.microsoft.com/office/powerpoint/2010/main" val="3883171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9000" b="-109000"/>
          </a:stretch>
        </a:blipFill>
        <a:effectLst/>
      </p:bgPr>
    </p:bg>
    <p:spTree>
      <p:nvGrpSpPr>
        <p:cNvPr id="1" name="">
          <a:extLst>
            <a:ext uri="{FF2B5EF4-FFF2-40B4-BE49-F238E27FC236}">
              <a16:creationId xmlns:a16="http://schemas.microsoft.com/office/drawing/2014/main" id="{42FC58EC-0E89-0AD4-2864-4CF16019F177}"/>
            </a:ext>
          </a:extLst>
        </p:cNvPr>
        <p:cNvGrpSpPr/>
        <p:nvPr/>
      </p:nvGrpSpPr>
      <p:grpSpPr>
        <a:xfrm>
          <a:off x="0" y="0"/>
          <a:ext cx="0" cy="0"/>
          <a:chOff x="0" y="0"/>
          <a:chExt cx="0" cy="0"/>
        </a:xfrm>
      </p:grpSpPr>
      <p:pic>
        <p:nvPicPr>
          <p:cNvPr id="70" name="Graphic 69" descr="Network with solid fill">
            <a:extLst>
              <a:ext uri="{FF2B5EF4-FFF2-40B4-BE49-F238E27FC236}">
                <a16:creationId xmlns:a16="http://schemas.microsoft.com/office/drawing/2014/main" id="{D329427B-ACC0-F871-B941-5EB9F9B907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26018" y="-2022417"/>
            <a:ext cx="914400" cy="914400"/>
          </a:xfrm>
          <a:prstGeom prst="rect">
            <a:avLst/>
          </a:prstGeom>
        </p:spPr>
      </p:pic>
      <p:grpSp>
        <p:nvGrpSpPr>
          <p:cNvPr id="65" name="Group 64">
            <a:extLst>
              <a:ext uri="{FF2B5EF4-FFF2-40B4-BE49-F238E27FC236}">
                <a16:creationId xmlns:a16="http://schemas.microsoft.com/office/drawing/2014/main" id="{8492DAD6-1FC6-5C49-63A1-7DDBF326589B}"/>
              </a:ext>
            </a:extLst>
          </p:cNvPr>
          <p:cNvGrpSpPr/>
          <p:nvPr/>
        </p:nvGrpSpPr>
        <p:grpSpPr>
          <a:xfrm>
            <a:off x="0" y="-11504725"/>
            <a:ext cx="4590873" cy="15855333"/>
            <a:chOff x="-693173" y="-4054166"/>
            <a:chExt cx="4590873" cy="15855333"/>
          </a:xfrm>
        </p:grpSpPr>
        <p:sp>
          <p:nvSpPr>
            <p:cNvPr id="67" name="Hexagon 66">
              <a:extLst>
                <a:ext uri="{FF2B5EF4-FFF2-40B4-BE49-F238E27FC236}">
                  <a16:creationId xmlns:a16="http://schemas.microsoft.com/office/drawing/2014/main" id="{D0EA39FC-C9B6-3436-E4DC-95DEFB356A4B}"/>
                </a:ext>
              </a:extLst>
            </p:cNvPr>
            <p:cNvSpPr/>
            <p:nvPr/>
          </p:nvSpPr>
          <p:spPr>
            <a:xfrm>
              <a:off x="2620293" y="493579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grpSp>
          <p:nvGrpSpPr>
            <p:cNvPr id="69" name="Group 68">
              <a:extLst>
                <a:ext uri="{FF2B5EF4-FFF2-40B4-BE49-F238E27FC236}">
                  <a16:creationId xmlns:a16="http://schemas.microsoft.com/office/drawing/2014/main" id="{7F8B6562-09BD-9D2F-E361-8AF294D05276}"/>
                </a:ext>
              </a:extLst>
            </p:cNvPr>
            <p:cNvGrpSpPr/>
            <p:nvPr/>
          </p:nvGrpSpPr>
          <p:grpSpPr>
            <a:xfrm>
              <a:off x="-693173" y="-3503559"/>
              <a:ext cx="4300821" cy="15304726"/>
              <a:chOff x="-693173" y="-3503559"/>
              <a:chExt cx="4300821" cy="15304726"/>
            </a:xfrm>
          </p:grpSpPr>
          <p:sp>
            <p:nvSpPr>
              <p:cNvPr id="73" name="Hexagon 72">
                <a:extLst>
                  <a:ext uri="{FF2B5EF4-FFF2-40B4-BE49-F238E27FC236}">
                    <a16:creationId xmlns:a16="http://schemas.microsoft.com/office/drawing/2014/main" id="{72980272-0AE3-E984-88BA-DA94E460C93F}"/>
                  </a:ext>
                </a:extLst>
              </p:cNvPr>
              <p:cNvSpPr/>
              <p:nvPr/>
            </p:nvSpPr>
            <p:spPr>
              <a:xfrm>
                <a:off x="314632" y="218276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75" name="Hexagon 74">
                <a:extLst>
                  <a:ext uri="{FF2B5EF4-FFF2-40B4-BE49-F238E27FC236}">
                    <a16:creationId xmlns:a16="http://schemas.microsoft.com/office/drawing/2014/main" id="{F1318BB0-4159-EA5E-979B-8694BE3FB261}"/>
                  </a:ext>
                </a:extLst>
              </p:cNvPr>
              <p:cNvSpPr/>
              <p:nvPr/>
            </p:nvSpPr>
            <p:spPr>
              <a:xfrm>
                <a:off x="1322438" y="273336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77" name="Hexagon 76">
                <a:extLst>
                  <a:ext uri="{FF2B5EF4-FFF2-40B4-BE49-F238E27FC236}">
                    <a16:creationId xmlns:a16="http://schemas.microsoft.com/office/drawing/2014/main" id="{D3287E28-D445-E635-D6BF-7F7B2A65DB49}"/>
                  </a:ext>
                </a:extLst>
              </p:cNvPr>
              <p:cNvSpPr/>
              <p:nvPr/>
            </p:nvSpPr>
            <p:spPr>
              <a:xfrm>
                <a:off x="604684" y="3834580"/>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78" name="Hexagon 77">
                <a:extLst>
                  <a:ext uri="{FF2B5EF4-FFF2-40B4-BE49-F238E27FC236}">
                    <a16:creationId xmlns:a16="http://schemas.microsoft.com/office/drawing/2014/main" id="{84C36FA3-5A20-7C86-77C1-EDF799EE1B3A}"/>
                  </a:ext>
                </a:extLst>
              </p:cNvPr>
              <p:cNvSpPr/>
              <p:nvPr/>
            </p:nvSpPr>
            <p:spPr>
              <a:xfrm>
                <a:off x="1342886" y="1608240"/>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79" name="Hexagon 78">
                <a:extLst>
                  <a:ext uri="{FF2B5EF4-FFF2-40B4-BE49-F238E27FC236}">
                    <a16:creationId xmlns:a16="http://schemas.microsoft.com/office/drawing/2014/main" id="{3B16BD76-047E-16E1-AE0F-8BBDC3F97348}"/>
                  </a:ext>
                </a:extLst>
              </p:cNvPr>
              <p:cNvSpPr/>
              <p:nvPr/>
            </p:nvSpPr>
            <p:spPr>
              <a:xfrm>
                <a:off x="1366917" y="506768"/>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80" name="Hexagon 79">
                <a:extLst>
                  <a:ext uri="{FF2B5EF4-FFF2-40B4-BE49-F238E27FC236}">
                    <a16:creationId xmlns:a16="http://schemas.microsoft.com/office/drawing/2014/main" id="{65F02578-EAAB-B9A2-FF72-1D2480E0DA15}"/>
                  </a:ext>
                </a:extLst>
              </p:cNvPr>
              <p:cNvSpPr/>
              <p:nvPr/>
            </p:nvSpPr>
            <p:spPr>
              <a:xfrm>
                <a:off x="2330241" y="10815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81" name="Hexagon 80">
                <a:extLst>
                  <a:ext uri="{FF2B5EF4-FFF2-40B4-BE49-F238E27FC236}">
                    <a16:creationId xmlns:a16="http://schemas.microsoft.com/office/drawing/2014/main" id="{495851DC-F2CC-F41C-14A1-4849327636FD}"/>
                  </a:ext>
                </a:extLst>
              </p:cNvPr>
              <p:cNvSpPr/>
              <p:nvPr/>
            </p:nvSpPr>
            <p:spPr>
              <a:xfrm>
                <a:off x="604684" y="60370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82" name="Hexagon 81">
                <a:extLst>
                  <a:ext uri="{FF2B5EF4-FFF2-40B4-BE49-F238E27FC236}">
                    <a16:creationId xmlns:a16="http://schemas.microsoft.com/office/drawing/2014/main" id="{66EAE89E-6941-834A-2D76-83F2D47F5A8D}"/>
                  </a:ext>
                </a:extLst>
              </p:cNvPr>
              <p:cNvSpPr/>
              <p:nvPr/>
            </p:nvSpPr>
            <p:spPr>
              <a:xfrm>
                <a:off x="1612490" y="65876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83" name="Hexagon 82">
                <a:extLst>
                  <a:ext uri="{FF2B5EF4-FFF2-40B4-BE49-F238E27FC236}">
                    <a16:creationId xmlns:a16="http://schemas.microsoft.com/office/drawing/2014/main" id="{6E8690F1-5C4C-B608-1C19-81410294FD53}"/>
                  </a:ext>
                </a:extLst>
              </p:cNvPr>
              <p:cNvSpPr/>
              <p:nvPr/>
            </p:nvSpPr>
            <p:spPr>
              <a:xfrm>
                <a:off x="894736" y="768882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84" name="Hexagon 83">
                <a:extLst>
                  <a:ext uri="{FF2B5EF4-FFF2-40B4-BE49-F238E27FC236}">
                    <a16:creationId xmlns:a16="http://schemas.microsoft.com/office/drawing/2014/main" id="{EEB66C96-CA0B-7D42-4AE9-C34F57EC6D4C}"/>
                  </a:ext>
                </a:extLst>
              </p:cNvPr>
              <p:cNvSpPr/>
              <p:nvPr/>
            </p:nvSpPr>
            <p:spPr>
              <a:xfrm>
                <a:off x="1612489" y="54863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85" name="Hexagon 84">
                <a:extLst>
                  <a:ext uri="{FF2B5EF4-FFF2-40B4-BE49-F238E27FC236}">
                    <a16:creationId xmlns:a16="http://schemas.microsoft.com/office/drawing/2014/main" id="{BDBAEFCA-2AB6-DA54-C16B-12229595050E}"/>
                  </a:ext>
                </a:extLst>
              </p:cNvPr>
              <p:cNvSpPr/>
              <p:nvPr/>
            </p:nvSpPr>
            <p:spPr>
              <a:xfrm>
                <a:off x="1612488" y="438518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86" name="Hexagon 85">
                <a:extLst>
                  <a:ext uri="{FF2B5EF4-FFF2-40B4-BE49-F238E27FC236}">
                    <a16:creationId xmlns:a16="http://schemas.microsoft.com/office/drawing/2014/main" id="{45B89704-9EEE-21E3-8FE9-179EADE8F693}"/>
                  </a:ext>
                </a:extLst>
              </p:cNvPr>
              <p:cNvSpPr/>
              <p:nvPr/>
            </p:nvSpPr>
            <p:spPr>
              <a:xfrm>
                <a:off x="-693173" y="453101"/>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87" name="Hexagon 86">
                <a:extLst>
                  <a:ext uri="{FF2B5EF4-FFF2-40B4-BE49-F238E27FC236}">
                    <a16:creationId xmlns:a16="http://schemas.microsoft.com/office/drawing/2014/main" id="{396B9DE4-06DA-ADBB-0235-1D85E3A11C8D}"/>
                  </a:ext>
                </a:extLst>
              </p:cNvPr>
              <p:cNvSpPr/>
              <p:nvPr/>
            </p:nvSpPr>
            <p:spPr>
              <a:xfrm>
                <a:off x="314632" y="-9750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88" name="Hexagon 87">
                <a:extLst>
                  <a:ext uri="{FF2B5EF4-FFF2-40B4-BE49-F238E27FC236}">
                    <a16:creationId xmlns:a16="http://schemas.microsoft.com/office/drawing/2014/main" id="{69595F3D-1D83-1A36-F2C4-09614D6489EE}"/>
                  </a:ext>
                </a:extLst>
              </p:cNvPr>
              <p:cNvSpPr/>
              <p:nvPr/>
            </p:nvSpPr>
            <p:spPr>
              <a:xfrm>
                <a:off x="314631" y="-119871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89" name="Hexagon 88">
                <a:extLst>
                  <a:ext uri="{FF2B5EF4-FFF2-40B4-BE49-F238E27FC236}">
                    <a16:creationId xmlns:a16="http://schemas.microsoft.com/office/drawing/2014/main" id="{EF68F4CD-69A7-A433-CC86-5A42835B6AA3}"/>
                  </a:ext>
                </a:extLst>
              </p:cNvPr>
              <p:cNvSpPr/>
              <p:nvPr/>
            </p:nvSpPr>
            <p:spPr>
              <a:xfrm>
                <a:off x="1322436" y="-648113"/>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90" name="Hexagon 89">
                <a:extLst>
                  <a:ext uri="{FF2B5EF4-FFF2-40B4-BE49-F238E27FC236}">
                    <a16:creationId xmlns:a16="http://schemas.microsoft.com/office/drawing/2014/main" id="{BF44B6B1-6F04-C5A7-F3B1-05B188735903}"/>
                  </a:ext>
                </a:extLst>
              </p:cNvPr>
              <p:cNvSpPr/>
              <p:nvPr/>
            </p:nvSpPr>
            <p:spPr>
              <a:xfrm>
                <a:off x="1981590" y="1069995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91" name="Hexagon 90">
                <a:extLst>
                  <a:ext uri="{FF2B5EF4-FFF2-40B4-BE49-F238E27FC236}">
                    <a16:creationId xmlns:a16="http://schemas.microsoft.com/office/drawing/2014/main" id="{17CD2C0E-9AD4-54B4-7DF7-D996E1051214}"/>
                  </a:ext>
                </a:extLst>
              </p:cNvPr>
              <p:cNvSpPr/>
              <p:nvPr/>
            </p:nvSpPr>
            <p:spPr>
              <a:xfrm>
                <a:off x="1981589" y="9550394"/>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92" name="Hexagon 91">
                <a:extLst>
                  <a:ext uri="{FF2B5EF4-FFF2-40B4-BE49-F238E27FC236}">
                    <a16:creationId xmlns:a16="http://schemas.microsoft.com/office/drawing/2014/main" id="{945B264D-ADF9-CE98-437D-501841C94982}"/>
                  </a:ext>
                </a:extLst>
              </p:cNvPr>
              <p:cNvSpPr/>
              <p:nvPr/>
            </p:nvSpPr>
            <p:spPr>
              <a:xfrm>
                <a:off x="-252788" y="9561047"/>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93" name="Hexagon 92">
                <a:extLst>
                  <a:ext uri="{FF2B5EF4-FFF2-40B4-BE49-F238E27FC236}">
                    <a16:creationId xmlns:a16="http://schemas.microsoft.com/office/drawing/2014/main" id="{A3AEAA18-45F6-9AA6-D7AD-174BB123494C}"/>
                  </a:ext>
                </a:extLst>
              </p:cNvPr>
              <p:cNvSpPr/>
              <p:nvPr/>
            </p:nvSpPr>
            <p:spPr>
              <a:xfrm>
                <a:off x="894735" y="8905155"/>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94" name="Hexagon 93">
                <a:extLst>
                  <a:ext uri="{FF2B5EF4-FFF2-40B4-BE49-F238E27FC236}">
                    <a16:creationId xmlns:a16="http://schemas.microsoft.com/office/drawing/2014/main" id="{D52C3BF6-A95A-F1CB-3FEC-E13B630D577B}"/>
                  </a:ext>
                </a:extLst>
              </p:cNvPr>
              <p:cNvSpPr/>
              <p:nvPr/>
            </p:nvSpPr>
            <p:spPr>
              <a:xfrm>
                <a:off x="1981589" y="8354548"/>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95" name="Hexagon 94">
                <a:extLst>
                  <a:ext uri="{FF2B5EF4-FFF2-40B4-BE49-F238E27FC236}">
                    <a16:creationId xmlns:a16="http://schemas.microsoft.com/office/drawing/2014/main" id="{3ECECCDD-7AE4-4442-4193-327795E308E0}"/>
                  </a:ext>
                </a:extLst>
              </p:cNvPr>
              <p:cNvSpPr/>
              <p:nvPr/>
            </p:nvSpPr>
            <p:spPr>
              <a:xfrm>
                <a:off x="1342886" y="-177389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sp>
            <p:nvSpPr>
              <p:cNvPr id="96" name="Hexagon 95">
                <a:extLst>
                  <a:ext uri="{FF2B5EF4-FFF2-40B4-BE49-F238E27FC236}">
                    <a16:creationId xmlns:a16="http://schemas.microsoft.com/office/drawing/2014/main" id="{DE642B59-7B05-A4B6-F7DA-E6551AA8EBBA}"/>
                  </a:ext>
                </a:extLst>
              </p:cNvPr>
              <p:cNvSpPr/>
              <p:nvPr/>
            </p:nvSpPr>
            <p:spPr>
              <a:xfrm>
                <a:off x="1342886" y="-287511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97" name="Hexagon 96">
                <a:extLst>
                  <a:ext uri="{FF2B5EF4-FFF2-40B4-BE49-F238E27FC236}">
                    <a16:creationId xmlns:a16="http://schemas.microsoft.com/office/drawing/2014/main" id="{520181EA-A7A6-764A-BFDA-8FF2B58817CE}"/>
                  </a:ext>
                </a:extLst>
              </p:cNvPr>
              <p:cNvSpPr/>
              <p:nvPr/>
            </p:nvSpPr>
            <p:spPr>
              <a:xfrm>
                <a:off x="-672723" y="-2952952"/>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sp>
            <p:nvSpPr>
              <p:cNvPr id="98" name="Hexagon 97">
                <a:extLst>
                  <a:ext uri="{FF2B5EF4-FFF2-40B4-BE49-F238E27FC236}">
                    <a16:creationId xmlns:a16="http://schemas.microsoft.com/office/drawing/2014/main" id="{2E8B5802-7085-9988-F19E-6147DF0E1B6E}"/>
                  </a:ext>
                </a:extLst>
              </p:cNvPr>
              <p:cNvSpPr/>
              <p:nvPr/>
            </p:nvSpPr>
            <p:spPr>
              <a:xfrm>
                <a:off x="335082" y="-3503559"/>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dirty="0">
                  <a:cs typeface="B Nazanin" panose="00000400000000000000" pitchFamily="2" charset="-78"/>
                </a:endParaRPr>
              </a:p>
            </p:txBody>
          </p:sp>
        </p:grpSp>
        <p:sp>
          <p:nvSpPr>
            <p:cNvPr id="71" name="Hexagon 70">
              <a:extLst>
                <a:ext uri="{FF2B5EF4-FFF2-40B4-BE49-F238E27FC236}">
                  <a16:creationId xmlns:a16="http://schemas.microsoft.com/office/drawing/2014/main" id="{34870BDC-57A1-6FF8-95DF-357700B7C8AC}"/>
                </a:ext>
              </a:extLst>
            </p:cNvPr>
            <p:cNvSpPr/>
            <p:nvPr/>
          </p:nvSpPr>
          <p:spPr>
            <a:xfrm>
              <a:off x="1342886" y="-4054166"/>
              <a:ext cx="1277407" cy="1101213"/>
            </a:xfrm>
            <a:prstGeom prst="hexagon">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3600">
                <a:cs typeface="B Nazanin" panose="00000400000000000000" pitchFamily="2" charset="-78"/>
              </a:endParaRPr>
            </a:p>
          </p:txBody>
        </p:sp>
      </p:grpSp>
      <p:pic>
        <p:nvPicPr>
          <p:cNvPr id="58" name="Graphic 57" descr="Fingerprint with solid fill">
            <a:extLst>
              <a:ext uri="{FF2B5EF4-FFF2-40B4-BE49-F238E27FC236}">
                <a16:creationId xmlns:a16="http://schemas.microsoft.com/office/drawing/2014/main" id="{1C3664FD-0C15-D31D-0645-FB155449144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96287" y="2193241"/>
            <a:ext cx="914400" cy="914400"/>
          </a:xfrm>
          <a:prstGeom prst="rect">
            <a:avLst/>
          </a:prstGeom>
        </p:spPr>
      </p:pic>
      <p:sp>
        <p:nvSpPr>
          <p:cNvPr id="131" name="TextBox 130">
            <a:extLst>
              <a:ext uri="{FF2B5EF4-FFF2-40B4-BE49-F238E27FC236}">
                <a16:creationId xmlns:a16="http://schemas.microsoft.com/office/drawing/2014/main" id="{00A77FFF-3AB7-1715-54BB-49C831358FBB}"/>
              </a:ext>
            </a:extLst>
          </p:cNvPr>
          <p:cNvSpPr txBox="1"/>
          <p:nvPr/>
        </p:nvSpPr>
        <p:spPr>
          <a:xfrm>
            <a:off x="5538355" y="2110488"/>
            <a:ext cx="4904509" cy="830997"/>
          </a:xfrm>
          <a:prstGeom prst="rect">
            <a:avLst/>
          </a:prstGeom>
          <a:noFill/>
        </p:spPr>
        <p:txBody>
          <a:bodyPr wrap="square" rtlCol="0">
            <a:spAutoFit/>
          </a:bodyPr>
          <a:lstStyle/>
          <a:p>
            <a:r>
              <a:rPr lang="fa-IR" sz="4800" dirty="0">
                <a:solidFill>
                  <a:schemeClr val="accent1">
                    <a:lumMod val="20000"/>
                    <a:lumOff val="80000"/>
                  </a:schemeClr>
                </a:solidFill>
                <a:cs typeface="B Nazanin" panose="00000400000000000000" pitchFamily="2" charset="-78"/>
              </a:rPr>
              <a:t>باتشکرازنگاه‌زیبای‌شما</a:t>
            </a:r>
            <a:endParaRPr lang="en-US" sz="4800" dirty="0">
              <a:solidFill>
                <a:schemeClr val="accent1">
                  <a:lumMod val="20000"/>
                  <a:lumOff val="80000"/>
                </a:schemeClr>
              </a:solidFill>
              <a:cs typeface="B Nazanin" panose="00000400000000000000" pitchFamily="2" charset="-78"/>
            </a:endParaRPr>
          </a:p>
        </p:txBody>
      </p:sp>
    </p:spTree>
    <p:extLst>
      <p:ext uri="{BB962C8B-B14F-4D97-AF65-F5344CB8AC3E}">
        <p14:creationId xmlns:p14="http://schemas.microsoft.com/office/powerpoint/2010/main" val="3875923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Frosted Glass">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70</TotalTime>
  <Words>2076</Words>
  <Application>Microsoft Office PowerPoint</Application>
  <PresentationFormat>Widescreen</PresentationFormat>
  <Paragraphs>184</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Aptos Display</vt:lpstr>
      <vt:lpstr>Arial</vt:lpstr>
      <vt:lpstr>B Nazanin</vt:lpstr>
      <vt:lpstr>Inter</vt:lpstr>
      <vt:lpstr>Inter Bold</vt:lpstr>
      <vt:lpstr>Inter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frmandh chiriki</dc:creator>
  <cp:lastModifiedBy>frmandh chiriki</cp:lastModifiedBy>
  <cp:revision>4</cp:revision>
  <dcterms:created xsi:type="dcterms:W3CDTF">2025-10-26T15:38:23Z</dcterms:created>
  <dcterms:modified xsi:type="dcterms:W3CDTF">2025-10-26T17:09:45Z</dcterms:modified>
</cp:coreProperties>
</file>